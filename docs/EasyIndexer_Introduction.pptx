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1"/>
  </p:notesMasterIdLst>
  <p:sldIdLst>
    <p:sldId id="1682" r:id="rId2"/>
    <p:sldId id="1698" r:id="rId3"/>
    <p:sldId id="1716" r:id="rId4"/>
    <p:sldId id="1717" r:id="rId5"/>
    <p:sldId id="1720" r:id="rId6"/>
    <p:sldId id="1721" r:id="rId7"/>
    <p:sldId id="1718" r:id="rId8"/>
    <p:sldId id="1715" r:id="rId9"/>
    <p:sldId id="1719" r:id="rId10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00B0F0"/>
    <a:srgbClr val="FF7A7A"/>
    <a:srgbClr val="545858"/>
    <a:srgbClr val="81D994"/>
    <a:srgbClr val="58CC72"/>
    <a:srgbClr val="00FFFF"/>
    <a:srgbClr val="FF00FF"/>
    <a:srgbClr val="F7F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28" autoAdjust="0"/>
    <p:restoredTop sz="86408" autoAdjust="0"/>
  </p:normalViewPr>
  <p:slideViewPr>
    <p:cSldViewPr>
      <p:cViewPr varScale="1">
        <p:scale>
          <a:sx n="112" d="100"/>
          <a:sy n="112" d="100"/>
        </p:scale>
        <p:origin x="150" y="3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868830"/>
            <a:ext cx="8976995" cy="696900"/>
          </a:xfrm>
        </p:spPr>
        <p:txBody>
          <a:bodyPr/>
          <a:lstStyle/>
          <a:p>
            <a:r>
              <a:rPr kumimoji="1" lang="en-US" altLang="ja-JP" sz="2800">
                <a:solidFill>
                  <a:schemeClr val="tx1"/>
                </a:solidFill>
              </a:rPr>
              <a:t>Brief Introduction to</a:t>
            </a:r>
            <a:br>
              <a:rPr kumimoji="1" lang="en-US" altLang="ja-JP" sz="2800">
                <a:solidFill>
                  <a:schemeClr val="tx1"/>
                </a:solidFill>
              </a:rPr>
            </a:br>
            <a:endParaRPr kumimoji="1" lang="ja-JP" altLang="en-US" sz="360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2025/3/7</a:t>
            </a:r>
            <a:r>
              <a:rPr lang="ja-JP" altLang="en-US" sz="2000"/>
              <a:t> 作成　</a:t>
            </a:r>
            <a:r>
              <a:rPr lang="en-US" altLang="ja-JP" sz="2000"/>
              <a:t>Version 1.1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5" y="3072418"/>
            <a:ext cx="10081121" cy="461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r" eaLnBrk="1"/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簡易版・</a:t>
            </a:r>
            <a:r>
              <a:rPr kumimoji="1"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章節ナンバリングツール のご紹介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0FE28E59-CFB8-51F7-3B23-116B1F78C0EA}"/>
              </a:ext>
            </a:extLst>
          </p:cNvPr>
          <p:cNvSpPr txBox="1">
            <a:spLocks/>
          </p:cNvSpPr>
          <p:nvPr/>
        </p:nvSpPr>
        <p:spPr bwMode="auto">
          <a:xfrm>
            <a:off x="2673524" y="2457413"/>
            <a:ext cx="6443821" cy="6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9pPr>
          </a:lstStyle>
          <a:p>
            <a:r>
              <a:rPr lang="en-US" altLang="ja-JP" sz="2000" kern="0"/>
              <a:t>PowerPoint </a:t>
            </a:r>
            <a:r>
              <a:rPr lang="en-US" altLang="ja-JP" sz="2000" kern="0">
                <a:solidFill>
                  <a:schemeClr val="tx1"/>
                </a:solidFill>
              </a:rPr>
              <a:t>Easy Numbering tool</a:t>
            </a:r>
            <a:endParaRPr lang="ja-JP" altLang="en-US" sz="2000" kern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38B00C2D-FD6A-8C69-353E-80CB209CE1DE}"/>
              </a:ext>
            </a:extLst>
          </p:cNvPr>
          <p:cNvSpPr txBox="1">
            <a:spLocks/>
          </p:cNvSpPr>
          <p:nvPr/>
        </p:nvSpPr>
        <p:spPr bwMode="auto">
          <a:xfrm>
            <a:off x="263352" y="1359117"/>
            <a:ext cx="8976995" cy="696900"/>
          </a:xfrm>
          <a:prstGeom prst="rect">
            <a:avLst/>
          </a:prstGeom>
          <a:noFill/>
          <a:ln>
            <a:noFill/>
          </a:ln>
          <a:effectLst>
            <a:outerShdw blurRad="50800" dist="508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200" b="1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400">
                <a:solidFill>
                  <a:schemeClr val="tx2"/>
                </a:solidFill>
                <a:latin typeface="Garamond" pitchFamily="18" charset="0"/>
                <a:ea typeface="ＭＳ Ｐゴシック" pitchFamily="50" charset="-128"/>
              </a:defRPr>
            </a:lvl9pPr>
          </a:lstStyle>
          <a:p>
            <a:r>
              <a:rPr lang="en-US" altLang="ja-JP" sz="1200" kern="0">
                <a:solidFill>
                  <a:schemeClr val="accent2">
                    <a:lumMod val="50000"/>
                  </a:schemeClr>
                </a:solidFill>
              </a:rPr>
              <a:t>                            </a:t>
            </a:r>
            <a:r>
              <a:rPr lang="en-US" altLang="ja-JP" sz="6000" kern="0">
                <a:solidFill>
                  <a:schemeClr val="accent2">
                    <a:lumMod val="50000"/>
                  </a:schemeClr>
                </a:solidFill>
              </a:rPr>
              <a:t> PpEasyIndexer</a:t>
            </a:r>
            <a:endParaRPr lang="ja-JP" altLang="en-US" sz="4400" kern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B03E0D-0A3A-0380-F267-5D608638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目的は自動・章節ナンバリング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32A6F4-0E1F-DD6C-2E7A-201ACF65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4E0B9-3ED8-AB0C-F344-46415DD6D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28540F-5F10-4856-5960-89E56D84E3F3}"/>
              </a:ext>
            </a:extLst>
          </p:cNvPr>
          <p:cNvSpPr txBox="1"/>
          <p:nvPr/>
        </p:nvSpPr>
        <p:spPr bwMode="auto">
          <a:xfrm>
            <a:off x="1127453" y="1196752"/>
            <a:ext cx="9577065" cy="923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source.pptx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は、「表紙」「はじめに」、につづくＡ～Ｇのスライドで構成されているとします。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これに対して変換をかけて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target.pptx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のように章・節番号を自動的に付与することが目的です。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B0902A5E-F3EA-CE97-084B-89794556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217" y="2411023"/>
            <a:ext cx="608368" cy="66562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D6CDEB-A62F-F89D-2D65-9A90D564766E}"/>
              </a:ext>
            </a:extLst>
          </p:cNvPr>
          <p:cNvSpPr txBox="1"/>
          <p:nvPr/>
        </p:nvSpPr>
        <p:spPr bwMode="auto">
          <a:xfrm>
            <a:off x="1127453" y="2715304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スライド一覧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AD78312-AFF6-BA37-4121-38F71316FF8E}"/>
              </a:ext>
            </a:extLst>
          </p:cNvPr>
          <p:cNvSpPr/>
          <p:nvPr/>
        </p:nvSpPr>
        <p:spPr bwMode="auto">
          <a:xfrm>
            <a:off x="1565968" y="3153034"/>
            <a:ext cx="1919040" cy="28803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表紙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はじめに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Ａ・・・・・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F349A65-F723-F9E3-89E8-1A76E3DF1828}"/>
              </a:ext>
            </a:extLst>
          </p:cNvPr>
          <p:cNvCxnSpPr>
            <a:cxnSpLocks/>
          </p:cNvCxnSpPr>
          <p:nvPr/>
        </p:nvCxnSpPr>
        <p:spPr bwMode="auto">
          <a:xfrm>
            <a:off x="3701810" y="4525573"/>
            <a:ext cx="1297996" cy="0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57FD387-34F2-86F7-FE7E-853C66269119}"/>
              </a:ext>
            </a:extLst>
          </p:cNvPr>
          <p:cNvSpPr txBox="1"/>
          <p:nvPr/>
        </p:nvSpPr>
        <p:spPr bwMode="auto">
          <a:xfrm>
            <a:off x="3516844" y="3914026"/>
            <a:ext cx="1482962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sz="2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25BE2C29-608E-EA34-EC57-7A15F64DD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279" y="2411023"/>
            <a:ext cx="608368" cy="665626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6DA428B-79B8-6ED9-4DD4-6F447CB67E17}"/>
              </a:ext>
            </a:extLst>
          </p:cNvPr>
          <p:cNvSpPr/>
          <p:nvPr/>
        </p:nvSpPr>
        <p:spPr bwMode="auto">
          <a:xfrm>
            <a:off x="5146030" y="3153034"/>
            <a:ext cx="2295576" cy="288032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表紙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はじめに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kumimoji="1"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Ａ・・・・・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2)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r>
              <a:rPr lang="en-US" altLang="ja-JP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2.3)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・・・・・</a:t>
            </a:r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defTabSz="914477" eaLnBrk="1" hangingPunct="1"/>
            <a:endParaRPr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AB0E2A2-BA02-587C-75F5-BAE2ABFE3D05}"/>
              </a:ext>
            </a:extLst>
          </p:cNvPr>
          <p:cNvSpPr txBox="1"/>
          <p:nvPr/>
        </p:nvSpPr>
        <p:spPr bwMode="auto">
          <a:xfrm>
            <a:off x="5762334" y="6022428"/>
            <a:ext cx="4298425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ja-JP" altLang="en-US" sz="18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章節番号を自動付与</a:t>
            </a:r>
            <a:endParaRPr kumimoji="1" lang="en-US" altLang="ja-JP" sz="18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955CB9D9-8974-78F7-3E13-38C27CF55E27}"/>
              </a:ext>
            </a:extLst>
          </p:cNvPr>
          <p:cNvSpPr/>
          <p:nvPr/>
        </p:nvSpPr>
        <p:spPr bwMode="auto">
          <a:xfrm flipV="1">
            <a:off x="5231423" y="6086327"/>
            <a:ext cx="530911" cy="208833"/>
          </a:xfrm>
          <a:prstGeom prst="downArrow">
            <a:avLst/>
          </a:prstGeom>
          <a:solidFill>
            <a:schemeClr val="accent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4AC7DF-62A6-2805-3447-A7EFAB458732}"/>
              </a:ext>
            </a:extLst>
          </p:cNvPr>
          <p:cNvSpPr txBox="1"/>
          <p:nvPr/>
        </p:nvSpPr>
        <p:spPr bwMode="auto">
          <a:xfrm>
            <a:off x="1203444" y="2403990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65A0D7-F0B6-BDFA-9759-EA5C60754294}"/>
              </a:ext>
            </a:extLst>
          </p:cNvPr>
          <p:cNvSpPr txBox="1"/>
          <p:nvPr/>
        </p:nvSpPr>
        <p:spPr bwMode="auto">
          <a:xfrm>
            <a:off x="4709288" y="2715304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スライド一覧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2A11E6F-E0D5-073A-811F-776660C2D0BB}"/>
              </a:ext>
            </a:extLst>
          </p:cNvPr>
          <p:cNvSpPr txBox="1"/>
          <p:nvPr/>
        </p:nvSpPr>
        <p:spPr bwMode="auto">
          <a:xfrm>
            <a:off x="4785279" y="2403990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57E571-6E90-0A6B-8741-34D9FAB1BD1A}"/>
              </a:ext>
            </a:extLst>
          </p:cNvPr>
          <p:cNvSpPr txBox="1"/>
          <p:nvPr/>
        </p:nvSpPr>
        <p:spPr bwMode="auto">
          <a:xfrm>
            <a:off x="7752184" y="4520574"/>
            <a:ext cx="2205772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章を単位にして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ナンバリングを行う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右中かっこ 28">
            <a:extLst>
              <a:ext uri="{FF2B5EF4-FFF2-40B4-BE49-F238E27FC236}">
                <a16:creationId xmlns:a16="http://schemas.microsoft.com/office/drawing/2014/main" id="{7FF54F0F-0D63-EE23-66E3-2AC83E29CAAE}"/>
              </a:ext>
            </a:extLst>
          </p:cNvPr>
          <p:cNvSpPr/>
          <p:nvPr/>
        </p:nvSpPr>
        <p:spPr bwMode="auto">
          <a:xfrm>
            <a:off x="7481096" y="3858068"/>
            <a:ext cx="244272" cy="923333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右中かっこ 29">
            <a:extLst>
              <a:ext uri="{FF2B5EF4-FFF2-40B4-BE49-F238E27FC236}">
                <a16:creationId xmlns:a16="http://schemas.microsoft.com/office/drawing/2014/main" id="{FF154D9F-27F4-A4EB-C896-127A5A5DCCB7}"/>
              </a:ext>
            </a:extLst>
          </p:cNvPr>
          <p:cNvSpPr/>
          <p:nvPr/>
        </p:nvSpPr>
        <p:spPr bwMode="auto">
          <a:xfrm>
            <a:off x="7481096" y="4852362"/>
            <a:ext cx="244272" cy="1170066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F789CC69-679F-1B87-3E37-F8937ABD4052}"/>
              </a:ext>
            </a:extLst>
          </p:cNvPr>
          <p:cNvCxnSpPr>
            <a:stCxn id="28" idx="0"/>
          </p:cNvCxnSpPr>
          <p:nvPr/>
        </p:nvCxnSpPr>
        <p:spPr bwMode="auto">
          <a:xfrm rot="16200000" flipV="1">
            <a:off x="8203207" y="3868711"/>
            <a:ext cx="200840" cy="1102886"/>
          </a:xfrm>
          <a:prstGeom prst="bentConnector2">
            <a:avLst/>
          </a:prstGeom>
          <a:solidFill>
            <a:srgbClr val="CCFFFF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コネクタ: カギ線 32">
            <a:extLst>
              <a:ext uri="{FF2B5EF4-FFF2-40B4-BE49-F238E27FC236}">
                <a16:creationId xmlns:a16="http://schemas.microsoft.com/office/drawing/2014/main" id="{7721199C-C27F-9072-8FDE-BBDF5113290C}"/>
              </a:ext>
            </a:extLst>
          </p:cNvPr>
          <p:cNvCxnSpPr>
            <a:cxnSpLocks/>
            <a:stCxn id="28" idx="2"/>
          </p:cNvCxnSpPr>
          <p:nvPr/>
        </p:nvCxnSpPr>
        <p:spPr bwMode="auto">
          <a:xfrm rot="5400000">
            <a:off x="8165419" y="4743408"/>
            <a:ext cx="266153" cy="1113150"/>
          </a:xfrm>
          <a:prstGeom prst="bentConnector2">
            <a:avLst/>
          </a:prstGeom>
          <a:solidFill>
            <a:srgbClr val="CCFFFF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1183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F04-1AA2-DA77-3EEC-3C8ECBB0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8FB95-11C6-0931-A774-099CCB9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章の開始スライドがわかれば章節番号は自動計算可能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899802-658C-8A31-637A-D3D740DC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AEBF1-5F62-CD77-A248-9F0C54B13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C6A3B8-25D7-0FFD-143F-C1358659C190}"/>
              </a:ext>
            </a:extLst>
          </p:cNvPr>
          <p:cNvSpPr/>
          <p:nvPr/>
        </p:nvSpPr>
        <p:spPr bwMode="auto">
          <a:xfrm>
            <a:off x="3260417" y="2382624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290E90-9C3B-765E-BBA4-13E8A8325404}"/>
              </a:ext>
            </a:extLst>
          </p:cNvPr>
          <p:cNvSpPr/>
          <p:nvPr/>
        </p:nvSpPr>
        <p:spPr bwMode="auto">
          <a:xfrm>
            <a:off x="3868292" y="3167240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82B87F6-CA6C-9190-3C97-343E28734D5B}"/>
              </a:ext>
            </a:extLst>
          </p:cNvPr>
          <p:cNvSpPr/>
          <p:nvPr/>
        </p:nvSpPr>
        <p:spPr bwMode="auto">
          <a:xfrm>
            <a:off x="3982959" y="3686056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FD5393-7D55-2E74-D5D7-EB68EB20D8A4}"/>
              </a:ext>
            </a:extLst>
          </p:cNvPr>
          <p:cNvSpPr/>
          <p:nvPr/>
        </p:nvSpPr>
        <p:spPr bwMode="auto">
          <a:xfrm>
            <a:off x="3260417" y="4633151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E4C003-B71C-0DC1-47DE-7A431A9B1132}"/>
              </a:ext>
            </a:extLst>
          </p:cNvPr>
          <p:cNvSpPr/>
          <p:nvPr/>
        </p:nvSpPr>
        <p:spPr bwMode="auto">
          <a:xfrm>
            <a:off x="3868292" y="5346878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4E19983-6386-D704-A056-DE1CE436931D}"/>
              </a:ext>
            </a:extLst>
          </p:cNvPr>
          <p:cNvSpPr/>
          <p:nvPr/>
        </p:nvSpPr>
        <p:spPr bwMode="auto">
          <a:xfrm>
            <a:off x="3982959" y="5865694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CA02A2-8AAC-6E7A-3E1B-53676A4170DE}"/>
              </a:ext>
            </a:extLst>
          </p:cNvPr>
          <p:cNvSpPr txBox="1"/>
          <p:nvPr/>
        </p:nvSpPr>
        <p:spPr bwMode="auto">
          <a:xfrm>
            <a:off x="1127453" y="1196752"/>
            <a:ext cx="9577065" cy="923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で章・節構成を組む場合の典型的な形式は、章ごとに章の開始を示す「章とびら」スライドを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枚置き、その後に「節」を複数続けるというものです。　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したがって、「章とびら」スライドが分かれば後は自動で章節番号計算ができます。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1691AF6-9A66-37C7-2738-4E7AB91058E7}"/>
              </a:ext>
            </a:extLst>
          </p:cNvPr>
          <p:cNvSpPr/>
          <p:nvPr/>
        </p:nvSpPr>
        <p:spPr bwMode="auto">
          <a:xfrm>
            <a:off x="1462679" y="2459506"/>
            <a:ext cx="1928317" cy="43204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CCF6FD5-6BBC-882C-34FC-C8BD6D24BBAD}"/>
              </a:ext>
            </a:extLst>
          </p:cNvPr>
          <p:cNvSpPr/>
          <p:nvPr/>
        </p:nvSpPr>
        <p:spPr bwMode="auto">
          <a:xfrm>
            <a:off x="1462679" y="4621046"/>
            <a:ext cx="1928317" cy="43204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AEF1D0D-3052-B5D4-9A14-101C9FF238CE}"/>
              </a:ext>
            </a:extLst>
          </p:cNvPr>
          <p:cNvSpPr/>
          <p:nvPr/>
        </p:nvSpPr>
        <p:spPr bwMode="auto">
          <a:xfrm>
            <a:off x="2423215" y="3461061"/>
            <a:ext cx="1440160" cy="43204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20" name="右中かっこ 19">
            <a:extLst>
              <a:ext uri="{FF2B5EF4-FFF2-40B4-BE49-F238E27FC236}">
                <a16:creationId xmlns:a16="http://schemas.microsoft.com/office/drawing/2014/main" id="{4571D004-97E2-B461-EAB0-DA6C0135F249}"/>
              </a:ext>
            </a:extLst>
          </p:cNvPr>
          <p:cNvSpPr/>
          <p:nvPr/>
        </p:nvSpPr>
        <p:spPr bwMode="auto">
          <a:xfrm flipH="1">
            <a:off x="3544368" y="3007561"/>
            <a:ext cx="291083" cy="1429487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F0F63AE-F0DF-67B8-C2AA-03227CCCD01B}"/>
              </a:ext>
            </a:extLst>
          </p:cNvPr>
          <p:cNvSpPr/>
          <p:nvPr/>
        </p:nvSpPr>
        <p:spPr bwMode="auto">
          <a:xfrm>
            <a:off x="2423215" y="5546702"/>
            <a:ext cx="1440160" cy="432048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2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</a:t>
            </a:r>
          </a:p>
        </p:txBody>
      </p:sp>
      <p:sp>
        <p:nvSpPr>
          <p:cNvPr id="23" name="右中かっこ 22">
            <a:extLst>
              <a:ext uri="{FF2B5EF4-FFF2-40B4-BE49-F238E27FC236}">
                <a16:creationId xmlns:a16="http://schemas.microsoft.com/office/drawing/2014/main" id="{41CDFAFD-BC97-26E7-5CF2-F3DA434534BC}"/>
              </a:ext>
            </a:extLst>
          </p:cNvPr>
          <p:cNvSpPr/>
          <p:nvPr/>
        </p:nvSpPr>
        <p:spPr bwMode="auto">
          <a:xfrm flipH="1">
            <a:off x="3544367" y="5210934"/>
            <a:ext cx="291083" cy="1213463"/>
          </a:xfrm>
          <a:prstGeom prst="rightBrace">
            <a:avLst>
              <a:gd name="adj1" fmla="val 56454"/>
              <a:gd name="adj2" fmla="val 50299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A63A440-35B7-C173-1346-7CD0EC2E275B}"/>
              </a:ext>
            </a:extLst>
          </p:cNvPr>
          <p:cNvSpPr/>
          <p:nvPr/>
        </p:nvSpPr>
        <p:spPr bwMode="auto">
          <a:xfrm>
            <a:off x="8184232" y="3265765"/>
            <a:ext cx="3050576" cy="1124754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「章とびら」スライドだけ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指定すれば、後は自動で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番号計算ができる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06291F24-AF06-0BFD-D63B-310CC03CAD20}"/>
              </a:ext>
            </a:extLst>
          </p:cNvPr>
          <p:cNvSpPr/>
          <p:nvPr/>
        </p:nvSpPr>
        <p:spPr bwMode="auto">
          <a:xfrm>
            <a:off x="5490834" y="3845048"/>
            <a:ext cx="2596145" cy="895149"/>
          </a:xfrm>
          <a:custGeom>
            <a:avLst/>
            <a:gdLst>
              <a:gd name="connsiteX0" fmla="*/ 3455469 w 3455469"/>
              <a:gd name="connsiteY0" fmla="*/ 0 h 895149"/>
              <a:gd name="connsiteX1" fmla="*/ 2906829 w 3455469"/>
              <a:gd name="connsiteY1" fmla="*/ 202130 h 895149"/>
              <a:gd name="connsiteX2" fmla="*/ 1722922 w 3455469"/>
              <a:gd name="connsiteY2" fmla="*/ 779646 h 895149"/>
              <a:gd name="connsiteX3" fmla="*/ 0 w 3455469"/>
              <a:gd name="connsiteY3" fmla="*/ 895149 h 895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5469" h="895149">
                <a:moveTo>
                  <a:pt x="3455469" y="0"/>
                </a:moveTo>
                <a:cubicBezTo>
                  <a:pt x="3325528" y="36094"/>
                  <a:pt x="3195587" y="72189"/>
                  <a:pt x="2906829" y="202130"/>
                </a:cubicBezTo>
                <a:cubicBezTo>
                  <a:pt x="2618071" y="332071"/>
                  <a:pt x="2207393" y="664143"/>
                  <a:pt x="1722922" y="779646"/>
                </a:cubicBezTo>
                <a:cubicBezTo>
                  <a:pt x="1238451" y="895149"/>
                  <a:pt x="619225" y="895149"/>
                  <a:pt x="0" y="895149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442AC94D-E0CE-6A10-5135-8CF92C8FEC14}"/>
              </a:ext>
            </a:extLst>
          </p:cNvPr>
          <p:cNvSpPr/>
          <p:nvPr/>
        </p:nvSpPr>
        <p:spPr bwMode="auto">
          <a:xfrm>
            <a:off x="5498065" y="2564888"/>
            <a:ext cx="2581682" cy="1097280"/>
          </a:xfrm>
          <a:custGeom>
            <a:avLst/>
            <a:gdLst>
              <a:gd name="connsiteX0" fmla="*/ 3436219 w 3436219"/>
              <a:gd name="connsiteY0" fmla="*/ 1097280 h 1097280"/>
              <a:gd name="connsiteX1" fmla="*/ 2772076 w 3436219"/>
              <a:gd name="connsiteY1" fmla="*/ 914400 h 1097280"/>
              <a:gd name="connsiteX2" fmla="*/ 1482290 w 3436219"/>
              <a:gd name="connsiteY2" fmla="*/ 221381 h 1097280"/>
              <a:gd name="connsiteX3" fmla="*/ 0 w 3436219"/>
              <a:gd name="connsiteY3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6219" h="1097280">
                <a:moveTo>
                  <a:pt x="3436219" y="1097280"/>
                </a:moveTo>
                <a:cubicBezTo>
                  <a:pt x="3266975" y="1078831"/>
                  <a:pt x="3097731" y="1060383"/>
                  <a:pt x="2772076" y="914400"/>
                </a:cubicBezTo>
                <a:cubicBezTo>
                  <a:pt x="2446421" y="768417"/>
                  <a:pt x="1944303" y="373781"/>
                  <a:pt x="1482290" y="221381"/>
                </a:cubicBezTo>
                <a:cubicBezTo>
                  <a:pt x="1020277" y="68981"/>
                  <a:pt x="510138" y="34490"/>
                  <a:pt x="0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6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F04-1AA2-DA77-3EEC-3C8ECBB0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8FB95-11C6-0931-A774-099CCB9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章とびらの指定方法は？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899802-658C-8A31-637A-D3D740DC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AEBF1-5F62-CD77-A248-9F0C54B13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C6A3B8-25D7-0FFD-143F-C1358659C190}"/>
              </a:ext>
            </a:extLst>
          </p:cNvPr>
          <p:cNvSpPr/>
          <p:nvPr/>
        </p:nvSpPr>
        <p:spPr bwMode="auto">
          <a:xfrm>
            <a:off x="989335" y="247674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290E90-9C3B-765E-BBA4-13E8A8325404}"/>
              </a:ext>
            </a:extLst>
          </p:cNvPr>
          <p:cNvSpPr/>
          <p:nvPr/>
        </p:nvSpPr>
        <p:spPr bwMode="auto">
          <a:xfrm>
            <a:off x="989335" y="3173359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82B87F6-CA6C-9190-3C97-343E28734D5B}"/>
              </a:ext>
            </a:extLst>
          </p:cNvPr>
          <p:cNvSpPr/>
          <p:nvPr/>
        </p:nvSpPr>
        <p:spPr bwMode="auto">
          <a:xfrm>
            <a:off x="989335" y="3869973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FD5393-7D55-2E74-D5D7-EB68EB20D8A4}"/>
              </a:ext>
            </a:extLst>
          </p:cNvPr>
          <p:cNvSpPr/>
          <p:nvPr/>
        </p:nvSpPr>
        <p:spPr bwMode="auto">
          <a:xfrm>
            <a:off x="989335" y="4566587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E4C003-B71C-0DC1-47DE-7A431A9B1132}"/>
              </a:ext>
            </a:extLst>
          </p:cNvPr>
          <p:cNvSpPr/>
          <p:nvPr/>
        </p:nvSpPr>
        <p:spPr bwMode="auto">
          <a:xfrm>
            <a:off x="989335" y="5263201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Ｅ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4E19983-6386-D704-A056-DE1CE436931D}"/>
              </a:ext>
            </a:extLst>
          </p:cNvPr>
          <p:cNvSpPr/>
          <p:nvPr/>
        </p:nvSpPr>
        <p:spPr bwMode="auto">
          <a:xfrm>
            <a:off x="989335" y="595981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Ｆ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CA02A2-8AAC-6E7A-3E1B-53676A4170DE}"/>
              </a:ext>
            </a:extLst>
          </p:cNvPr>
          <p:cNvSpPr txBox="1"/>
          <p:nvPr/>
        </p:nvSpPr>
        <p:spPr bwMode="auto">
          <a:xfrm>
            <a:off x="1127453" y="1196752"/>
            <a:ext cx="9577065" cy="923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具体的には、章とびらにあたるページのどこかに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という特殊タグを埋め込んで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ソースファイルを作成します。　それを変換プログラム（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Python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スクリプト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に読ませると、自動付番を行い、タグを消去して新しい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ファイルを生成します。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A63A440-35B7-C173-1346-7CD0EC2E275B}"/>
              </a:ext>
            </a:extLst>
          </p:cNvPr>
          <p:cNvSpPr/>
          <p:nvPr/>
        </p:nvSpPr>
        <p:spPr bwMode="auto">
          <a:xfrm>
            <a:off x="3846316" y="3566190"/>
            <a:ext cx="3050576" cy="76822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章とびらを示す特殊タグ 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を読む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7C6252A-A4FB-6872-90F0-F94977B4DA86}"/>
              </a:ext>
            </a:extLst>
          </p:cNvPr>
          <p:cNvSpPr/>
          <p:nvPr/>
        </p:nvSpPr>
        <p:spPr bwMode="auto">
          <a:xfrm>
            <a:off x="1807938" y="2741565"/>
            <a:ext cx="1296144" cy="32082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sz="14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2AED7B5-A04C-82DB-0C3D-712754412B07}"/>
              </a:ext>
            </a:extLst>
          </p:cNvPr>
          <p:cNvSpPr/>
          <p:nvPr/>
        </p:nvSpPr>
        <p:spPr bwMode="auto">
          <a:xfrm>
            <a:off x="1807938" y="4834318"/>
            <a:ext cx="1296144" cy="32082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sz="14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9AD6884F-3D74-43E0-5762-A520FD4CA756}"/>
              </a:ext>
            </a:extLst>
          </p:cNvPr>
          <p:cNvSpPr/>
          <p:nvPr/>
        </p:nvSpPr>
        <p:spPr bwMode="auto">
          <a:xfrm>
            <a:off x="4117515" y="4282165"/>
            <a:ext cx="2409939" cy="55581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lang="en-US" altLang="ja-JP">
                <a:solidFill>
                  <a:schemeClr val="accent2">
                    <a:lumMod val="50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PpEasyIndexer</a:t>
            </a:r>
            <a:endParaRPr kumimoji="1" lang="ja-JP" altLang="en-US">
              <a:solidFill>
                <a:schemeClr val="accent2">
                  <a:lumMod val="50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7BE5BEB-3668-AFDE-9FA5-38C9AEC2C90F}"/>
              </a:ext>
            </a:extLst>
          </p:cNvPr>
          <p:cNvCxnSpPr>
            <a:cxnSpLocks/>
          </p:cNvCxnSpPr>
          <p:nvPr/>
        </p:nvCxnSpPr>
        <p:spPr bwMode="auto">
          <a:xfrm>
            <a:off x="3005559" y="3062388"/>
            <a:ext cx="1111956" cy="128275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1D57433-16CB-507A-2D91-A03E0DD51FE8}"/>
              </a:ext>
            </a:extLst>
          </p:cNvPr>
          <p:cNvCxnSpPr>
            <a:cxnSpLocks/>
          </p:cNvCxnSpPr>
          <p:nvPr/>
        </p:nvCxnSpPr>
        <p:spPr bwMode="auto">
          <a:xfrm flipV="1">
            <a:off x="3005559" y="4730860"/>
            <a:ext cx="1109201" cy="24407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1E8E9F8-AD58-701B-36BE-C6C18817D479}"/>
              </a:ext>
            </a:extLst>
          </p:cNvPr>
          <p:cNvSpPr/>
          <p:nvPr/>
        </p:nvSpPr>
        <p:spPr bwMode="auto">
          <a:xfrm>
            <a:off x="9290044" y="247674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BFB1F2F-0563-FB13-21A0-D67C4B2F278E}"/>
              </a:ext>
            </a:extLst>
          </p:cNvPr>
          <p:cNvSpPr/>
          <p:nvPr/>
        </p:nvSpPr>
        <p:spPr bwMode="auto">
          <a:xfrm>
            <a:off x="9290044" y="3173359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AFF58B8-0C5B-CBE9-7411-89E0222E63AA}"/>
              </a:ext>
            </a:extLst>
          </p:cNvPr>
          <p:cNvSpPr/>
          <p:nvPr/>
        </p:nvSpPr>
        <p:spPr bwMode="auto">
          <a:xfrm>
            <a:off x="9290044" y="3869973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D4796F0-C45D-625A-C7AE-D9D2A081F1FC}"/>
              </a:ext>
            </a:extLst>
          </p:cNvPr>
          <p:cNvSpPr/>
          <p:nvPr/>
        </p:nvSpPr>
        <p:spPr bwMode="auto">
          <a:xfrm>
            <a:off x="9290044" y="4566587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Ｄ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8D7FA8A-7161-A62B-DF8A-7AF6CB003CC9}"/>
              </a:ext>
            </a:extLst>
          </p:cNvPr>
          <p:cNvSpPr/>
          <p:nvPr/>
        </p:nvSpPr>
        <p:spPr bwMode="auto">
          <a:xfrm>
            <a:off x="9290044" y="5263201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Ｅ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7501E44-79BF-0B3E-303A-47615A62E297}"/>
              </a:ext>
            </a:extLst>
          </p:cNvPr>
          <p:cNvSpPr/>
          <p:nvPr/>
        </p:nvSpPr>
        <p:spPr bwMode="auto">
          <a:xfrm>
            <a:off x="9290044" y="595981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Ｆ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37E2CC9F-D90A-692B-48B8-FE1160F09A58}"/>
              </a:ext>
            </a:extLst>
          </p:cNvPr>
          <p:cNvCxnSpPr>
            <a:cxnSpLocks/>
          </p:cNvCxnSpPr>
          <p:nvPr/>
        </p:nvCxnSpPr>
        <p:spPr bwMode="auto">
          <a:xfrm>
            <a:off x="6672064" y="4566587"/>
            <a:ext cx="2448272" cy="0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C930289-34EC-12AF-C94A-744214B4F539}"/>
              </a:ext>
            </a:extLst>
          </p:cNvPr>
          <p:cNvSpPr/>
          <p:nvPr/>
        </p:nvSpPr>
        <p:spPr bwMode="auto">
          <a:xfrm>
            <a:off x="6903919" y="3326698"/>
            <a:ext cx="2016224" cy="1119615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章と節で書式を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変えて付番し、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</a:p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のタグは消去する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915F42-0E14-7C6F-A071-A8ED0E65CB90}"/>
              </a:ext>
            </a:extLst>
          </p:cNvPr>
          <p:cNvSpPr txBox="1"/>
          <p:nvPr/>
        </p:nvSpPr>
        <p:spPr bwMode="auto">
          <a:xfrm>
            <a:off x="551384" y="2132856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4B61C8-2929-4AC4-C0EC-6CBECCF899C2}"/>
              </a:ext>
            </a:extLst>
          </p:cNvPr>
          <p:cNvSpPr txBox="1"/>
          <p:nvPr/>
        </p:nvSpPr>
        <p:spPr bwMode="auto">
          <a:xfrm>
            <a:off x="8773188" y="2132856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6472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F04-1AA2-DA77-3EEC-3C8ECBB0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8FB95-11C6-0931-A774-099CCB9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「章とびらなし」で構成するときは？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899802-658C-8A31-637A-D3D740DC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AEBF1-5F62-CD77-A248-9F0C54B13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1C6A3B8-25D7-0FFD-143F-C1358659C190}"/>
              </a:ext>
            </a:extLst>
          </p:cNvPr>
          <p:cNvSpPr/>
          <p:nvPr/>
        </p:nvSpPr>
        <p:spPr bwMode="auto">
          <a:xfrm>
            <a:off x="1703512" y="233955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0290E90-9C3B-765E-BBA4-13E8A8325404}"/>
              </a:ext>
            </a:extLst>
          </p:cNvPr>
          <p:cNvSpPr/>
          <p:nvPr/>
        </p:nvSpPr>
        <p:spPr bwMode="auto">
          <a:xfrm>
            <a:off x="1703512" y="3036169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82B87F6-CA6C-9190-3C97-343E28734D5B}"/>
              </a:ext>
            </a:extLst>
          </p:cNvPr>
          <p:cNvSpPr/>
          <p:nvPr/>
        </p:nvSpPr>
        <p:spPr bwMode="auto">
          <a:xfrm>
            <a:off x="1703512" y="3732783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FD5393-7D55-2E74-D5D7-EB68EB20D8A4}"/>
              </a:ext>
            </a:extLst>
          </p:cNvPr>
          <p:cNvSpPr/>
          <p:nvPr/>
        </p:nvSpPr>
        <p:spPr bwMode="auto">
          <a:xfrm>
            <a:off x="1703512" y="4429397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Ｄ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0E4C003-B71C-0DC1-47DE-7A431A9B1132}"/>
              </a:ext>
            </a:extLst>
          </p:cNvPr>
          <p:cNvSpPr/>
          <p:nvPr/>
        </p:nvSpPr>
        <p:spPr bwMode="auto">
          <a:xfrm>
            <a:off x="1703512" y="5126011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Ｅ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4E19983-6386-D704-A056-DE1CE436931D}"/>
              </a:ext>
            </a:extLst>
          </p:cNvPr>
          <p:cNvSpPr/>
          <p:nvPr/>
        </p:nvSpPr>
        <p:spPr bwMode="auto">
          <a:xfrm>
            <a:off x="1703512" y="582262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Ｆ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CA02A2-8AAC-6E7A-3E1B-53676A4170DE}"/>
              </a:ext>
            </a:extLst>
          </p:cNvPr>
          <p:cNvSpPr txBox="1"/>
          <p:nvPr/>
        </p:nvSpPr>
        <p:spPr bwMode="auto">
          <a:xfrm>
            <a:off x="1127453" y="1196752"/>
            <a:ext cx="9577065" cy="646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章節構成では章とびらを使わない場合もあります。その場合、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に加えて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というタグを置いてください。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7C6252A-A4FB-6872-90F0-F94977B4DA86}"/>
              </a:ext>
            </a:extLst>
          </p:cNvPr>
          <p:cNvSpPr/>
          <p:nvPr/>
        </p:nvSpPr>
        <p:spPr bwMode="auto">
          <a:xfrm>
            <a:off x="2417689" y="2358505"/>
            <a:ext cx="1296144" cy="32082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</a:p>
          <a:p>
            <a:pPr algn="ctr" defTabSz="914477" eaLnBrk="1" hangingPunct="1"/>
            <a:r>
              <a:rPr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kumimoji="1" lang="ja-JP" altLang="en-US" sz="14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22AED7B5-A04C-82DB-0C3D-712754412B07}"/>
              </a:ext>
            </a:extLst>
          </p:cNvPr>
          <p:cNvSpPr/>
          <p:nvPr/>
        </p:nvSpPr>
        <p:spPr bwMode="auto">
          <a:xfrm>
            <a:off x="2417689" y="4451258"/>
            <a:ext cx="1296144" cy="32082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</a:p>
          <a:p>
            <a:pPr algn="ctr" defTabSz="914477" eaLnBrk="1" hangingPunct="1"/>
            <a:r>
              <a:rPr lang="en-US" altLang="ja-JP" sz="140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kumimoji="1" lang="ja-JP" altLang="en-US" sz="140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1E8E9F8-AD58-701B-36BE-C6C18817D479}"/>
              </a:ext>
            </a:extLst>
          </p:cNvPr>
          <p:cNvSpPr/>
          <p:nvPr/>
        </p:nvSpPr>
        <p:spPr bwMode="auto">
          <a:xfrm>
            <a:off x="7197564" y="233955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Ａ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EBFB1F2F-0563-FB13-21A0-D67C4B2F278E}"/>
              </a:ext>
            </a:extLst>
          </p:cNvPr>
          <p:cNvSpPr/>
          <p:nvPr/>
        </p:nvSpPr>
        <p:spPr bwMode="auto">
          <a:xfrm>
            <a:off x="7197564" y="3036169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Ｂ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2AFF58B8-0C5B-CBE9-7411-89E0222E63AA}"/>
              </a:ext>
            </a:extLst>
          </p:cNvPr>
          <p:cNvSpPr/>
          <p:nvPr/>
        </p:nvSpPr>
        <p:spPr bwMode="auto">
          <a:xfrm>
            <a:off x="7197564" y="3732783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1.3)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Ｃ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D4796F0-C45D-625A-C7AE-D9D2A081F1FC}"/>
              </a:ext>
            </a:extLst>
          </p:cNvPr>
          <p:cNvSpPr/>
          <p:nvPr/>
        </p:nvSpPr>
        <p:spPr bwMode="auto">
          <a:xfrm>
            <a:off x="7197564" y="4429397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Ｄ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8D7FA8A-7161-A62B-DF8A-7AF6CB003CC9}"/>
              </a:ext>
            </a:extLst>
          </p:cNvPr>
          <p:cNvSpPr/>
          <p:nvPr/>
        </p:nvSpPr>
        <p:spPr bwMode="auto">
          <a:xfrm>
            <a:off x="7197564" y="5126011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Ｅ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7501E44-79BF-0B3E-303A-47615A62E297}"/>
              </a:ext>
            </a:extLst>
          </p:cNvPr>
          <p:cNvSpPr/>
          <p:nvPr/>
        </p:nvSpPr>
        <p:spPr bwMode="auto">
          <a:xfrm>
            <a:off x="7197564" y="5822625"/>
            <a:ext cx="2016224" cy="58764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2.3) 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Ｆ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41C2FD26-6C4E-F155-77DB-358A72AB5627}"/>
              </a:ext>
            </a:extLst>
          </p:cNvPr>
          <p:cNvCxnSpPr>
            <a:cxnSpLocks/>
          </p:cNvCxnSpPr>
          <p:nvPr/>
        </p:nvCxnSpPr>
        <p:spPr bwMode="auto">
          <a:xfrm>
            <a:off x="4007768" y="2741711"/>
            <a:ext cx="2901764" cy="0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7BC1322A-DC08-4BC8-84B6-B28DE206465B}"/>
              </a:ext>
            </a:extLst>
          </p:cNvPr>
          <p:cNvSpPr/>
          <p:nvPr/>
        </p:nvSpPr>
        <p:spPr bwMode="auto">
          <a:xfrm>
            <a:off x="4007768" y="3315452"/>
            <a:ext cx="2683594" cy="76471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節番号を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にする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43CE3ED5-7EB5-5B47-B241-C902786542FB}"/>
              </a:ext>
            </a:extLst>
          </p:cNvPr>
          <p:cNvCxnSpPr>
            <a:cxnSpLocks/>
          </p:cNvCxnSpPr>
          <p:nvPr/>
        </p:nvCxnSpPr>
        <p:spPr bwMode="auto">
          <a:xfrm>
            <a:off x="4007768" y="4834464"/>
            <a:ext cx="2901764" cy="0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737CFED-3005-2CD4-BAE8-9763800CF704}"/>
              </a:ext>
            </a:extLst>
          </p:cNvPr>
          <p:cNvSpPr/>
          <p:nvPr/>
        </p:nvSpPr>
        <p:spPr bwMode="auto">
          <a:xfrm>
            <a:off x="9696399" y="3284984"/>
            <a:ext cx="2016224" cy="764713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章とびらなしで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</a:t>
            </a:r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章が開始する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6AEA5A8D-12AC-5A1B-FD66-CAA5BBD3F9B0}"/>
              </a:ext>
            </a:extLst>
          </p:cNvPr>
          <p:cNvCxnSpPr>
            <a:cxnSpLocks/>
            <a:stCxn id="67" idx="1"/>
          </p:cNvCxnSpPr>
          <p:nvPr/>
        </p:nvCxnSpPr>
        <p:spPr bwMode="auto">
          <a:xfrm flipH="1" flipV="1">
            <a:off x="8205676" y="2795339"/>
            <a:ext cx="1490723" cy="87200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20148EA4-94F9-4747-D5C2-6B6B44944463}"/>
              </a:ext>
            </a:extLst>
          </p:cNvPr>
          <p:cNvCxnSpPr>
            <a:cxnSpLocks/>
            <a:stCxn id="67" idx="1"/>
          </p:cNvCxnSpPr>
          <p:nvPr/>
        </p:nvCxnSpPr>
        <p:spPr bwMode="auto">
          <a:xfrm flipH="1">
            <a:off x="8205676" y="3667341"/>
            <a:ext cx="1490723" cy="89069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5181AE-8DA7-C0CE-D1D9-6A6FEEBF6986}"/>
              </a:ext>
            </a:extLst>
          </p:cNvPr>
          <p:cNvSpPr txBox="1"/>
          <p:nvPr/>
        </p:nvSpPr>
        <p:spPr bwMode="auto">
          <a:xfrm>
            <a:off x="1343472" y="1971955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309AEA8-CED2-3A3E-62F5-484770678B4E}"/>
              </a:ext>
            </a:extLst>
          </p:cNvPr>
          <p:cNvSpPr txBox="1"/>
          <p:nvPr/>
        </p:nvSpPr>
        <p:spPr bwMode="auto">
          <a:xfrm>
            <a:off x="6761834" y="1941890"/>
            <a:ext cx="2935882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1"/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target.pptx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834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2BE21-70F0-B190-AA00-8FAE3A6C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使用例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5C7259-C24A-8584-FC6D-76058695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9F1C98-8B9C-34E3-B4C3-1E0BE8010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13BBAA-B94A-CF01-0621-EB573A91141E}"/>
              </a:ext>
            </a:extLst>
          </p:cNvPr>
          <p:cNvSpPr txBox="1"/>
          <p:nvPr/>
        </p:nvSpPr>
        <p:spPr bwMode="auto">
          <a:xfrm>
            <a:off x="1127453" y="1196752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使用例は下記ファイルを参照してください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CBFCD94-38FC-A0AB-23D8-7FE305F0F710}"/>
              </a:ext>
            </a:extLst>
          </p:cNvPr>
          <p:cNvSpPr txBox="1"/>
          <p:nvPr/>
        </p:nvSpPr>
        <p:spPr bwMode="auto">
          <a:xfrm>
            <a:off x="1555650" y="2198943"/>
            <a:ext cx="8860829" cy="101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[source]</a:t>
            </a:r>
          </a:p>
          <a:p>
            <a:pPr lvl="1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eample/ex1/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内の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NN_EIsample.pptx</a:t>
            </a:r>
          </a:p>
          <a:p>
            <a:pPr lvl="1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NN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は数字）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A2A0CC-A79A-8A19-9BAB-2A91EF681FA0}"/>
              </a:ext>
            </a:extLst>
          </p:cNvPr>
          <p:cNvSpPr txBox="1"/>
          <p:nvPr/>
        </p:nvSpPr>
        <p:spPr bwMode="auto">
          <a:xfrm>
            <a:off x="1555650" y="3509253"/>
            <a:ext cx="8860829" cy="101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[target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（変換結果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)]</a:t>
            </a:r>
          </a:p>
          <a:p>
            <a:pPr lvl="1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同フォルダの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NN_EISamplle_generated.pptx </a:t>
            </a:r>
          </a:p>
          <a:p>
            <a:pPr lvl="1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(NN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は数字、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trailer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文字列は 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以外の場合もあります）</a:t>
            </a:r>
          </a:p>
        </p:txBody>
      </p:sp>
    </p:spTree>
    <p:extLst>
      <p:ext uri="{BB962C8B-B14F-4D97-AF65-F5344CB8AC3E}">
        <p14:creationId xmlns:p14="http://schemas.microsoft.com/office/powerpoint/2010/main" val="281125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78F04-1AA2-DA77-3EEC-3C8ECBB0D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8FB95-11C6-0931-A774-099CCB937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シェイプ削除、ページ（スライド）削除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899802-658C-8A31-637A-D3D740DC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0AEBF1-5F62-CD77-A248-9F0C54B13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CA02A2-8AAC-6E7A-3E1B-53676A4170DE}"/>
              </a:ext>
            </a:extLst>
          </p:cNvPr>
          <p:cNvSpPr txBox="1"/>
          <p:nvPr/>
        </p:nvSpPr>
        <p:spPr bwMode="auto">
          <a:xfrm>
            <a:off x="1127453" y="1196752"/>
            <a:ext cx="9577065" cy="1015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つのソース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から研修講師用と受講者用を生成する用途を想定して、シェイプ削除とページ（スライド）削除の機能があります。詳しくは 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PptxIndexer_Introduction.pdf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の変換例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(9),(10)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を参照してください。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6336307-25AE-1DB3-5485-9A3B34F2F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342" y="2936805"/>
            <a:ext cx="5542298" cy="31175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09506154-77B1-1F12-E1A4-D0ECDD8E4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39" y="2951514"/>
            <a:ext cx="5542298" cy="31175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058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ADD7-CC78-399E-EA12-1294BFA7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4742A-D914-663B-A66B-291C67D3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76061"/>
          </a:xfrm>
        </p:spPr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スクリプトの起動方法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F99D677-B886-A940-50FB-DF98E842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FOT-UD丸ゴ_ラージ Pr6 M" panose="02020400000000000000" pitchFamily="18" charset="-128"/>
                <a:ea typeface="FOT-UD丸ゴ_ラージ Pr6 M" panose="02020400000000000000" pitchFamily="1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2025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A0B6AC-7004-DB5B-23B4-A29F239E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6D1426-C7F2-2664-C8B5-EB70EC40CE8C}"/>
              </a:ext>
            </a:extLst>
          </p:cNvPr>
          <p:cNvSpPr txBox="1"/>
          <p:nvPr/>
        </p:nvSpPr>
        <p:spPr bwMode="auto">
          <a:xfrm>
            <a:off x="1127453" y="1052736"/>
            <a:ext cx="9577065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のソースファイルを書き、下記のように起動します。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89C623-5F8C-597D-215D-69677F20968F}"/>
              </a:ext>
            </a:extLst>
          </p:cNvPr>
          <p:cNvSpPr txBox="1"/>
          <p:nvPr/>
        </p:nvSpPr>
        <p:spPr bwMode="auto">
          <a:xfrm>
            <a:off x="1127452" y="1994089"/>
            <a:ext cx="9865091" cy="1631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# EasyIndexer 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起動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$ python  ./pptx-indexer.py   SourceFile.pptx  [OPTIONS]</a:t>
            </a:r>
          </a:p>
          <a:p>
            <a:pPr algn="l" eaLnBrk="1"/>
            <a:endParaRPr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変換結果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:  C:\Docs\SourceFile_generated.pptx</a:t>
            </a:r>
            <a:endParaRPr kumimoji="1" lang="ja-JP" altLang="en-US" kern="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D6340E9-674D-C232-5715-6A88DCF1C543}"/>
              </a:ext>
            </a:extLst>
          </p:cNvPr>
          <p:cNvSpPr txBox="1"/>
          <p:nvPr/>
        </p:nvSpPr>
        <p:spPr bwMode="auto">
          <a:xfrm>
            <a:off x="2139410" y="4144591"/>
            <a:ext cx="7920886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変換後のファイル名をフルパスで表示します。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変換後ファイル名には </a:t>
            </a:r>
            <a:r>
              <a:rPr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_generated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という文字列が付加されます。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F3D1BAD-142A-4ADB-0D0C-369C4A03588A}"/>
              </a:ext>
            </a:extLst>
          </p:cNvPr>
          <p:cNvCxnSpPr/>
          <p:nvPr/>
        </p:nvCxnSpPr>
        <p:spPr bwMode="auto">
          <a:xfrm>
            <a:off x="2593301" y="3662378"/>
            <a:ext cx="5148572" cy="0"/>
          </a:xfrm>
          <a:prstGeom prst="line">
            <a:avLst/>
          </a:prstGeom>
          <a:solidFill>
            <a:srgbClr val="CCFFFF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E663AE8-C9B0-5A4E-6935-37721EBA03DE}"/>
              </a:ext>
            </a:extLst>
          </p:cNvPr>
          <p:cNvCxnSpPr/>
          <p:nvPr/>
        </p:nvCxnSpPr>
        <p:spPr bwMode="auto">
          <a:xfrm flipV="1">
            <a:off x="4295805" y="3662378"/>
            <a:ext cx="0" cy="482213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9171C87-C78F-FD65-8B0D-C69A8BA9D74D}"/>
              </a:ext>
            </a:extLst>
          </p:cNvPr>
          <p:cNvSpPr txBox="1"/>
          <p:nvPr/>
        </p:nvSpPr>
        <p:spPr bwMode="auto">
          <a:xfrm>
            <a:off x="2139410" y="5277514"/>
            <a:ext cx="870911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SourceFile.pptx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には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タグが含まれないようにしてください。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#DT#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の両方が含まれるとエラーになります。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639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99C1-AD3B-0E26-3195-FAB679BFF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60DA65-8A0A-6FC8-D70A-CA2E6CC6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76061"/>
          </a:xfrm>
        </p:spPr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使用可能なオプション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1BA2AF-C8D7-C6BA-6015-ED2AD23D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FOT-UD丸ゴ_ラージ Pr6 M" panose="02020400000000000000" pitchFamily="18" charset="-128"/>
                <a:ea typeface="FOT-UD丸ゴ_ラージ Pr6 M" panose="02020400000000000000" pitchFamily="18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2000" b="1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+mn-cs"/>
              </a:defRPr>
            </a:lvl9pPr>
          </a:lstStyle>
          <a:p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Copyright 2025 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アイデアクラフト </a:t>
            </a:r>
            <a:r>
              <a:rPr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Kaimai Mizuhiros</a:t>
            </a:r>
            <a:endParaRPr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3E3287-CCE9-124A-9E00-4BFA9A66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34DFD90-8F32-D2E7-1C15-8790969AE36C}"/>
              </a:ext>
            </a:extLst>
          </p:cNvPr>
          <p:cNvSpPr txBox="1"/>
          <p:nvPr/>
        </p:nvSpPr>
        <p:spPr bwMode="auto">
          <a:xfrm>
            <a:off x="898657" y="1052736"/>
            <a:ext cx="9805862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-h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をつけて起動すると、使用可能なオプションの一覧を表示します</a:t>
            </a:r>
            <a:endParaRPr lang="ja-JP" altLang="en-US" kern="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552BE6-5C72-6BB0-79AB-DC03D58C2BC3}"/>
              </a:ext>
            </a:extLst>
          </p:cNvPr>
          <p:cNvSpPr txBox="1"/>
          <p:nvPr/>
        </p:nvSpPr>
        <p:spPr bwMode="auto">
          <a:xfrm>
            <a:off x="898656" y="1612729"/>
            <a:ext cx="10741960" cy="4770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--skipsildes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-ss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　ファイル先頭からの指定したページ数、処理を飛ばします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 </a:t>
            </a:r>
            <a:r>
              <a:rPr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-ss 3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endParaRPr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--separator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-sp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章節番号とタイトルの間の区切り文字を指定します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-sp '&gt; '</a:t>
            </a:r>
          </a:p>
          <a:p>
            <a:pPr algn="l" eaLnBrk="1"/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--delimitter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-dl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　章番号と節番号の間の区切り文字を指定します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-dl '-'</a:t>
            </a:r>
          </a:p>
          <a:p>
            <a:pPr algn="l" eaLnBrk="1"/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--deletecsl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 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-csl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#CSL#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を含むスライドを削除します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-csl</a:t>
            </a:r>
          </a:p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--deletecsp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 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-csp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#CSP#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を含むシェイプを削除します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-csp</a:t>
            </a:r>
          </a:p>
          <a:p>
            <a:pPr algn="l" eaLnBrk="1"/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--target-trailer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-tt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　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	target(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変換後のファイル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)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名に付加する文字列を指定します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 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-tt '_gen'</a:t>
            </a:r>
          </a:p>
          <a:p>
            <a:pPr algn="l" eaLnBrk="1"/>
            <a:endParaRPr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--remove-source-trailer 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または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-rst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 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source(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変換元のファイル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)</a:t>
            </a:r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名から除去する文字列を指定します</a:t>
            </a:r>
            <a:endParaRPr kumimoji="1" lang="en-US" altLang="ja-JP" sz="1600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  <a:p>
            <a:pPr algn="l" eaLnBrk="1"/>
            <a:r>
              <a:rPr kumimoji="1" lang="ja-JP" altLang="en-US" sz="1600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　例：  </a:t>
            </a:r>
            <a:r>
              <a:rPr kumimoji="1" lang="en-US" altLang="ja-JP" sz="1600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-tt '_sce'</a:t>
            </a:r>
            <a:endParaRPr kumimoji="1" lang="ja-JP" altLang="en-US" sz="1600" kern="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5820242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21874</TotalTime>
  <Words>1031</Words>
  <Application>Microsoft Office PowerPoint</Application>
  <PresentationFormat>ワイド画面</PresentationFormat>
  <Paragraphs>159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Brief Introduction to </vt:lpstr>
      <vt:lpstr>目的は自動・章節ナンバリング</vt:lpstr>
      <vt:lpstr>章の開始スライドがわかれば章節番号は自動計算可能</vt:lpstr>
      <vt:lpstr>章とびらの指定方法は？</vt:lpstr>
      <vt:lpstr>「章とびらなし」で構成するときは？</vt:lpstr>
      <vt:lpstr>使用例</vt:lpstr>
      <vt:lpstr>シェイプ削除、ページ（スライド）削除</vt:lpstr>
      <vt:lpstr>スクリプトの起動方法</vt:lpstr>
      <vt:lpstr>使用可能なオプション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2227</cp:revision>
  <cp:lastPrinted>2024-11-10T09:08:11Z</cp:lastPrinted>
  <dcterms:modified xsi:type="dcterms:W3CDTF">2025-03-08T10:50:54Z</dcterms:modified>
</cp:coreProperties>
</file>