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11"/>
  </p:notesMasterIdLst>
  <p:sldIdLst>
    <p:sldId id="1682" r:id="rId2"/>
    <p:sldId id="1698" r:id="rId3"/>
    <p:sldId id="1716" r:id="rId4"/>
    <p:sldId id="1717" r:id="rId5"/>
    <p:sldId id="1720" r:id="rId6"/>
    <p:sldId id="1721" r:id="rId7"/>
    <p:sldId id="1718" r:id="rId8"/>
    <p:sldId id="1715" r:id="rId9"/>
    <p:sldId id="1719" r:id="rId10"/>
  </p:sldIdLst>
  <p:sldSz cx="12192000" cy="6858000"/>
  <p:notesSz cx="6797675" cy="99266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  <a:srgbClr val="00B0F0"/>
    <a:srgbClr val="FF7A7A"/>
    <a:srgbClr val="545858"/>
    <a:srgbClr val="81D994"/>
    <a:srgbClr val="58CC72"/>
    <a:srgbClr val="00FFFF"/>
    <a:srgbClr val="FF00FF"/>
    <a:srgbClr val="F7F61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28" autoAdjust="0"/>
    <p:restoredTop sz="86408" autoAdjust="0"/>
  </p:normalViewPr>
  <p:slideViewPr>
    <p:cSldViewPr>
      <p:cViewPr varScale="1">
        <p:scale>
          <a:sx n="78" d="100"/>
          <a:sy n="78" d="100"/>
        </p:scale>
        <p:origin x="990" y="29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141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BIZ UDPゴシック" panose="020B04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BIZ UDPゴシック" panose="020B0400000000000000" pitchFamily="50" charset="-128"/>
              </a:defRPr>
            </a:lvl1pPr>
          </a:lstStyle>
          <a:p>
            <a:fld id="{294670BC-B8C6-44A7-84E1-23632D8FD86F}" type="datetimeFigureOut">
              <a:rPr lang="ja-JP" altLang="en-US" smtClean="0"/>
              <a:pPr/>
              <a:t>2025/2/22</a:t>
            </a:fld>
            <a:endParaRPr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BIZ UDPゴシック" panose="020B04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BIZ UDPゴシック" panose="020B0400000000000000" pitchFamily="50" charset="-128"/>
              </a:defRPr>
            </a:lvl1pPr>
          </a:lstStyle>
          <a:p>
            <a:fld id="{BA10FDB7-3E02-4363-90B3-590B3C26A88D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ＭＳ Ｐゴシック" pitchFamily="50" charset="-128"/>
            </a:endParaRP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00C62EA-46CE-6E45-F9C1-8E001A79E1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6" name="フッター プレースホルダー 2">
            <a:extLst>
              <a:ext uri="{FF2B5EF4-FFF2-40B4-BE49-F238E27FC236}">
                <a16:creationId xmlns:a16="http://schemas.microsoft.com/office/drawing/2014/main" id="{14102FAC-1D8D-98FF-0E86-05B23E382A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344" y="6478165"/>
            <a:ext cx="55446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6" name="フッター プレースホルダー 2">
            <a:extLst>
              <a:ext uri="{FF2B5EF4-FFF2-40B4-BE49-F238E27FC236}">
                <a16:creationId xmlns:a16="http://schemas.microsoft.com/office/drawing/2014/main" id="{368A006B-8EC8-B39A-B6FA-0EE75EB75F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344" y="6478165"/>
            <a:ext cx="55446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E031350-F277-E392-9EEE-34255C7F5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344" y="6478165"/>
            <a:ext cx="55446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4" name="フッター プレースホルダー 2">
            <a:extLst>
              <a:ext uri="{FF2B5EF4-FFF2-40B4-BE49-F238E27FC236}">
                <a16:creationId xmlns:a16="http://schemas.microsoft.com/office/drawing/2014/main" id="{00549907-4137-254B-ABA0-204DDF7922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344" y="6478165"/>
            <a:ext cx="55446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26FBE41-6A51-4D78-3BE1-6E095FFE1B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1344" y="6478165"/>
            <a:ext cx="55446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2CF806-E48A-4798-56B5-568A0B4BD0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7436" y="868830"/>
            <a:ext cx="8976995" cy="696900"/>
          </a:xfrm>
        </p:spPr>
        <p:txBody>
          <a:bodyPr/>
          <a:lstStyle/>
          <a:p>
            <a:r>
              <a:rPr kumimoji="1" lang="en-US" altLang="ja-JP" sz="2800">
                <a:solidFill>
                  <a:schemeClr val="tx1"/>
                </a:solidFill>
              </a:rPr>
              <a:t>Brief Introduction to</a:t>
            </a:r>
            <a:br>
              <a:rPr kumimoji="1" lang="en-US" altLang="ja-JP" sz="2800">
                <a:solidFill>
                  <a:schemeClr val="tx1"/>
                </a:solidFill>
              </a:rPr>
            </a:br>
            <a:endParaRPr kumimoji="1" lang="ja-JP" altLang="en-US" sz="360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FFF3C5E-3719-BB59-BBA5-EA1E27B09C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07834" y="3962400"/>
            <a:ext cx="7971367" cy="1194792"/>
          </a:xfrm>
        </p:spPr>
        <p:txBody>
          <a:bodyPr/>
          <a:lstStyle/>
          <a:p>
            <a:pPr algn="r"/>
            <a:r>
              <a:rPr kumimoji="1" lang="ja-JP" altLang="en-US"/>
              <a:t>アイデアクラフト　代表　開米瑞浩</a:t>
            </a:r>
          </a:p>
          <a:p>
            <a:pPr algn="r"/>
            <a:r>
              <a:rPr lang="ja-JP" altLang="en-US" sz="2000"/>
              <a:t>　　</a:t>
            </a:r>
            <a:r>
              <a:rPr lang="en-US" altLang="ja-JP" sz="2000"/>
              <a:t> 2025/2/22</a:t>
            </a:r>
            <a:r>
              <a:rPr lang="ja-JP" altLang="en-US" sz="2000"/>
              <a:t> 作成　</a:t>
            </a:r>
            <a:r>
              <a:rPr lang="en-US" altLang="ja-JP" sz="2000"/>
              <a:t>Version 1.0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6F904B1-5760-3889-DA9A-8E1020BC15D9}"/>
              </a:ext>
            </a:extLst>
          </p:cNvPr>
          <p:cNvSpPr txBox="1"/>
          <p:nvPr/>
        </p:nvSpPr>
        <p:spPr bwMode="auto">
          <a:xfrm>
            <a:off x="1559495" y="3072418"/>
            <a:ext cx="10081121" cy="4616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r" eaLnBrk="1"/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簡易版・</a:t>
            </a:r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PowerPoint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章節ナンバリングツール のご紹介</a:t>
            </a:r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0FE28E59-CFB8-51F7-3B23-116B1F78C0EA}"/>
              </a:ext>
            </a:extLst>
          </p:cNvPr>
          <p:cNvSpPr txBox="1">
            <a:spLocks/>
          </p:cNvSpPr>
          <p:nvPr/>
        </p:nvSpPr>
        <p:spPr bwMode="auto">
          <a:xfrm>
            <a:off x="2673524" y="2457413"/>
            <a:ext cx="6443821" cy="696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200" b="1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9pPr>
          </a:lstStyle>
          <a:p>
            <a:r>
              <a:rPr lang="en-US" altLang="ja-JP" sz="2000" kern="0"/>
              <a:t>PowerPoint </a:t>
            </a:r>
            <a:r>
              <a:rPr lang="en-US" altLang="ja-JP" sz="2000" kern="0">
                <a:solidFill>
                  <a:schemeClr val="tx1"/>
                </a:solidFill>
              </a:rPr>
              <a:t>Easy Numbering tool</a:t>
            </a:r>
            <a:endParaRPr lang="ja-JP" altLang="en-US" sz="2000" kern="0"/>
          </a:p>
        </p:txBody>
      </p:sp>
      <p:sp>
        <p:nvSpPr>
          <p:cNvPr id="5" name="タイトル 1">
            <a:extLst>
              <a:ext uri="{FF2B5EF4-FFF2-40B4-BE49-F238E27FC236}">
                <a16:creationId xmlns:a16="http://schemas.microsoft.com/office/drawing/2014/main" id="{38B00C2D-FD6A-8C69-353E-80CB209CE1DE}"/>
              </a:ext>
            </a:extLst>
          </p:cNvPr>
          <p:cNvSpPr txBox="1">
            <a:spLocks/>
          </p:cNvSpPr>
          <p:nvPr/>
        </p:nvSpPr>
        <p:spPr bwMode="auto">
          <a:xfrm>
            <a:off x="263352" y="1359117"/>
            <a:ext cx="8976995" cy="696900"/>
          </a:xfrm>
          <a:prstGeom prst="rect">
            <a:avLst/>
          </a:prstGeom>
          <a:noFill/>
          <a:ln>
            <a:noFill/>
          </a:ln>
          <a:effectLst>
            <a:outerShdw blurRad="50800" dist="508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200" b="1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3400">
                <a:solidFill>
                  <a:schemeClr val="tx2"/>
                </a:solidFill>
                <a:latin typeface="Garamond" pitchFamily="18" charset="0"/>
                <a:ea typeface="ＭＳ Ｐゴシック" pitchFamily="50" charset="-128"/>
              </a:defRPr>
            </a:lvl9pPr>
          </a:lstStyle>
          <a:p>
            <a:r>
              <a:rPr lang="en-US" altLang="ja-JP" sz="1200" kern="0">
                <a:solidFill>
                  <a:schemeClr val="accent2">
                    <a:lumMod val="50000"/>
                  </a:schemeClr>
                </a:solidFill>
              </a:rPr>
              <a:t>                            </a:t>
            </a:r>
            <a:r>
              <a:rPr lang="en-US" altLang="ja-JP" sz="6000" kern="0">
                <a:solidFill>
                  <a:schemeClr val="accent2">
                    <a:lumMod val="50000"/>
                  </a:schemeClr>
                </a:solidFill>
              </a:rPr>
              <a:t> PpEasyIndexer</a:t>
            </a:r>
            <a:endParaRPr lang="ja-JP" altLang="en-US" sz="4400" kern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677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B03E0D-0A3A-0380-F267-5D6086381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PpEasyIndexer</a:t>
            </a:r>
            <a:r>
              <a:rPr kumimoji="1" lang="ja-JP" altLang="en-US"/>
              <a:t>とは？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732A6F4-0E1F-DD6C-2E7A-201ACF65F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1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84E0B9-3ED8-AB0C-F344-46415DD6D5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B28540F-5F10-4856-5960-89E56D84E3F3}"/>
              </a:ext>
            </a:extLst>
          </p:cNvPr>
          <p:cNvSpPr txBox="1"/>
          <p:nvPr/>
        </p:nvSpPr>
        <p:spPr bwMode="auto">
          <a:xfrm>
            <a:off x="1127453" y="1196752"/>
            <a:ext cx="9577065" cy="1015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PowerPoint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のファイルへの章・節番号の自動ナンバリングを簡単に行うツール。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動作イメージは下記の通り、「区切りスライド」を指定して変換をかけると、それに従って自動的に章節番号を設定した新たな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ファイルを生成します。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DD3AC99-2BF3-0679-AD20-84D9121C585B}"/>
              </a:ext>
            </a:extLst>
          </p:cNvPr>
          <p:cNvSpPr txBox="1"/>
          <p:nvPr/>
        </p:nvSpPr>
        <p:spPr bwMode="auto">
          <a:xfrm>
            <a:off x="4613472" y="3739953"/>
            <a:ext cx="1251918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eaLnBrk="1"/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区切り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35" name="図 34">
            <a:extLst>
              <a:ext uri="{FF2B5EF4-FFF2-40B4-BE49-F238E27FC236}">
                <a16:creationId xmlns:a16="http://schemas.microsoft.com/office/drawing/2014/main" id="{B0902A5E-F3EA-CE97-084B-897945561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217" y="2379217"/>
            <a:ext cx="608368" cy="665626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0D6CDEB-A62F-F89D-2D65-9A90D564766E}"/>
              </a:ext>
            </a:extLst>
          </p:cNvPr>
          <p:cNvSpPr txBox="1"/>
          <p:nvPr/>
        </p:nvSpPr>
        <p:spPr bwMode="auto">
          <a:xfrm>
            <a:off x="1518731" y="2400956"/>
            <a:ext cx="2935882" cy="646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eaLnBrk="1"/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ある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ファイルの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 eaLnBrk="1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スライド一覧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AD78312-AFF6-BA37-4121-38F71316FF8E}"/>
              </a:ext>
            </a:extLst>
          </p:cNvPr>
          <p:cNvSpPr/>
          <p:nvPr/>
        </p:nvSpPr>
        <p:spPr bwMode="auto">
          <a:xfrm>
            <a:off x="1565968" y="3127840"/>
            <a:ext cx="2295576" cy="288032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表紙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はじめに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Ａ・・・・・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Ｂ・・・・・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・・・・・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・・・・・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E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・・・・・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・・・・・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G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・・・・・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F7EB0DF-645F-698E-3AED-7A00AD2C86C5}"/>
              </a:ext>
            </a:extLst>
          </p:cNvPr>
          <p:cNvCxnSpPr>
            <a:cxnSpLocks/>
          </p:cNvCxnSpPr>
          <p:nvPr/>
        </p:nvCxnSpPr>
        <p:spPr bwMode="auto">
          <a:xfrm>
            <a:off x="2711624" y="3943530"/>
            <a:ext cx="2033928" cy="0"/>
          </a:xfrm>
          <a:prstGeom prst="line">
            <a:avLst/>
          </a:prstGeom>
          <a:solidFill>
            <a:srgbClr val="CCFFFF"/>
          </a:solidFill>
          <a:ln w="57150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F2B31FF7-C0DF-2E24-02D6-D25D503DDD2C}"/>
              </a:ext>
            </a:extLst>
          </p:cNvPr>
          <p:cNvCxnSpPr>
            <a:cxnSpLocks/>
          </p:cNvCxnSpPr>
          <p:nvPr/>
        </p:nvCxnSpPr>
        <p:spPr bwMode="auto">
          <a:xfrm>
            <a:off x="2711624" y="4884102"/>
            <a:ext cx="2033928" cy="0"/>
          </a:xfrm>
          <a:prstGeom prst="line">
            <a:avLst/>
          </a:prstGeom>
          <a:solidFill>
            <a:srgbClr val="CCFFFF"/>
          </a:solidFill>
          <a:ln w="57150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triangle" w="med" len="med"/>
            <a:tailEnd type="none" w="med" len="med"/>
          </a:ln>
          <a:effectLst/>
        </p:spPr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B96B976-A4BA-DB46-0ACD-E8233F89C714}"/>
              </a:ext>
            </a:extLst>
          </p:cNvPr>
          <p:cNvSpPr txBox="1"/>
          <p:nvPr/>
        </p:nvSpPr>
        <p:spPr bwMode="auto">
          <a:xfrm>
            <a:off x="4613472" y="4699435"/>
            <a:ext cx="1251918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eaLnBrk="1"/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区切り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F45D073-08C9-3481-8F17-DA1C43F919BE}"/>
              </a:ext>
            </a:extLst>
          </p:cNvPr>
          <p:cNvSpPr txBox="1"/>
          <p:nvPr/>
        </p:nvSpPr>
        <p:spPr bwMode="auto">
          <a:xfrm>
            <a:off x="4253279" y="2950803"/>
            <a:ext cx="2205772" cy="646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eaLnBrk="1"/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区切りスライドを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 eaLnBrk="1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指定して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右中かっこ 16">
            <a:extLst>
              <a:ext uri="{FF2B5EF4-FFF2-40B4-BE49-F238E27FC236}">
                <a16:creationId xmlns:a16="http://schemas.microsoft.com/office/drawing/2014/main" id="{59EAA8DD-5917-1BDB-EBB3-4437213C4B33}"/>
              </a:ext>
            </a:extLst>
          </p:cNvPr>
          <p:cNvSpPr/>
          <p:nvPr/>
        </p:nvSpPr>
        <p:spPr bwMode="auto">
          <a:xfrm>
            <a:off x="6528048" y="2835431"/>
            <a:ext cx="399100" cy="3312366"/>
          </a:xfrm>
          <a:prstGeom prst="rightBrace">
            <a:avLst>
              <a:gd name="adj1" fmla="val 56454"/>
              <a:gd name="adj2" fmla="val 50299"/>
            </a:avLst>
          </a:prstGeom>
          <a:noFill/>
          <a:ln w="57150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6F349A65-F723-F9E3-89E8-1A76E3DF1828}"/>
              </a:ext>
            </a:extLst>
          </p:cNvPr>
          <p:cNvCxnSpPr>
            <a:cxnSpLocks/>
          </p:cNvCxnSpPr>
          <p:nvPr/>
        </p:nvCxnSpPr>
        <p:spPr bwMode="auto">
          <a:xfrm>
            <a:off x="6948065" y="4500379"/>
            <a:ext cx="1517475" cy="0"/>
          </a:xfrm>
          <a:prstGeom prst="straightConnector1">
            <a:avLst/>
          </a:prstGeom>
          <a:solidFill>
            <a:srgbClr val="CCFFFF"/>
          </a:solidFill>
          <a:ln w="57150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57FD387-34F2-86F7-FE7E-853C66269119}"/>
              </a:ext>
            </a:extLst>
          </p:cNvPr>
          <p:cNvSpPr txBox="1"/>
          <p:nvPr/>
        </p:nvSpPr>
        <p:spPr bwMode="auto">
          <a:xfrm>
            <a:off x="6818451" y="3888832"/>
            <a:ext cx="1482962" cy="5232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eaLnBrk="1"/>
            <a:r>
              <a:rPr lang="ja-JP" altLang="en-US" sz="2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生成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25BE2C29-608E-EA34-EC57-7A15F64DD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7713" y="2379217"/>
            <a:ext cx="608368" cy="665626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20142E6-6E05-7178-9FF7-A7A6991C7A5E}"/>
              </a:ext>
            </a:extLst>
          </p:cNvPr>
          <p:cNvSpPr txBox="1"/>
          <p:nvPr/>
        </p:nvSpPr>
        <p:spPr bwMode="auto">
          <a:xfrm>
            <a:off x="8418436" y="2400956"/>
            <a:ext cx="2935882" cy="646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eaLnBrk="1"/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ナンバリング後の</a:t>
            </a:r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 eaLnBrk="1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スライド一覧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66DA428B-79B8-6ED9-4DD4-6F447CB67E17}"/>
              </a:ext>
            </a:extLst>
          </p:cNvPr>
          <p:cNvSpPr/>
          <p:nvPr/>
        </p:nvSpPr>
        <p:spPr bwMode="auto">
          <a:xfrm>
            <a:off x="8598464" y="3127840"/>
            <a:ext cx="2295576" cy="288032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表紙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はじめに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1) 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Ａ・・・・・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1.1) 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Ｂ・・・・・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1.2) C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・・・・・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2) D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・・・・・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2.1) E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・・・・・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2.2) F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・・・・・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2.3) G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・・・・・</a:t>
            </a:r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defTabSz="914477" eaLnBrk="1" hangingPunct="1"/>
            <a:endParaRPr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AB0E2A2-BA02-587C-75F5-BAE2ABFE3D05}"/>
              </a:ext>
            </a:extLst>
          </p:cNvPr>
          <p:cNvSpPr txBox="1"/>
          <p:nvPr/>
        </p:nvSpPr>
        <p:spPr bwMode="auto">
          <a:xfrm>
            <a:off x="7559932" y="6267338"/>
            <a:ext cx="2935882" cy="3693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eaLnBrk="1"/>
            <a:r>
              <a:rPr kumimoji="1" lang="ja-JP" altLang="en-US" sz="18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自動的に番号を振る</a:t>
            </a:r>
            <a:endParaRPr kumimoji="1" lang="en-US" altLang="ja-JP" sz="18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矢印: 下 25">
            <a:extLst>
              <a:ext uri="{FF2B5EF4-FFF2-40B4-BE49-F238E27FC236}">
                <a16:creationId xmlns:a16="http://schemas.microsoft.com/office/drawing/2014/main" id="{955CB9D9-8974-78F7-3E13-38C27CF55E27}"/>
              </a:ext>
            </a:extLst>
          </p:cNvPr>
          <p:cNvSpPr/>
          <p:nvPr/>
        </p:nvSpPr>
        <p:spPr bwMode="auto">
          <a:xfrm flipV="1">
            <a:off x="8683857" y="6061133"/>
            <a:ext cx="530911" cy="208833"/>
          </a:xfrm>
          <a:prstGeom prst="downArrow">
            <a:avLst/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endParaRPr kumimoji="1" lang="ja-JP" altLang="en-US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1831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78F04-1AA2-DA77-3EEC-3C8ECBB0D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08FB95-11C6-0931-A774-099CCB937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章を区切る位置がわかれば章節番号は自動計算可能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899802-658C-8A31-637A-D3D740DCF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2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0AEBF1-5F62-CD77-A248-9F0C54B132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1C6A3B8-25D7-0FFD-143F-C1358659C190}"/>
              </a:ext>
            </a:extLst>
          </p:cNvPr>
          <p:cNvSpPr/>
          <p:nvPr/>
        </p:nvSpPr>
        <p:spPr bwMode="auto">
          <a:xfrm>
            <a:off x="3260417" y="2382624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0290E90-9C3B-765E-BBA4-13E8A8325404}"/>
              </a:ext>
            </a:extLst>
          </p:cNvPr>
          <p:cNvSpPr/>
          <p:nvPr/>
        </p:nvSpPr>
        <p:spPr bwMode="auto">
          <a:xfrm>
            <a:off x="3868292" y="3167240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</a:t>
            </a:r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節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82B87F6-CA6C-9190-3C97-343E28734D5B}"/>
              </a:ext>
            </a:extLst>
          </p:cNvPr>
          <p:cNvSpPr/>
          <p:nvPr/>
        </p:nvSpPr>
        <p:spPr bwMode="auto">
          <a:xfrm>
            <a:off x="3982959" y="3686056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</a:t>
            </a:r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節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7FD5393-7D55-2E74-D5D7-EB68EB20D8A4}"/>
              </a:ext>
            </a:extLst>
          </p:cNvPr>
          <p:cNvSpPr/>
          <p:nvPr/>
        </p:nvSpPr>
        <p:spPr bwMode="auto">
          <a:xfrm>
            <a:off x="3260417" y="4633151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0E4C003-B71C-0DC1-47DE-7A431A9B1132}"/>
              </a:ext>
            </a:extLst>
          </p:cNvPr>
          <p:cNvSpPr/>
          <p:nvPr/>
        </p:nvSpPr>
        <p:spPr bwMode="auto">
          <a:xfrm>
            <a:off x="3868292" y="5346878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</a:t>
            </a:r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節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64E19983-6386-D704-A056-DE1CE436931D}"/>
              </a:ext>
            </a:extLst>
          </p:cNvPr>
          <p:cNvSpPr/>
          <p:nvPr/>
        </p:nvSpPr>
        <p:spPr bwMode="auto">
          <a:xfrm>
            <a:off x="3982959" y="5865694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</a:t>
            </a:r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節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6CA02A2-8AAC-6E7A-3E1B-53676A4170DE}"/>
              </a:ext>
            </a:extLst>
          </p:cNvPr>
          <p:cNvSpPr txBox="1"/>
          <p:nvPr/>
        </p:nvSpPr>
        <p:spPr bwMode="auto">
          <a:xfrm>
            <a:off x="1127453" y="1196752"/>
            <a:ext cx="9577065" cy="1015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典型的な章・節構成では、章ごとに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枚「章とびら」を置き、その後に「節」を複数続けます。　この場合、区切りとなる「章とびら」の位置が分かれば後は自動で章節番号計算ができます。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01691AF6-9A66-37C7-2738-4E7AB91058E7}"/>
              </a:ext>
            </a:extLst>
          </p:cNvPr>
          <p:cNvSpPr/>
          <p:nvPr/>
        </p:nvSpPr>
        <p:spPr bwMode="auto">
          <a:xfrm>
            <a:off x="1462679" y="2459506"/>
            <a:ext cx="1928317" cy="432048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ja-JP" altLang="en-US" sz="2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章とびら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CCF6FD5-6BBC-882C-34FC-C8BD6D24BBAD}"/>
              </a:ext>
            </a:extLst>
          </p:cNvPr>
          <p:cNvSpPr/>
          <p:nvPr/>
        </p:nvSpPr>
        <p:spPr bwMode="auto">
          <a:xfrm>
            <a:off x="1462679" y="4621046"/>
            <a:ext cx="1928317" cy="432048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ja-JP" altLang="en-US" sz="2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章とびら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9AEF1D0D-3052-B5D4-9A14-101C9FF238CE}"/>
              </a:ext>
            </a:extLst>
          </p:cNvPr>
          <p:cNvSpPr/>
          <p:nvPr/>
        </p:nvSpPr>
        <p:spPr bwMode="auto">
          <a:xfrm>
            <a:off x="2423215" y="3461061"/>
            <a:ext cx="1440160" cy="432048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ja-JP" altLang="en-US" sz="2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節</a:t>
            </a:r>
          </a:p>
        </p:txBody>
      </p:sp>
      <p:sp>
        <p:nvSpPr>
          <p:cNvPr id="20" name="右中かっこ 19">
            <a:extLst>
              <a:ext uri="{FF2B5EF4-FFF2-40B4-BE49-F238E27FC236}">
                <a16:creationId xmlns:a16="http://schemas.microsoft.com/office/drawing/2014/main" id="{4571D004-97E2-B461-EAB0-DA6C0135F249}"/>
              </a:ext>
            </a:extLst>
          </p:cNvPr>
          <p:cNvSpPr/>
          <p:nvPr/>
        </p:nvSpPr>
        <p:spPr bwMode="auto">
          <a:xfrm flipH="1">
            <a:off x="3544368" y="3007561"/>
            <a:ext cx="291083" cy="1429487"/>
          </a:xfrm>
          <a:prstGeom prst="rightBrace">
            <a:avLst>
              <a:gd name="adj1" fmla="val 56454"/>
              <a:gd name="adj2" fmla="val 50299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F0F63AE-F0DF-67B8-C2AA-03227CCCD01B}"/>
              </a:ext>
            </a:extLst>
          </p:cNvPr>
          <p:cNvSpPr/>
          <p:nvPr/>
        </p:nvSpPr>
        <p:spPr bwMode="auto">
          <a:xfrm>
            <a:off x="2423215" y="5546702"/>
            <a:ext cx="1440160" cy="432048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ja-JP" altLang="en-US" sz="2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節</a:t>
            </a:r>
          </a:p>
        </p:txBody>
      </p:sp>
      <p:sp>
        <p:nvSpPr>
          <p:cNvPr id="23" name="右中かっこ 22">
            <a:extLst>
              <a:ext uri="{FF2B5EF4-FFF2-40B4-BE49-F238E27FC236}">
                <a16:creationId xmlns:a16="http://schemas.microsoft.com/office/drawing/2014/main" id="{41CDFAFD-BC97-26E7-5CF2-F3DA434534BC}"/>
              </a:ext>
            </a:extLst>
          </p:cNvPr>
          <p:cNvSpPr/>
          <p:nvPr/>
        </p:nvSpPr>
        <p:spPr bwMode="auto">
          <a:xfrm flipH="1">
            <a:off x="3544367" y="5210934"/>
            <a:ext cx="291083" cy="1213463"/>
          </a:xfrm>
          <a:prstGeom prst="rightBrace">
            <a:avLst>
              <a:gd name="adj1" fmla="val 56454"/>
              <a:gd name="adj2" fmla="val 50299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BA63A440-35B7-C173-1346-7CD0EC2E275B}"/>
              </a:ext>
            </a:extLst>
          </p:cNvPr>
          <p:cNvSpPr/>
          <p:nvPr/>
        </p:nvSpPr>
        <p:spPr bwMode="auto">
          <a:xfrm>
            <a:off x="8184232" y="3265765"/>
            <a:ext cx="3050576" cy="1124754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「章とびら」の位置だけ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指定すれば、後は自動で</a:t>
            </a:r>
            <a:endParaRPr kumimoji="1" lang="en-US" altLang="ja-JP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番号計算ができる</a:t>
            </a:r>
          </a:p>
        </p:txBody>
      </p:sp>
      <p:sp>
        <p:nvSpPr>
          <p:cNvPr id="36" name="フリーフォーム: 図形 35">
            <a:extLst>
              <a:ext uri="{FF2B5EF4-FFF2-40B4-BE49-F238E27FC236}">
                <a16:creationId xmlns:a16="http://schemas.microsoft.com/office/drawing/2014/main" id="{06291F24-AF06-0BFD-D63B-310CC03CAD20}"/>
              </a:ext>
            </a:extLst>
          </p:cNvPr>
          <p:cNvSpPr/>
          <p:nvPr/>
        </p:nvSpPr>
        <p:spPr bwMode="auto">
          <a:xfrm>
            <a:off x="5490834" y="3845048"/>
            <a:ext cx="2596145" cy="895149"/>
          </a:xfrm>
          <a:custGeom>
            <a:avLst/>
            <a:gdLst>
              <a:gd name="connsiteX0" fmla="*/ 3455469 w 3455469"/>
              <a:gd name="connsiteY0" fmla="*/ 0 h 895149"/>
              <a:gd name="connsiteX1" fmla="*/ 2906829 w 3455469"/>
              <a:gd name="connsiteY1" fmla="*/ 202130 h 895149"/>
              <a:gd name="connsiteX2" fmla="*/ 1722922 w 3455469"/>
              <a:gd name="connsiteY2" fmla="*/ 779646 h 895149"/>
              <a:gd name="connsiteX3" fmla="*/ 0 w 3455469"/>
              <a:gd name="connsiteY3" fmla="*/ 895149 h 895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5469" h="895149">
                <a:moveTo>
                  <a:pt x="3455469" y="0"/>
                </a:moveTo>
                <a:cubicBezTo>
                  <a:pt x="3325528" y="36094"/>
                  <a:pt x="3195587" y="72189"/>
                  <a:pt x="2906829" y="202130"/>
                </a:cubicBezTo>
                <a:cubicBezTo>
                  <a:pt x="2618071" y="332071"/>
                  <a:pt x="2207393" y="664143"/>
                  <a:pt x="1722922" y="779646"/>
                </a:cubicBezTo>
                <a:cubicBezTo>
                  <a:pt x="1238451" y="895149"/>
                  <a:pt x="619225" y="895149"/>
                  <a:pt x="0" y="895149"/>
                </a:cubicBezTo>
              </a:path>
            </a:pathLst>
          </a:custGeom>
          <a:noFill/>
          <a:ln w="38100" cap="flat" cmpd="sng" algn="ctr">
            <a:solidFill>
              <a:srgbClr val="FF0000"/>
            </a:solidFill>
            <a:prstDash val="sysDot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フリーフォーム: 図形 36">
            <a:extLst>
              <a:ext uri="{FF2B5EF4-FFF2-40B4-BE49-F238E27FC236}">
                <a16:creationId xmlns:a16="http://schemas.microsoft.com/office/drawing/2014/main" id="{442AC94D-E0CE-6A10-5135-8CF92C8FEC14}"/>
              </a:ext>
            </a:extLst>
          </p:cNvPr>
          <p:cNvSpPr/>
          <p:nvPr/>
        </p:nvSpPr>
        <p:spPr bwMode="auto">
          <a:xfrm>
            <a:off x="5498065" y="2564888"/>
            <a:ext cx="2581682" cy="1097280"/>
          </a:xfrm>
          <a:custGeom>
            <a:avLst/>
            <a:gdLst>
              <a:gd name="connsiteX0" fmla="*/ 3436219 w 3436219"/>
              <a:gd name="connsiteY0" fmla="*/ 1097280 h 1097280"/>
              <a:gd name="connsiteX1" fmla="*/ 2772076 w 3436219"/>
              <a:gd name="connsiteY1" fmla="*/ 914400 h 1097280"/>
              <a:gd name="connsiteX2" fmla="*/ 1482290 w 3436219"/>
              <a:gd name="connsiteY2" fmla="*/ 221381 h 1097280"/>
              <a:gd name="connsiteX3" fmla="*/ 0 w 3436219"/>
              <a:gd name="connsiteY3" fmla="*/ 0 h 1097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6219" h="1097280">
                <a:moveTo>
                  <a:pt x="3436219" y="1097280"/>
                </a:moveTo>
                <a:cubicBezTo>
                  <a:pt x="3266975" y="1078831"/>
                  <a:pt x="3097731" y="1060383"/>
                  <a:pt x="2772076" y="914400"/>
                </a:cubicBezTo>
                <a:cubicBezTo>
                  <a:pt x="2446421" y="768417"/>
                  <a:pt x="1944303" y="373781"/>
                  <a:pt x="1482290" y="221381"/>
                </a:cubicBezTo>
                <a:cubicBezTo>
                  <a:pt x="1020277" y="68981"/>
                  <a:pt x="510138" y="34490"/>
                  <a:pt x="0" y="0"/>
                </a:cubicBezTo>
              </a:path>
            </a:pathLst>
          </a:custGeom>
          <a:noFill/>
          <a:ln w="38100" cap="flat" cmpd="sng" algn="ctr">
            <a:solidFill>
              <a:srgbClr val="FF0000"/>
            </a:solidFill>
            <a:prstDash val="sysDot"/>
            <a:round/>
            <a:headEnd type="none" w="med" len="med"/>
            <a:tailEnd type="triangl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168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78F04-1AA2-DA77-3EEC-3C8ECBB0D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08FB95-11C6-0931-A774-099CCB937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章とびらの指定方法は？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899802-658C-8A31-637A-D3D740DCF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3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0AEBF1-5F62-CD77-A248-9F0C54B132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1C6A3B8-25D7-0FFD-143F-C1358659C190}"/>
              </a:ext>
            </a:extLst>
          </p:cNvPr>
          <p:cNvSpPr/>
          <p:nvPr/>
        </p:nvSpPr>
        <p:spPr bwMode="auto">
          <a:xfrm>
            <a:off x="989335" y="2339555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Ａ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0290E90-9C3B-765E-BBA4-13E8A8325404}"/>
              </a:ext>
            </a:extLst>
          </p:cNvPr>
          <p:cNvSpPr/>
          <p:nvPr/>
        </p:nvSpPr>
        <p:spPr bwMode="auto">
          <a:xfrm>
            <a:off x="989335" y="3036169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82B87F6-CA6C-9190-3C97-343E28734D5B}"/>
              </a:ext>
            </a:extLst>
          </p:cNvPr>
          <p:cNvSpPr/>
          <p:nvPr/>
        </p:nvSpPr>
        <p:spPr bwMode="auto">
          <a:xfrm>
            <a:off x="989335" y="3732783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Ｃ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7FD5393-7D55-2E74-D5D7-EB68EB20D8A4}"/>
              </a:ext>
            </a:extLst>
          </p:cNvPr>
          <p:cNvSpPr/>
          <p:nvPr/>
        </p:nvSpPr>
        <p:spPr bwMode="auto">
          <a:xfrm>
            <a:off x="989335" y="4429397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Ｄ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0E4C003-B71C-0DC1-47DE-7A431A9B1132}"/>
              </a:ext>
            </a:extLst>
          </p:cNvPr>
          <p:cNvSpPr/>
          <p:nvPr/>
        </p:nvSpPr>
        <p:spPr bwMode="auto">
          <a:xfrm>
            <a:off x="989335" y="5126011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Ｅ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64E19983-6386-D704-A056-DE1CE436931D}"/>
              </a:ext>
            </a:extLst>
          </p:cNvPr>
          <p:cNvSpPr/>
          <p:nvPr/>
        </p:nvSpPr>
        <p:spPr bwMode="auto">
          <a:xfrm>
            <a:off x="989335" y="5822625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Ｆ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6CA02A2-8AAC-6E7A-3E1B-53676A4170DE}"/>
              </a:ext>
            </a:extLst>
          </p:cNvPr>
          <p:cNvSpPr txBox="1"/>
          <p:nvPr/>
        </p:nvSpPr>
        <p:spPr bwMode="auto">
          <a:xfrm>
            <a:off x="1127453" y="1196752"/>
            <a:ext cx="9577065" cy="1015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具体的には、章とびらにあたるページのどこかに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という特殊タグを埋め込みます。　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Python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プログラムがそれを読んで番号を付与し、タグを消去して新しい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ファイルを生成します。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BA63A440-35B7-C173-1346-7CD0EC2E275B}"/>
              </a:ext>
            </a:extLst>
          </p:cNvPr>
          <p:cNvSpPr/>
          <p:nvPr/>
        </p:nvSpPr>
        <p:spPr bwMode="auto">
          <a:xfrm>
            <a:off x="3846316" y="3429000"/>
            <a:ext cx="3050576" cy="768223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章とびらを示す特殊タグ </a:t>
            </a:r>
            <a:endParaRPr kumimoji="1" lang="en-US" altLang="ja-JP" sz="18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 defTabSz="914477" eaLnBrk="1" hangingPunct="1"/>
            <a:r>
              <a:rPr kumimoji="1"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 </a:t>
            </a:r>
            <a:r>
              <a:rPr kumimoji="1"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を読む</a:t>
            </a: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F7C6252A-A4FB-6872-90F0-F94977B4DA86}"/>
              </a:ext>
            </a:extLst>
          </p:cNvPr>
          <p:cNvSpPr/>
          <p:nvPr/>
        </p:nvSpPr>
        <p:spPr bwMode="auto">
          <a:xfrm>
            <a:off x="1807938" y="2604375"/>
            <a:ext cx="1296144" cy="320823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en-US" altLang="ja-JP" sz="140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</a:t>
            </a:r>
            <a:endParaRPr kumimoji="1" lang="ja-JP" altLang="en-US" sz="140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2AED7B5-A04C-82DB-0C3D-712754412B07}"/>
              </a:ext>
            </a:extLst>
          </p:cNvPr>
          <p:cNvSpPr/>
          <p:nvPr/>
        </p:nvSpPr>
        <p:spPr bwMode="auto">
          <a:xfrm>
            <a:off x="1807938" y="4697128"/>
            <a:ext cx="1296144" cy="320823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en-US" altLang="ja-JP" sz="140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</a:t>
            </a:r>
            <a:endParaRPr kumimoji="1" lang="ja-JP" altLang="en-US" sz="140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9AD6884F-3D74-43E0-5762-A520FD4CA756}"/>
              </a:ext>
            </a:extLst>
          </p:cNvPr>
          <p:cNvSpPr/>
          <p:nvPr/>
        </p:nvSpPr>
        <p:spPr bwMode="auto">
          <a:xfrm>
            <a:off x="4117515" y="4144975"/>
            <a:ext cx="2409939" cy="555817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lang="en-US" altLang="ja-JP">
                <a:solidFill>
                  <a:schemeClr val="accent2">
                    <a:lumMod val="50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PpEasyIndexer</a:t>
            </a:r>
            <a:endParaRPr kumimoji="1" lang="ja-JP" altLang="en-US">
              <a:solidFill>
                <a:schemeClr val="accent2">
                  <a:lumMod val="50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37BE5BEB-3668-AFDE-9FA5-38C9AEC2C90F}"/>
              </a:ext>
            </a:extLst>
          </p:cNvPr>
          <p:cNvCxnSpPr>
            <a:cxnSpLocks/>
          </p:cNvCxnSpPr>
          <p:nvPr/>
        </p:nvCxnSpPr>
        <p:spPr bwMode="auto">
          <a:xfrm>
            <a:off x="3005559" y="2925198"/>
            <a:ext cx="1111956" cy="1282759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F1D57433-16CB-507A-2D91-A03E0DD51FE8}"/>
              </a:ext>
            </a:extLst>
          </p:cNvPr>
          <p:cNvCxnSpPr>
            <a:cxnSpLocks/>
          </p:cNvCxnSpPr>
          <p:nvPr/>
        </p:nvCxnSpPr>
        <p:spPr bwMode="auto">
          <a:xfrm flipV="1">
            <a:off x="3005559" y="4593670"/>
            <a:ext cx="1109201" cy="24407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C1E8E9F8-AD58-701B-36BE-C6C18817D479}"/>
              </a:ext>
            </a:extLst>
          </p:cNvPr>
          <p:cNvSpPr/>
          <p:nvPr/>
        </p:nvSpPr>
        <p:spPr bwMode="auto">
          <a:xfrm>
            <a:off x="9290044" y="2339555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1) 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Ａ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BFB1F2F-0563-FB13-21A0-D67C4B2F278E}"/>
              </a:ext>
            </a:extLst>
          </p:cNvPr>
          <p:cNvSpPr/>
          <p:nvPr/>
        </p:nvSpPr>
        <p:spPr bwMode="auto">
          <a:xfrm>
            <a:off x="9290044" y="3036169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1.1) 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Ｂ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2AFF58B8-0C5B-CBE9-7411-89E0222E63AA}"/>
              </a:ext>
            </a:extLst>
          </p:cNvPr>
          <p:cNvSpPr/>
          <p:nvPr/>
        </p:nvSpPr>
        <p:spPr bwMode="auto">
          <a:xfrm>
            <a:off x="9290044" y="3732783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1.2) 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Ｃ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D4796F0-C45D-625A-C7AE-D9D2A081F1FC}"/>
              </a:ext>
            </a:extLst>
          </p:cNvPr>
          <p:cNvSpPr/>
          <p:nvPr/>
        </p:nvSpPr>
        <p:spPr bwMode="auto">
          <a:xfrm>
            <a:off x="9290044" y="4429397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2) 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Ｄ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98D7FA8A-7161-A62B-DF8A-7AF6CB003CC9}"/>
              </a:ext>
            </a:extLst>
          </p:cNvPr>
          <p:cNvSpPr/>
          <p:nvPr/>
        </p:nvSpPr>
        <p:spPr bwMode="auto">
          <a:xfrm>
            <a:off x="9290044" y="5126011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2.1) 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Ｅ</a:t>
            </a: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D7501E44-79BF-0B3E-303A-47615A62E297}"/>
              </a:ext>
            </a:extLst>
          </p:cNvPr>
          <p:cNvSpPr/>
          <p:nvPr/>
        </p:nvSpPr>
        <p:spPr bwMode="auto">
          <a:xfrm>
            <a:off x="9290044" y="5822625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2.2) 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Ｆ</a:t>
            </a: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37E2CC9F-D90A-692B-48B8-FE1160F09A58}"/>
              </a:ext>
            </a:extLst>
          </p:cNvPr>
          <p:cNvCxnSpPr>
            <a:cxnSpLocks/>
          </p:cNvCxnSpPr>
          <p:nvPr/>
        </p:nvCxnSpPr>
        <p:spPr bwMode="auto">
          <a:xfrm>
            <a:off x="6672064" y="4429397"/>
            <a:ext cx="2448272" cy="0"/>
          </a:xfrm>
          <a:prstGeom prst="straightConnector1">
            <a:avLst/>
          </a:prstGeom>
          <a:solidFill>
            <a:srgbClr val="CCFFFF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CC930289-34EC-12AF-C94A-744214B4F539}"/>
              </a:ext>
            </a:extLst>
          </p:cNvPr>
          <p:cNvSpPr/>
          <p:nvPr/>
        </p:nvSpPr>
        <p:spPr bwMode="auto">
          <a:xfrm>
            <a:off x="6903919" y="3189508"/>
            <a:ext cx="2016224" cy="1119615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章と節で書式を</a:t>
            </a:r>
            <a:endParaRPr kumimoji="1" lang="en-US" altLang="ja-JP" sz="18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 defTabSz="914477" eaLnBrk="1" hangingPunct="1"/>
            <a:r>
              <a:rPr kumimoji="1"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変えて付番し、</a:t>
            </a:r>
            <a:endParaRPr kumimoji="1" lang="en-US" altLang="ja-JP" sz="18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 defTabSz="914477" eaLnBrk="1" hangingPunct="1"/>
            <a:r>
              <a:rPr kumimoji="1"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 </a:t>
            </a:r>
          </a:p>
          <a:p>
            <a:pPr algn="ctr" defTabSz="914477" eaLnBrk="1" hangingPunct="1"/>
            <a:r>
              <a:rPr kumimoji="1"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のタグは消去する</a:t>
            </a:r>
            <a:endParaRPr kumimoji="1" lang="en-US" altLang="ja-JP" sz="18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06472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78F04-1AA2-DA77-3EEC-3C8ECBB0D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08FB95-11C6-0931-A774-099CCB937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「章とびらなし」で構成するときは？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899802-658C-8A31-637A-D3D740DCF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4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0AEBF1-5F62-CD77-A248-9F0C54B132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1C6A3B8-25D7-0FFD-143F-C1358659C190}"/>
              </a:ext>
            </a:extLst>
          </p:cNvPr>
          <p:cNvSpPr/>
          <p:nvPr/>
        </p:nvSpPr>
        <p:spPr bwMode="auto">
          <a:xfrm>
            <a:off x="1703512" y="2339555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Ａ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0290E90-9C3B-765E-BBA4-13E8A8325404}"/>
              </a:ext>
            </a:extLst>
          </p:cNvPr>
          <p:cNvSpPr/>
          <p:nvPr/>
        </p:nvSpPr>
        <p:spPr bwMode="auto">
          <a:xfrm>
            <a:off x="1703512" y="3036169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82B87F6-CA6C-9190-3C97-343E28734D5B}"/>
              </a:ext>
            </a:extLst>
          </p:cNvPr>
          <p:cNvSpPr/>
          <p:nvPr/>
        </p:nvSpPr>
        <p:spPr bwMode="auto">
          <a:xfrm>
            <a:off x="1703512" y="3732783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Ｃ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7FD5393-7D55-2E74-D5D7-EB68EB20D8A4}"/>
              </a:ext>
            </a:extLst>
          </p:cNvPr>
          <p:cNvSpPr/>
          <p:nvPr/>
        </p:nvSpPr>
        <p:spPr bwMode="auto">
          <a:xfrm>
            <a:off x="1703512" y="4429397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Ｄ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0E4C003-B71C-0DC1-47DE-7A431A9B1132}"/>
              </a:ext>
            </a:extLst>
          </p:cNvPr>
          <p:cNvSpPr/>
          <p:nvPr/>
        </p:nvSpPr>
        <p:spPr bwMode="auto">
          <a:xfrm>
            <a:off x="1703512" y="5126011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Ｅ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64E19983-6386-D704-A056-DE1CE436931D}"/>
              </a:ext>
            </a:extLst>
          </p:cNvPr>
          <p:cNvSpPr/>
          <p:nvPr/>
        </p:nvSpPr>
        <p:spPr bwMode="auto">
          <a:xfrm>
            <a:off x="1703512" y="5822625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Ｆ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6CA02A2-8AAC-6E7A-3E1B-53676A4170DE}"/>
              </a:ext>
            </a:extLst>
          </p:cNvPr>
          <p:cNvSpPr txBox="1"/>
          <p:nvPr/>
        </p:nvSpPr>
        <p:spPr bwMode="auto">
          <a:xfrm>
            <a:off x="1127453" y="1196752"/>
            <a:ext cx="9577065" cy="707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章節構成では章とびらを使わない場合もあります。その場合、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に加えて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#SECTION#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というタグを置いてください。 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F7C6252A-A4FB-6872-90F0-F94977B4DA86}"/>
              </a:ext>
            </a:extLst>
          </p:cNvPr>
          <p:cNvSpPr/>
          <p:nvPr/>
        </p:nvSpPr>
        <p:spPr bwMode="auto">
          <a:xfrm>
            <a:off x="2417689" y="2358505"/>
            <a:ext cx="1296144" cy="320823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en-US" altLang="ja-JP" sz="140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</a:t>
            </a:r>
          </a:p>
          <a:p>
            <a:pPr algn="ctr" defTabSz="914477" eaLnBrk="1" hangingPunct="1"/>
            <a:r>
              <a:rPr lang="en-US" altLang="ja-JP" sz="140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#SECTION#</a:t>
            </a:r>
            <a:endParaRPr kumimoji="1" lang="ja-JP" altLang="en-US" sz="140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2AED7B5-A04C-82DB-0C3D-712754412B07}"/>
              </a:ext>
            </a:extLst>
          </p:cNvPr>
          <p:cNvSpPr/>
          <p:nvPr/>
        </p:nvSpPr>
        <p:spPr bwMode="auto">
          <a:xfrm>
            <a:off x="2417689" y="4451258"/>
            <a:ext cx="1296144" cy="320823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en-US" altLang="ja-JP" sz="140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#CHAPT#</a:t>
            </a:r>
          </a:p>
          <a:p>
            <a:pPr algn="ctr" defTabSz="914477" eaLnBrk="1" hangingPunct="1"/>
            <a:r>
              <a:rPr lang="en-US" altLang="ja-JP" sz="140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#SECTION#</a:t>
            </a:r>
            <a:endParaRPr kumimoji="1" lang="ja-JP" altLang="en-US" sz="140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C1E8E9F8-AD58-701B-36BE-C6C18817D479}"/>
              </a:ext>
            </a:extLst>
          </p:cNvPr>
          <p:cNvSpPr/>
          <p:nvPr/>
        </p:nvSpPr>
        <p:spPr bwMode="auto">
          <a:xfrm>
            <a:off x="7197564" y="2339555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1.1) 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Ａ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BFB1F2F-0563-FB13-21A0-D67C4B2F278E}"/>
              </a:ext>
            </a:extLst>
          </p:cNvPr>
          <p:cNvSpPr/>
          <p:nvPr/>
        </p:nvSpPr>
        <p:spPr bwMode="auto">
          <a:xfrm>
            <a:off x="7197564" y="3036169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1.2) 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Ｂ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2AFF58B8-0C5B-CBE9-7411-89E0222E63AA}"/>
              </a:ext>
            </a:extLst>
          </p:cNvPr>
          <p:cNvSpPr/>
          <p:nvPr/>
        </p:nvSpPr>
        <p:spPr bwMode="auto">
          <a:xfrm>
            <a:off x="7197564" y="3732783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1.3) 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Ｃ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D4796F0-C45D-625A-C7AE-D9D2A081F1FC}"/>
              </a:ext>
            </a:extLst>
          </p:cNvPr>
          <p:cNvSpPr/>
          <p:nvPr/>
        </p:nvSpPr>
        <p:spPr bwMode="auto">
          <a:xfrm>
            <a:off x="7197564" y="4429397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2.1) 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Ｄ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98D7FA8A-7161-A62B-DF8A-7AF6CB003CC9}"/>
              </a:ext>
            </a:extLst>
          </p:cNvPr>
          <p:cNvSpPr/>
          <p:nvPr/>
        </p:nvSpPr>
        <p:spPr bwMode="auto">
          <a:xfrm>
            <a:off x="7197564" y="5126011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2.2) 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Ｅ</a:t>
            </a: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D7501E44-79BF-0B3E-303A-47615A62E297}"/>
              </a:ext>
            </a:extLst>
          </p:cNvPr>
          <p:cNvSpPr/>
          <p:nvPr/>
        </p:nvSpPr>
        <p:spPr bwMode="auto">
          <a:xfrm>
            <a:off x="7197564" y="5822625"/>
            <a:ext cx="2016224" cy="587642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defTabSz="914477" eaLnBrk="1" hangingPunct="1"/>
            <a:r>
              <a:rPr kumimoji="1"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2.3) </a:t>
            </a:r>
            <a:r>
              <a:rPr kumimoji="1"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Ｆ</a:t>
            </a:r>
          </a:p>
        </p:txBody>
      </p: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41C2FD26-6C4E-F155-77DB-358A72AB5627}"/>
              </a:ext>
            </a:extLst>
          </p:cNvPr>
          <p:cNvCxnSpPr>
            <a:cxnSpLocks/>
          </p:cNvCxnSpPr>
          <p:nvPr/>
        </p:nvCxnSpPr>
        <p:spPr bwMode="auto">
          <a:xfrm>
            <a:off x="4007768" y="2741711"/>
            <a:ext cx="2901764" cy="0"/>
          </a:xfrm>
          <a:prstGeom prst="straightConnector1">
            <a:avLst/>
          </a:prstGeom>
          <a:solidFill>
            <a:srgbClr val="CCFFFF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7BC1322A-DC08-4BC8-84B6-B28DE206465B}"/>
              </a:ext>
            </a:extLst>
          </p:cNvPr>
          <p:cNvSpPr/>
          <p:nvPr/>
        </p:nvSpPr>
        <p:spPr bwMode="auto">
          <a:xfrm>
            <a:off x="4007768" y="3315452"/>
            <a:ext cx="2683594" cy="764713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#SECTION# </a:t>
            </a:r>
            <a:r>
              <a:rPr kumimoji="1"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</a:t>
            </a:r>
            <a:endParaRPr kumimoji="1" lang="en-US" altLang="ja-JP" sz="18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 defTabSz="914477" eaLnBrk="1" hangingPunct="1"/>
            <a:r>
              <a:rPr kumimoji="1"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節番号を</a:t>
            </a:r>
            <a:r>
              <a:rPr kumimoji="1"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にする</a:t>
            </a:r>
            <a:endParaRPr kumimoji="1" lang="en-US" altLang="ja-JP" sz="18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66" name="直線矢印コネクタ 65">
            <a:extLst>
              <a:ext uri="{FF2B5EF4-FFF2-40B4-BE49-F238E27FC236}">
                <a16:creationId xmlns:a16="http://schemas.microsoft.com/office/drawing/2014/main" id="{43CE3ED5-7EB5-5B47-B241-C902786542FB}"/>
              </a:ext>
            </a:extLst>
          </p:cNvPr>
          <p:cNvCxnSpPr>
            <a:cxnSpLocks/>
          </p:cNvCxnSpPr>
          <p:nvPr/>
        </p:nvCxnSpPr>
        <p:spPr bwMode="auto">
          <a:xfrm>
            <a:off x="4007768" y="4834464"/>
            <a:ext cx="2901764" cy="0"/>
          </a:xfrm>
          <a:prstGeom prst="straightConnector1">
            <a:avLst/>
          </a:prstGeom>
          <a:solidFill>
            <a:srgbClr val="CCFFFF"/>
          </a:solidFill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737CFED-3005-2CD4-BAE8-9763800CF704}"/>
              </a:ext>
            </a:extLst>
          </p:cNvPr>
          <p:cNvSpPr/>
          <p:nvPr/>
        </p:nvSpPr>
        <p:spPr bwMode="auto">
          <a:xfrm>
            <a:off x="9696399" y="3284984"/>
            <a:ext cx="2016224" cy="764713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t" anchorCtr="0" compatLnSpc="1">
            <a:prstTxWarp prst="textNoShape">
              <a:avLst/>
            </a:prstTxWarp>
          </a:bodyPr>
          <a:lstStyle/>
          <a:p>
            <a:pPr algn="ctr" defTabSz="914477" eaLnBrk="1" hangingPunct="1"/>
            <a:r>
              <a:rPr kumimoji="1"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章とびらなしで</a:t>
            </a:r>
            <a:endParaRPr kumimoji="1" lang="en-US" altLang="ja-JP" sz="18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 defTabSz="914477" eaLnBrk="1" hangingPunct="1"/>
            <a:r>
              <a:rPr kumimoji="1"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1.1</a:t>
            </a:r>
            <a:r>
              <a:rPr kumimoji="1"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、</a:t>
            </a:r>
            <a:r>
              <a:rPr kumimoji="1" lang="en-US" altLang="ja-JP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2.1</a:t>
            </a:r>
            <a:r>
              <a:rPr kumimoji="1"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から</a:t>
            </a:r>
            <a:endParaRPr kumimoji="1" lang="en-US" altLang="ja-JP" sz="18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 defTabSz="914477" eaLnBrk="1" hangingPunct="1"/>
            <a:r>
              <a:rPr kumimoji="1" lang="ja-JP" altLang="en-US" sz="18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章が開始する</a:t>
            </a:r>
            <a:endParaRPr kumimoji="1" lang="en-US" altLang="ja-JP" sz="18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6AEA5A8D-12AC-5A1B-FD66-CAA5BBD3F9B0}"/>
              </a:ext>
            </a:extLst>
          </p:cNvPr>
          <p:cNvCxnSpPr>
            <a:cxnSpLocks/>
            <a:stCxn id="67" idx="1"/>
          </p:cNvCxnSpPr>
          <p:nvPr/>
        </p:nvCxnSpPr>
        <p:spPr bwMode="auto">
          <a:xfrm flipH="1" flipV="1">
            <a:off x="8205676" y="2795339"/>
            <a:ext cx="1490723" cy="872002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ysDot"/>
            <a:round/>
            <a:headEnd type="none" w="med" len="med"/>
            <a:tailEnd type="none" w="med" len="med"/>
          </a:ln>
          <a:effectLst/>
        </p:spPr>
      </p:cxnSp>
      <p:cxnSp>
        <p:nvCxnSpPr>
          <p:cNvPr id="71" name="直線矢印コネクタ 70">
            <a:extLst>
              <a:ext uri="{FF2B5EF4-FFF2-40B4-BE49-F238E27FC236}">
                <a16:creationId xmlns:a16="http://schemas.microsoft.com/office/drawing/2014/main" id="{20148EA4-94F9-4747-D5C2-6B6B44944463}"/>
              </a:ext>
            </a:extLst>
          </p:cNvPr>
          <p:cNvCxnSpPr>
            <a:cxnSpLocks/>
            <a:stCxn id="67" idx="1"/>
          </p:cNvCxnSpPr>
          <p:nvPr/>
        </p:nvCxnSpPr>
        <p:spPr bwMode="auto">
          <a:xfrm flipH="1">
            <a:off x="8205676" y="3667341"/>
            <a:ext cx="1490723" cy="890699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ysDot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658345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42BE21-70F0-B190-AA00-8FAE3A6C4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使用例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5C7259-C24A-8584-FC6D-760586952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5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A9F1C98-8B9C-34E3-B4C3-1E0BE80106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B13BBAA-B94A-CF01-0621-EB573A91141E}"/>
              </a:ext>
            </a:extLst>
          </p:cNvPr>
          <p:cNvSpPr txBox="1"/>
          <p:nvPr/>
        </p:nvSpPr>
        <p:spPr bwMode="auto">
          <a:xfrm>
            <a:off x="1127453" y="1196752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使用例は下記ファイルを参照してください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BFCD94-38FC-A0AB-23D8-7FE305F0F710}"/>
              </a:ext>
            </a:extLst>
          </p:cNvPr>
          <p:cNvSpPr txBox="1"/>
          <p:nvPr/>
        </p:nvSpPr>
        <p:spPr bwMode="auto">
          <a:xfrm>
            <a:off x="1555651" y="2399342"/>
            <a:ext cx="8136904" cy="400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ソース　  ： 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eample/ex1/EasyIndexerSample.pptx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CA2A0CC-A79A-8A19-9BAB-2A91EF681FA0}"/>
              </a:ext>
            </a:extLst>
          </p:cNvPr>
          <p:cNvSpPr txBox="1"/>
          <p:nvPr/>
        </p:nvSpPr>
        <p:spPr bwMode="auto">
          <a:xfrm>
            <a:off x="1555651" y="3128705"/>
            <a:ext cx="8136904" cy="4001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変換結果： 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eample/ex1/EasyIndexerSample_indexed.pptx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11255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78F04-1AA2-DA77-3EEC-3C8ECBB0D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08FB95-11C6-0931-A774-099CCB937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シェイプ削除、ページ（スライド）削除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899802-658C-8A31-637A-D3D740DCF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 smtClean="0"/>
              <a:pPr/>
              <a:t>6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0AEBF1-5F62-CD77-A248-9F0C54B132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altLang="ja-JP"/>
              <a:t>Copyright 2025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6CA02A2-8AAC-6E7A-3E1B-53676A4170DE}"/>
              </a:ext>
            </a:extLst>
          </p:cNvPr>
          <p:cNvSpPr txBox="1"/>
          <p:nvPr/>
        </p:nvSpPr>
        <p:spPr bwMode="auto">
          <a:xfrm>
            <a:off x="1127453" y="1196752"/>
            <a:ext cx="9577065" cy="1015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同様、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つのソース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から研修講師用と受講者用を生成する用途を想定して、シェイプ削除とページ（スライド）削除の機能があります。詳しくは 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PptxIndexer_Introduction.pdf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の変換例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(9),(10)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を参照してください。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6336307-25AE-1DB3-5485-9A3B34F2F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4342" y="2936805"/>
            <a:ext cx="5542298" cy="311754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9506154-77B1-1F12-E1A4-D0ECDD8E4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39" y="2951514"/>
            <a:ext cx="5542298" cy="311754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10581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2ADD7-CC78-399E-EA12-1294BFA7D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24742A-D914-663B-A66B-291C67D3B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76061"/>
          </a:xfrm>
        </p:spPr>
        <p:txBody>
          <a:bodyPr/>
          <a:lstStyle/>
          <a:p>
            <a:r>
              <a:rPr lang="ja-JP" altLang="en-US" sz="2800">
                <a:solidFill>
                  <a:schemeClr val="tx1"/>
                </a:solidFill>
              </a:rPr>
              <a:t>スクリプトの起動方法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F99D677-B886-A940-50FB-DF98E8427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900" b="1" kern="1200">
                <a:solidFill>
                  <a:schemeClr val="tx1"/>
                </a:solidFill>
                <a:latin typeface="FOT-UD丸ゴ_ラージ Pr6 M" panose="02020400000000000000" pitchFamily="18" charset="-128"/>
                <a:ea typeface="FOT-UD丸ゴ_ラージ Pr6 M" panose="02020400000000000000" pitchFamily="18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5pPr>
            <a:lvl6pPr marL="2286000" algn="l" defTabSz="914400" rtl="0" eaLnBrk="1" latinLnBrk="0" hangingPunct="1"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6pPr>
            <a:lvl7pPr marL="2743200" algn="l" defTabSz="914400" rtl="0" eaLnBrk="1" latinLnBrk="0" hangingPunct="1"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7pPr>
            <a:lvl8pPr marL="3200400" algn="l" defTabSz="914400" rtl="0" eaLnBrk="1" latinLnBrk="0" hangingPunct="1"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8pPr>
            <a:lvl9pPr marL="3657600" algn="l" defTabSz="914400" rtl="0" eaLnBrk="1" latinLnBrk="0" hangingPunct="1"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9pPr>
          </a:lstStyle>
          <a:p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Copyright 2025 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アイデアクラフト </a:t>
            </a:r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Kaimai Mizuhiro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CA0B6AC-7004-DB5B-23B4-A29F239EE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36D1426-C7F2-2664-C8B5-EB70EC40CE8C}"/>
              </a:ext>
            </a:extLst>
          </p:cNvPr>
          <p:cNvSpPr txBox="1"/>
          <p:nvPr/>
        </p:nvSpPr>
        <p:spPr bwMode="auto">
          <a:xfrm>
            <a:off x="1127453" y="105273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PowerPoint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のソースファイルを書き、下記のように起動します。</a:t>
            </a:r>
            <a:endParaRPr lang="ja-JP" altLang="en-US" kern="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89C623-5F8C-597D-215D-69677F20968F}"/>
              </a:ext>
            </a:extLst>
          </p:cNvPr>
          <p:cNvSpPr txBox="1"/>
          <p:nvPr/>
        </p:nvSpPr>
        <p:spPr bwMode="auto">
          <a:xfrm>
            <a:off x="1555651" y="1994089"/>
            <a:ext cx="8136904" cy="163121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 EasyIndexer 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$ python  ./PpEasyIndexer.py   TargetFile.pptx</a:t>
            </a:r>
          </a:p>
          <a:p>
            <a:pPr algn="l" eaLnBrk="1"/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変換結果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:  C:\Docs\TargetFile_indexer.pptx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D6340E9-674D-C232-5715-6A88DCF1C543}"/>
              </a:ext>
            </a:extLst>
          </p:cNvPr>
          <p:cNvSpPr txBox="1"/>
          <p:nvPr/>
        </p:nvSpPr>
        <p:spPr bwMode="auto">
          <a:xfrm>
            <a:off x="2567608" y="4144591"/>
            <a:ext cx="7920886" cy="707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変換後のファイル名をフルパスで表示します。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変換後ファイル名には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_indexed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という文字列が付加されます。</a:t>
            </a:r>
            <a:endParaRPr lang="ja-JP" altLang="en-US" kern="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7F3D1BAD-142A-4ADB-0D0C-369C4A03588A}"/>
              </a:ext>
            </a:extLst>
          </p:cNvPr>
          <p:cNvCxnSpPr/>
          <p:nvPr/>
        </p:nvCxnSpPr>
        <p:spPr bwMode="auto">
          <a:xfrm>
            <a:off x="2761785" y="3662378"/>
            <a:ext cx="5148572" cy="0"/>
          </a:xfrm>
          <a:prstGeom prst="line">
            <a:avLst/>
          </a:prstGeom>
          <a:solidFill>
            <a:srgbClr val="CCFFFF"/>
          </a:solidFill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9E663AE8-C9B0-5A4E-6935-37721EBA03DE}"/>
              </a:ext>
            </a:extLst>
          </p:cNvPr>
          <p:cNvCxnSpPr/>
          <p:nvPr/>
        </p:nvCxnSpPr>
        <p:spPr bwMode="auto">
          <a:xfrm flipV="1">
            <a:off x="4724003" y="3662378"/>
            <a:ext cx="0" cy="482213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7863928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C99C1-AD3B-0E26-3195-FAB679BFF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60DA65-8A0A-6FC8-D70A-CA2E6CC62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76061"/>
          </a:xfrm>
        </p:spPr>
        <p:txBody>
          <a:bodyPr/>
          <a:lstStyle/>
          <a:p>
            <a:r>
              <a:rPr lang="ja-JP" altLang="en-US" sz="2800">
                <a:solidFill>
                  <a:schemeClr val="tx1"/>
                </a:solidFill>
              </a:rPr>
              <a:t>使用可能なオプション</a:t>
            </a:r>
            <a:endParaRPr lang="ja-JP" altLang="en-US" sz="2800" dirty="0">
              <a:solidFill>
                <a:schemeClr val="tx1"/>
              </a:solidFill>
            </a:endParaRP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81BA2AF-C8D7-C6BA-6015-ED2AD23DA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900" b="1" kern="1200">
                <a:solidFill>
                  <a:schemeClr val="tx1"/>
                </a:solidFill>
                <a:latin typeface="FOT-UD丸ゴ_ラージ Pr6 M" panose="02020400000000000000" pitchFamily="18" charset="-128"/>
                <a:ea typeface="FOT-UD丸ゴ_ラージ Pr6 M" panose="02020400000000000000" pitchFamily="18" charset="-128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5pPr>
            <a:lvl6pPr marL="2286000" algn="l" defTabSz="914400" rtl="0" eaLnBrk="1" latinLnBrk="0" hangingPunct="1"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6pPr>
            <a:lvl7pPr marL="2743200" algn="l" defTabSz="914400" rtl="0" eaLnBrk="1" latinLnBrk="0" hangingPunct="1"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7pPr>
            <a:lvl8pPr marL="3200400" algn="l" defTabSz="914400" rtl="0" eaLnBrk="1" latinLnBrk="0" hangingPunct="1"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8pPr>
            <a:lvl9pPr marL="3657600" algn="l" defTabSz="914400" rtl="0" eaLnBrk="1" latinLnBrk="0" hangingPunct="1">
              <a:defRPr kumimoji="1" sz="2000" b="1" kern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defRPr>
            </a:lvl9pPr>
          </a:lstStyle>
          <a:p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Copyright 2025 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アイデアクラフト </a:t>
            </a:r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Kaimai Mizuhiro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33E3287-CCE9-124A-9E00-4BFA9A66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t>8</a:t>
            </a:fld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4DFD90-8F32-D2E7-1C15-8790969AE36C}"/>
              </a:ext>
            </a:extLst>
          </p:cNvPr>
          <p:cNvSpPr txBox="1"/>
          <p:nvPr/>
        </p:nvSpPr>
        <p:spPr bwMode="auto">
          <a:xfrm>
            <a:off x="1127453" y="1052736"/>
            <a:ext cx="9577065" cy="400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eaLnBrk="1"/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-h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をつけて起動すると、使用可能なオプションの一覧を表示します</a:t>
            </a:r>
            <a:endParaRPr lang="ja-JP" altLang="en-US" kern="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B552BE6-5C72-6BB0-79AB-DC03D58C2BC3}"/>
              </a:ext>
            </a:extLst>
          </p:cNvPr>
          <p:cNvSpPr txBox="1"/>
          <p:nvPr/>
        </p:nvSpPr>
        <p:spPr bwMode="auto">
          <a:xfrm>
            <a:off x="1343472" y="1772816"/>
            <a:ext cx="10009111" cy="45243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91440" tIns="45721" rIns="91440" bIns="45721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 eaLnBrk="1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--skipsildes 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 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-ss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ファイル先頭からの指定したページ数、処理を飛ばします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例： </a:t>
            </a:r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-ss 3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endParaRPr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--separator 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 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-sp 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章節番号とタイトルの間の区切り文字を指定します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例：　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-sp '&gt; '</a:t>
            </a:r>
          </a:p>
          <a:p>
            <a:pPr algn="l" eaLnBrk="1"/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--delimitter 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 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-dl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章番号と節番号の間の区切り文字を指定します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例：　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-dl '-'</a:t>
            </a:r>
          </a:p>
          <a:p>
            <a:pPr algn="l" eaLnBrk="1"/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--deletecsl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または 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-csl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#CSL# 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を含むスライドを削除します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例：　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-csl</a:t>
            </a:r>
          </a:p>
          <a:p>
            <a:pPr algn="l" eaLnBrk="1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--deletecsp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または 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-csp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#CSP# 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を含むシェイプを削除します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例：　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-csp</a:t>
            </a:r>
          </a:p>
          <a:p>
            <a:pPr algn="l" eaLnBrk="1"/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--postfix 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 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-p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　変換後のファイル名に付加する文字列を指定します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 eaLnBrk="1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例：  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-p '_gen'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35820242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t" anchorCtr="0" compatLnSpc="1">
        <a:prstTxWarp prst="textNoShape">
          <a:avLst/>
        </a:prstTxWarp>
      </a:bodyPr>
      <a:lstStyle>
        <a:defPPr algn="ctr" defTabSz="914477" eaLnBrk="1" hangingPunct="1">
          <a:defRPr kumimoji="1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1" rIns="91440" bIns="45721" numCol="1" rtlCol="0" anchor="t" anchorCtr="0" compatLnSpc="1">
        <a:prstTxWarp prst="textNoShape">
          <a:avLst/>
        </a:prstTxWarp>
        <a:spAutoFit/>
      </a:bodyPr>
      <a:lstStyle>
        <a:defPPr algn="l" eaLnBrk="1">
          <a:defRPr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21540</TotalTime>
  <Words>906</Words>
  <Application>Microsoft Office PowerPoint</Application>
  <PresentationFormat>ワイド画面</PresentationFormat>
  <Paragraphs>147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BIZ UDPゴシック</vt:lpstr>
      <vt:lpstr>FOT-UD丸ゴ_ラージ Pr6 M</vt:lpstr>
      <vt:lpstr>Arial</vt:lpstr>
      <vt:lpstr>Garamond</vt:lpstr>
      <vt:lpstr>Wingdings</vt:lpstr>
      <vt:lpstr>Edge</vt:lpstr>
      <vt:lpstr>Brief Introduction to </vt:lpstr>
      <vt:lpstr>PpEasyIndexerとは？</vt:lpstr>
      <vt:lpstr>章を区切る位置がわかれば章節番号は自動計算可能</vt:lpstr>
      <vt:lpstr>章とびらの指定方法は？</vt:lpstr>
      <vt:lpstr>「章とびらなし」で構成するときは？</vt:lpstr>
      <vt:lpstr>使用例</vt:lpstr>
      <vt:lpstr>シェイプ削除、ページ（スライド）削除</vt:lpstr>
      <vt:lpstr>スクリプトの起動方法</vt:lpstr>
      <vt:lpstr>使用可能なオプション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開米瑞浩</dc:creator>
  <cp:lastModifiedBy>瑞浩 開米</cp:lastModifiedBy>
  <cp:revision>2191</cp:revision>
  <cp:lastPrinted>2024-11-10T09:08:11Z</cp:lastPrinted>
  <dcterms:modified xsi:type="dcterms:W3CDTF">2025-02-22T01:20:43Z</dcterms:modified>
</cp:coreProperties>
</file>