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6"/>
  </p:notesMasterIdLst>
  <p:sldIdLst>
    <p:sldId id="1682" r:id="rId2"/>
    <p:sldId id="1713" r:id="rId3"/>
    <p:sldId id="1714" r:id="rId4"/>
    <p:sldId id="1715" r:id="rId5"/>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6" autoAdjust="0"/>
    <p:restoredTop sz="86408" autoAdjust="0"/>
  </p:normalViewPr>
  <p:slideViewPr>
    <p:cSldViewPr>
      <p:cViewPr varScale="1">
        <p:scale>
          <a:sx n="105" d="100"/>
          <a:sy n="105" d="100"/>
        </p:scale>
        <p:origin x="132" y="43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2025/3/8</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916832"/>
            <a:ext cx="10164233" cy="961752"/>
          </a:xfrm>
        </p:spPr>
        <p:txBody>
          <a:bodyPr/>
          <a:lstStyle/>
          <a:p>
            <a:r>
              <a:rPr kumimoji="1" lang="en-US" altLang="ja-JP"/>
              <a:t>04_EISample</a:t>
            </a:r>
            <a:endParaRPr kumimoji="1" lang="ja-JP" altLang="en-US"/>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2025/3/4</a:t>
            </a:r>
            <a:r>
              <a:rPr lang="ja-JP" altLang="en-US" sz="2000"/>
              <a:t> 作成</a:t>
            </a:r>
            <a:endParaRPr lang="en-US" altLang="ja-JP" sz="2000"/>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812864"/>
            <a:ext cx="8712968"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 </a:t>
            </a:r>
            <a:r>
              <a:rPr kumimoji="1" lang="en-US" altLang="ja-JP" kern="0">
                <a:latin typeface="BIZ UDPゴシック" panose="020B0400000000000000" pitchFamily="50" charset="-128"/>
                <a:ea typeface="BIZ UDPゴシック" panose="020B0400000000000000" pitchFamily="50" charset="-128"/>
              </a:rPr>
              <a:t>source </a:t>
            </a:r>
            <a:r>
              <a:rPr kumimoji="1" lang="ja-JP" altLang="en-US" kern="0">
                <a:latin typeface="BIZ UDPゴシック" panose="020B0400000000000000" pitchFamily="50" charset="-128"/>
                <a:ea typeface="BIZ UDPゴシック" panose="020B0400000000000000" pitchFamily="50" charset="-128"/>
              </a:rPr>
              <a:t>と </a:t>
            </a:r>
            <a:r>
              <a:rPr kumimoji="1" lang="en-US" altLang="ja-JP" kern="0">
                <a:latin typeface="BIZ UDPゴシック" panose="020B0400000000000000" pitchFamily="50" charset="-128"/>
                <a:ea typeface="BIZ UDPゴシック" panose="020B0400000000000000" pitchFamily="50" charset="-128"/>
              </a:rPr>
              <a:t>target </a:t>
            </a:r>
            <a:r>
              <a:rPr kumimoji="1" lang="ja-JP" altLang="en-US" kern="0">
                <a:latin typeface="BIZ UDPゴシック" panose="020B0400000000000000" pitchFamily="50" charset="-128"/>
                <a:ea typeface="BIZ UDPゴシック" panose="020B0400000000000000" pitchFamily="50" charset="-128"/>
              </a:rPr>
              <a:t>のファイル名を指定する方法のサンプルです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57DA574-B7E1-2B26-7C38-F4CA1F35962D}"/>
              </a:ext>
            </a:extLst>
          </p:cNvPr>
          <p:cNvSpPr txBox="1"/>
          <p:nvPr/>
        </p:nvSpPr>
        <p:spPr bwMode="auto">
          <a:xfrm>
            <a:off x="8904312" y="6567223"/>
            <a:ext cx="1872208" cy="27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200" kern="0">
                <a:latin typeface="BIZ UDPゴシック" panose="020B0400000000000000" pitchFamily="50" charset="-128"/>
                <a:ea typeface="BIZ UDPゴシック" panose="020B0400000000000000" pitchFamily="50" charset="-128"/>
              </a:rPr>
              <a:t>#CHAPT#</a:t>
            </a:r>
            <a:endParaRPr kumimoji="1" lang="ja-JP" altLang="en-US" sz="1200" kern="0">
              <a:latin typeface="BIZ UDPゴシック" panose="020B0400000000000000" pitchFamily="50" charset="-128"/>
              <a:ea typeface="BIZ UDPゴシック" panose="020B0400000000000000" pitchFamily="50" charset="-128"/>
            </a:endParaRPr>
          </a:p>
        </p:txBody>
      </p:sp>
      <p:sp>
        <p:nvSpPr>
          <p:cNvPr id="4" name="タイトル 3">
            <a:extLst>
              <a:ext uri="{FF2B5EF4-FFF2-40B4-BE49-F238E27FC236}">
                <a16:creationId xmlns:a16="http://schemas.microsoft.com/office/drawing/2014/main" id="{0322E5CC-E26C-657C-A91F-29EA9C848865}"/>
              </a:ext>
            </a:extLst>
          </p:cNvPr>
          <p:cNvSpPr>
            <a:spLocks noGrp="1"/>
          </p:cNvSpPr>
          <p:nvPr>
            <p:ph type="title"/>
          </p:nvPr>
        </p:nvSpPr>
        <p:spPr/>
        <p:txBody>
          <a:bodyPr/>
          <a:lstStyle/>
          <a:p>
            <a:r>
              <a:rPr lang="ja-JP" altLang="en-US"/>
              <a:t>デフォルト動作</a:t>
            </a:r>
          </a:p>
        </p:txBody>
      </p:sp>
      <p:sp>
        <p:nvSpPr>
          <p:cNvPr id="5" name="正方形/長方形 4">
            <a:extLst>
              <a:ext uri="{FF2B5EF4-FFF2-40B4-BE49-F238E27FC236}">
                <a16:creationId xmlns:a16="http://schemas.microsoft.com/office/drawing/2014/main" id="{A0AD6836-6AB0-5DDA-262C-517F4383344E}"/>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04_EISample_source.pptx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6" name="正方形/長方形 5">
            <a:extLst>
              <a:ext uri="{FF2B5EF4-FFF2-40B4-BE49-F238E27FC236}">
                <a16:creationId xmlns:a16="http://schemas.microsoft.com/office/drawing/2014/main" id="{70622CBD-4F81-E7B5-422F-DB5C59488CA7}"/>
              </a:ext>
            </a:extLst>
          </p:cNvPr>
          <p:cNvSpPr/>
          <p:nvPr/>
        </p:nvSpPr>
        <p:spPr bwMode="auto">
          <a:xfrm>
            <a:off x="767408" y="2225916"/>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a:t>
            </a:r>
            <a:r>
              <a:rPr kumimoji="1" lang="en-US" altLang="ja-JP" sz="1800">
                <a:latin typeface="Source Code Pro Semibold" panose="020B0609030403020204" pitchFamily="49" charset="0"/>
                <a:ea typeface="Source Code Pro Semibold" panose="020B0609030403020204" pitchFamily="49" charset="0"/>
              </a:rPr>
              <a:t>_generated</a:t>
            </a:r>
            <a:r>
              <a:rPr kumimoji="1" lang="en-US" altLang="ja-JP" sz="1800">
                <a:latin typeface="BIZ UDPゴシック" panose="020B0400000000000000" pitchFamily="50" charset="-128"/>
                <a:ea typeface="BIZ UDPゴシック" panose="020B0400000000000000" pitchFamily="50" charset="-128"/>
              </a:rPr>
              <a:t> </a:t>
            </a:r>
            <a:r>
              <a:rPr kumimoji="1" lang="ja-JP" altLang="en-US" sz="1800">
                <a:latin typeface="BIZ UDPゴシック" panose="020B0400000000000000" pitchFamily="50" charset="-128"/>
                <a:ea typeface="BIZ UDPゴシック" panose="020B0400000000000000" pitchFamily="50" charset="-128"/>
              </a:rPr>
              <a:t>が付加される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BF64814C-807D-0EFA-FB96-DA89ADDB66E3}"/>
              </a:ext>
            </a:extLst>
          </p:cNvPr>
          <p:cNvSpPr/>
          <p:nvPr/>
        </p:nvSpPr>
        <p:spPr bwMode="auto">
          <a:xfrm>
            <a:off x="1163452" y="2655621"/>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04_EISample_source_generated.pptx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8" name="正方形/長方形 7">
            <a:extLst>
              <a:ext uri="{FF2B5EF4-FFF2-40B4-BE49-F238E27FC236}">
                <a16:creationId xmlns:a16="http://schemas.microsoft.com/office/drawing/2014/main" id="{6718D0F8-ED45-1539-DB07-FA507A333021}"/>
              </a:ext>
            </a:extLst>
          </p:cNvPr>
          <p:cNvSpPr/>
          <p:nvPr/>
        </p:nvSpPr>
        <p:spPr bwMode="auto">
          <a:xfrm>
            <a:off x="767408" y="1247661"/>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デフォルト動作では、生成される </a:t>
            </a:r>
            <a:r>
              <a:rPr kumimoji="1" lang="en-US" altLang="ja-JP" sz="1800">
                <a:latin typeface="BIZ UDPゴシック" panose="020B0400000000000000" pitchFamily="50" charset="-128"/>
                <a:ea typeface="BIZ UDPゴシック" panose="020B0400000000000000" pitchFamily="50" charset="-128"/>
              </a:rPr>
              <a:t>target </a:t>
            </a:r>
            <a:r>
              <a:rPr kumimoji="1" lang="ja-JP" altLang="en-US" sz="1800">
                <a:latin typeface="BIZ UDPゴシック" panose="020B0400000000000000" pitchFamily="50" charset="-128"/>
                <a:ea typeface="BIZ UDPゴシック" panose="020B0400000000000000" pitchFamily="50" charset="-128"/>
              </a:rPr>
              <a:t>ファイルには</a:t>
            </a:r>
            <a:r>
              <a:rPr kumimoji="1" lang="ja-JP" altLang="en-US" sz="1800">
                <a:latin typeface="Source Code Pro Semibold" panose="020B0609030403020204" pitchFamily="49" charset="0"/>
                <a:ea typeface="BIZ UDPゴシック" panose="020B0400000000000000" pitchFamily="50" charset="-128"/>
              </a:rPr>
              <a:t> </a:t>
            </a:r>
            <a:r>
              <a:rPr kumimoji="1" lang="en-US" altLang="ja-JP" sz="1800">
                <a:latin typeface="Source Code Pro Semibold" panose="020B0609030403020204" pitchFamily="49" charset="0"/>
                <a:ea typeface="Source Code Pro Semibold" panose="020B0609030403020204" pitchFamily="49" charset="0"/>
              </a:rPr>
              <a:t>_generated </a:t>
            </a:r>
            <a:r>
              <a:rPr kumimoji="1" lang="ja-JP" altLang="en-US" sz="1800">
                <a:latin typeface="BIZ UDPゴシック" panose="020B0400000000000000" pitchFamily="50" charset="-128"/>
                <a:ea typeface="BIZ UDPゴシック" panose="020B0400000000000000" pitchFamily="50" charset="-128"/>
              </a:rPr>
              <a:t>が付加されます</a:t>
            </a:r>
          </a:p>
        </p:txBody>
      </p:sp>
      <p:sp>
        <p:nvSpPr>
          <p:cNvPr id="9" name="テキスト ボックス 8">
            <a:extLst>
              <a:ext uri="{FF2B5EF4-FFF2-40B4-BE49-F238E27FC236}">
                <a16:creationId xmlns:a16="http://schemas.microsoft.com/office/drawing/2014/main" id="{06FF94A5-47FD-A66E-ACD6-422C0E69AFF6}"/>
              </a:ext>
            </a:extLst>
          </p:cNvPr>
          <p:cNvSpPr txBox="1"/>
          <p:nvPr/>
        </p:nvSpPr>
        <p:spPr bwMode="auto">
          <a:xfrm>
            <a:off x="3160118" y="3873338"/>
            <a:ext cx="4232026" cy="36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defPPr>
              <a:defRPr lang="en-US"/>
            </a:defPPr>
            <a:lvl1pPr eaLnBrk="1">
              <a:defRPr sz="1800" kern="0">
                <a:latin typeface="Source Code Pro Semibold" panose="020B0609030403020204" pitchFamily="49" charset="0"/>
                <a:ea typeface="Source Code Pro Semibold" panose="020B0609030403020204" pitchFamily="49" charset="0"/>
              </a:defRPr>
            </a:lvl1pPr>
          </a:lstStyle>
          <a:p>
            <a:r>
              <a:rPr lang="en-US" altLang="ja-JP"/>
              <a:t>ORIGINAL.pptx</a:t>
            </a:r>
          </a:p>
        </p:txBody>
      </p:sp>
      <p:pic>
        <p:nvPicPr>
          <p:cNvPr id="16" name="図 15">
            <a:extLst>
              <a:ext uri="{FF2B5EF4-FFF2-40B4-BE49-F238E27FC236}">
                <a16:creationId xmlns:a16="http://schemas.microsoft.com/office/drawing/2014/main" id="{F013B16B-26AA-1BA7-BA1E-736A945F15AE}"/>
              </a:ext>
            </a:extLst>
          </p:cNvPr>
          <p:cNvPicPr>
            <a:picLocks noChangeAspect="1"/>
          </p:cNvPicPr>
          <p:nvPr/>
        </p:nvPicPr>
        <p:blipFill>
          <a:blip r:embed="rId2"/>
          <a:stretch>
            <a:fillRect/>
          </a:stretch>
        </p:blipFill>
        <p:spPr>
          <a:xfrm>
            <a:off x="2494607" y="3667172"/>
            <a:ext cx="608368" cy="665626"/>
          </a:xfrm>
          <a:prstGeom prst="rect">
            <a:avLst/>
          </a:prstGeom>
        </p:spPr>
      </p:pic>
      <p:sp>
        <p:nvSpPr>
          <p:cNvPr id="18" name="テキスト ボックス 17">
            <a:extLst>
              <a:ext uri="{FF2B5EF4-FFF2-40B4-BE49-F238E27FC236}">
                <a16:creationId xmlns:a16="http://schemas.microsoft.com/office/drawing/2014/main" id="{E4376406-6B20-A5B2-7152-1960C006296C}"/>
              </a:ext>
            </a:extLst>
          </p:cNvPr>
          <p:cNvSpPr txBox="1"/>
          <p:nvPr/>
        </p:nvSpPr>
        <p:spPr bwMode="auto">
          <a:xfrm>
            <a:off x="3160118" y="5132313"/>
            <a:ext cx="4232026" cy="36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defPPr>
              <a:defRPr lang="en-US"/>
            </a:defPPr>
            <a:lvl1pPr eaLnBrk="1">
              <a:defRPr sz="1800" kern="0">
                <a:latin typeface="Source Code Pro Semibold" panose="020B0609030403020204" pitchFamily="49" charset="0"/>
                <a:ea typeface="Source Code Pro Semibold" panose="020B0609030403020204" pitchFamily="49" charset="0"/>
              </a:defRPr>
            </a:lvl1pPr>
          </a:lstStyle>
          <a:p>
            <a:r>
              <a:rPr lang="en-US" altLang="ja-JP"/>
              <a:t>ORIGINAL_generated.pptx</a:t>
            </a:r>
          </a:p>
        </p:txBody>
      </p:sp>
      <p:pic>
        <p:nvPicPr>
          <p:cNvPr id="19" name="図 18">
            <a:extLst>
              <a:ext uri="{FF2B5EF4-FFF2-40B4-BE49-F238E27FC236}">
                <a16:creationId xmlns:a16="http://schemas.microsoft.com/office/drawing/2014/main" id="{68B752DA-5BAB-DC17-2079-C38B4C2E1BFE}"/>
              </a:ext>
            </a:extLst>
          </p:cNvPr>
          <p:cNvPicPr>
            <a:picLocks noChangeAspect="1"/>
          </p:cNvPicPr>
          <p:nvPr/>
        </p:nvPicPr>
        <p:blipFill>
          <a:blip r:embed="rId2"/>
          <a:stretch>
            <a:fillRect/>
          </a:stretch>
        </p:blipFill>
        <p:spPr>
          <a:xfrm>
            <a:off x="2494607" y="4926147"/>
            <a:ext cx="608368" cy="665626"/>
          </a:xfrm>
          <a:prstGeom prst="rect">
            <a:avLst/>
          </a:prstGeom>
        </p:spPr>
      </p:pic>
      <p:cxnSp>
        <p:nvCxnSpPr>
          <p:cNvPr id="21" name="直線矢印コネクタ 20">
            <a:extLst>
              <a:ext uri="{FF2B5EF4-FFF2-40B4-BE49-F238E27FC236}">
                <a16:creationId xmlns:a16="http://schemas.microsoft.com/office/drawing/2014/main" id="{31FF647D-2230-CA41-A9C1-2336E6FD4138}"/>
              </a:ext>
            </a:extLst>
          </p:cNvPr>
          <p:cNvCxnSpPr/>
          <p:nvPr/>
        </p:nvCxnSpPr>
        <p:spPr bwMode="auto">
          <a:xfrm>
            <a:off x="4151784" y="4385763"/>
            <a:ext cx="0" cy="591733"/>
          </a:xfrm>
          <a:prstGeom prst="straightConnector1">
            <a:avLst/>
          </a:prstGeom>
          <a:solidFill>
            <a:srgbClr val="CCFFFF"/>
          </a:solidFill>
          <a:ln w="57150" cap="flat" cmpd="sng" algn="ctr">
            <a:solidFill>
              <a:srgbClr val="FF0000"/>
            </a:solidFill>
            <a:prstDash val="solid"/>
            <a:round/>
            <a:headEnd type="none" w="med" len="med"/>
            <a:tailEnd type="triangle"/>
          </a:ln>
          <a:effectLst/>
        </p:spPr>
      </p:cxnSp>
      <p:sp>
        <p:nvSpPr>
          <p:cNvPr id="22" name="正方形/長方形 21">
            <a:extLst>
              <a:ext uri="{FF2B5EF4-FFF2-40B4-BE49-F238E27FC236}">
                <a16:creationId xmlns:a16="http://schemas.microsoft.com/office/drawing/2014/main" id="{63EFA41C-6EB0-D121-E969-99B83A415AFA}"/>
              </a:ext>
            </a:extLst>
          </p:cNvPr>
          <p:cNvSpPr/>
          <p:nvPr/>
        </p:nvSpPr>
        <p:spPr bwMode="auto">
          <a:xfrm>
            <a:off x="4295800" y="4472528"/>
            <a:ext cx="331236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800">
                <a:latin typeface="Source Code Pro Semibold" panose="020B0609030403020204" pitchFamily="49" charset="0"/>
                <a:ea typeface="Source Code Pro Semibold" panose="020B0609030403020204" pitchFamily="49" charset="0"/>
              </a:rPr>
              <a:t>_generated</a:t>
            </a:r>
            <a:r>
              <a:rPr kumimoji="1" lang="en-US" altLang="ja-JP" sz="1800">
                <a:latin typeface="BIZ UDPゴシック" panose="020B0400000000000000" pitchFamily="50" charset="-128"/>
                <a:ea typeface="BIZ UDPゴシック" panose="020B0400000000000000" pitchFamily="50" charset="-128"/>
              </a:rPr>
              <a:t> </a:t>
            </a:r>
            <a:r>
              <a:rPr kumimoji="1" lang="ja-JP" altLang="en-US" sz="1800">
                <a:latin typeface="BIZ UDPゴシック" panose="020B0400000000000000" pitchFamily="50" charset="-128"/>
                <a:ea typeface="BIZ UDPゴシック" panose="020B0400000000000000" pitchFamily="50" charset="-128"/>
              </a:rPr>
              <a:t>が付加される</a:t>
            </a:r>
          </a:p>
        </p:txBody>
      </p:sp>
    </p:spTree>
    <p:extLst>
      <p:ext uri="{BB962C8B-B14F-4D97-AF65-F5344CB8AC3E}">
        <p14:creationId xmlns:p14="http://schemas.microsoft.com/office/powerpoint/2010/main" val="1006638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9A416-64C9-DD36-6234-F1CA8EB63F4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7BB55F3-3D70-0EE7-CA4A-F16647829428}"/>
              </a:ext>
            </a:extLst>
          </p:cNvPr>
          <p:cNvSpPr txBox="1"/>
          <p:nvPr/>
        </p:nvSpPr>
        <p:spPr bwMode="auto">
          <a:xfrm>
            <a:off x="8904312" y="6567223"/>
            <a:ext cx="1872208" cy="27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200" kern="0">
                <a:latin typeface="BIZ UDPゴシック" panose="020B0400000000000000" pitchFamily="50" charset="-128"/>
                <a:ea typeface="BIZ UDPゴシック" panose="020B0400000000000000" pitchFamily="50" charset="-128"/>
              </a:rPr>
              <a:t>#CHAPT#</a:t>
            </a:r>
            <a:endParaRPr kumimoji="1" lang="ja-JP" altLang="en-US" sz="1200" kern="0">
              <a:latin typeface="BIZ UDPゴシック" panose="020B0400000000000000" pitchFamily="50" charset="-128"/>
              <a:ea typeface="BIZ UDPゴシック" panose="020B0400000000000000" pitchFamily="50" charset="-128"/>
            </a:endParaRPr>
          </a:p>
        </p:txBody>
      </p:sp>
      <p:sp>
        <p:nvSpPr>
          <p:cNvPr id="4" name="タイトル 3">
            <a:extLst>
              <a:ext uri="{FF2B5EF4-FFF2-40B4-BE49-F238E27FC236}">
                <a16:creationId xmlns:a16="http://schemas.microsoft.com/office/drawing/2014/main" id="{03BDA01B-841A-45E5-CD99-B9E8B4B85065}"/>
              </a:ext>
            </a:extLst>
          </p:cNvPr>
          <p:cNvSpPr>
            <a:spLocks noGrp="1"/>
          </p:cNvSpPr>
          <p:nvPr>
            <p:ph type="title"/>
          </p:nvPr>
        </p:nvSpPr>
        <p:spPr/>
        <p:txBody>
          <a:bodyPr/>
          <a:lstStyle/>
          <a:p>
            <a:r>
              <a:rPr lang="en-US" altLang="ja-JP"/>
              <a:t>--remove-source-trailer </a:t>
            </a:r>
            <a:endParaRPr lang="ja-JP" altLang="en-US"/>
          </a:p>
        </p:txBody>
      </p:sp>
      <p:sp>
        <p:nvSpPr>
          <p:cNvPr id="5" name="正方形/長方形 4">
            <a:extLst>
              <a:ext uri="{FF2B5EF4-FFF2-40B4-BE49-F238E27FC236}">
                <a16:creationId xmlns:a16="http://schemas.microsoft.com/office/drawing/2014/main" id="{50B56ECC-DFB6-6B24-DC6D-1817E38437D7}"/>
              </a:ext>
            </a:extLst>
          </p:cNvPr>
          <p:cNvSpPr/>
          <p:nvPr/>
        </p:nvSpPr>
        <p:spPr bwMode="auto">
          <a:xfrm>
            <a:off x="1163452" y="2127265"/>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04_EISample_source.pptx --remove-source-trailer '_source'</a:t>
            </a:r>
            <a:endParaRPr kumimoji="1" lang="ja-JP" altLang="en-US" sz="1600">
              <a:latin typeface="Source Code Pro Semibold" panose="020B0609030403020204" pitchFamily="49" charset="0"/>
              <a:ea typeface="BIZ UDPゴシック" panose="020B0400000000000000" pitchFamily="50" charset="-128"/>
            </a:endParaRPr>
          </a:p>
        </p:txBody>
      </p:sp>
      <p:sp>
        <p:nvSpPr>
          <p:cNvPr id="6" name="正方形/長方形 5">
            <a:extLst>
              <a:ext uri="{FF2B5EF4-FFF2-40B4-BE49-F238E27FC236}">
                <a16:creationId xmlns:a16="http://schemas.microsoft.com/office/drawing/2014/main" id="{35E89C79-E964-B0DC-05CA-213DFAA34FFA}"/>
              </a:ext>
            </a:extLst>
          </p:cNvPr>
          <p:cNvSpPr/>
          <p:nvPr/>
        </p:nvSpPr>
        <p:spPr bwMode="auto">
          <a:xfrm>
            <a:off x="767408" y="2613981"/>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a:t>
            </a:r>
            <a:r>
              <a:rPr kumimoji="1" lang="en-US" altLang="ja-JP" sz="1800">
                <a:latin typeface="Source Code Pro Semibold" panose="020B0609030403020204" pitchFamily="49" charset="0"/>
                <a:ea typeface="Source Code Pro Semibold" panose="020B0609030403020204" pitchFamily="49" charset="0"/>
              </a:rPr>
              <a:t>_source</a:t>
            </a:r>
            <a:r>
              <a:rPr kumimoji="1" lang="en-US" altLang="ja-JP" sz="1800">
                <a:latin typeface="BIZ UDPゴシック" panose="020B0400000000000000" pitchFamily="50" charset="-128"/>
                <a:ea typeface="BIZ UDPゴシック" panose="020B0400000000000000" pitchFamily="50" charset="-128"/>
              </a:rPr>
              <a:t> </a:t>
            </a:r>
            <a:r>
              <a:rPr kumimoji="1" lang="ja-JP" altLang="en-US" sz="1800">
                <a:latin typeface="BIZ UDPゴシック" panose="020B0400000000000000" pitchFamily="50" charset="-128"/>
                <a:ea typeface="BIZ UDPゴシック" panose="020B0400000000000000" pitchFamily="50" charset="-128"/>
              </a:rPr>
              <a:t>が削除される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ABEDFDA7-7B29-95CA-46E4-1EED8DD92227}"/>
              </a:ext>
            </a:extLst>
          </p:cNvPr>
          <p:cNvSpPr/>
          <p:nvPr/>
        </p:nvSpPr>
        <p:spPr bwMode="auto">
          <a:xfrm>
            <a:off x="1163452" y="3043686"/>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04_EISample.pptx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8" name="正方形/長方形 7">
            <a:extLst>
              <a:ext uri="{FF2B5EF4-FFF2-40B4-BE49-F238E27FC236}">
                <a16:creationId xmlns:a16="http://schemas.microsoft.com/office/drawing/2014/main" id="{7F5CF2C6-4EF8-DE5C-6B1C-467ECA11BDB3}"/>
              </a:ext>
            </a:extLst>
          </p:cNvPr>
          <p:cNvSpPr/>
          <p:nvPr/>
        </p:nvSpPr>
        <p:spPr bwMode="auto">
          <a:xfrm>
            <a:off x="767408" y="1247661"/>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800">
                <a:latin typeface="BIZ UDPゴシック" panose="020B0400000000000000" pitchFamily="50" charset="-128"/>
                <a:ea typeface="BIZ UDPゴシック" panose="020B0400000000000000" pitchFamily="50" charset="-128"/>
              </a:rPr>
              <a:t>--remove-source-trailer </a:t>
            </a:r>
            <a:r>
              <a:rPr kumimoji="1" lang="ja-JP" altLang="en-US" sz="1800">
                <a:latin typeface="BIZ UDPゴシック" panose="020B0400000000000000" pitchFamily="50" charset="-128"/>
                <a:ea typeface="BIZ UDPゴシック" panose="020B0400000000000000" pitchFamily="50" charset="-128"/>
              </a:rPr>
              <a:t>を指定すると </a:t>
            </a:r>
            <a:r>
              <a:rPr kumimoji="1" lang="en-US" altLang="ja-JP" sz="1800">
                <a:latin typeface="BIZ UDPゴシック" panose="020B0400000000000000" pitchFamily="50" charset="-128"/>
                <a:ea typeface="BIZ UDPゴシック" panose="020B0400000000000000" pitchFamily="50" charset="-128"/>
              </a:rPr>
              <a:t>source </a:t>
            </a:r>
            <a:r>
              <a:rPr kumimoji="1" lang="ja-JP" altLang="en-US" sz="1800">
                <a:latin typeface="BIZ UDPゴシック" panose="020B0400000000000000" pitchFamily="50" charset="-128"/>
                <a:ea typeface="BIZ UDPゴシック" panose="020B0400000000000000" pitchFamily="50" charset="-128"/>
              </a:rPr>
              <a:t>ファイルの末尾から指定した文字列を削除した名前で </a:t>
            </a:r>
            <a:r>
              <a:rPr kumimoji="1" lang="en-US" altLang="ja-JP" sz="1800">
                <a:latin typeface="BIZ UDPゴシック" panose="020B0400000000000000" pitchFamily="50" charset="-128"/>
                <a:ea typeface="BIZ UDPゴシック" panose="020B0400000000000000" pitchFamily="50" charset="-128"/>
              </a:rPr>
              <a:t>target </a:t>
            </a:r>
            <a:r>
              <a:rPr kumimoji="1" lang="ja-JP" altLang="en-US" sz="1800">
                <a:latin typeface="BIZ UDPゴシック" panose="020B0400000000000000" pitchFamily="50" charset="-128"/>
                <a:ea typeface="BIZ UDPゴシック" panose="020B0400000000000000" pitchFamily="50" charset="-128"/>
              </a:rPr>
              <a:t>を生成します</a:t>
            </a:r>
          </a:p>
        </p:txBody>
      </p:sp>
      <p:sp>
        <p:nvSpPr>
          <p:cNvPr id="3" name="テキスト ボックス 2">
            <a:extLst>
              <a:ext uri="{FF2B5EF4-FFF2-40B4-BE49-F238E27FC236}">
                <a16:creationId xmlns:a16="http://schemas.microsoft.com/office/drawing/2014/main" id="{0DEC4EEC-37F4-8536-C26B-5CED4A2042BA}"/>
              </a:ext>
            </a:extLst>
          </p:cNvPr>
          <p:cNvSpPr txBox="1"/>
          <p:nvPr/>
        </p:nvSpPr>
        <p:spPr bwMode="auto">
          <a:xfrm>
            <a:off x="2567608" y="3955534"/>
            <a:ext cx="4232026" cy="36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sz="1800" kern="0">
                <a:latin typeface="Source Code Pro Semibold" panose="020B0609030403020204" pitchFamily="49" charset="0"/>
                <a:ea typeface="Source Code Pro Semibold" panose="020B0609030403020204" pitchFamily="49" charset="0"/>
              </a:rPr>
              <a:t>ORIGINAL_source.pptx</a:t>
            </a:r>
            <a:endParaRPr kumimoji="1" lang="en-US" altLang="ja-JP" sz="1800" kern="0">
              <a:latin typeface="Source Code Pro Semibold" panose="020B0609030403020204" pitchFamily="49" charset="0"/>
              <a:ea typeface="Source Code Pro Semibold" panose="020B0609030403020204" pitchFamily="49" charset="0"/>
            </a:endParaRPr>
          </a:p>
        </p:txBody>
      </p:sp>
      <p:pic>
        <p:nvPicPr>
          <p:cNvPr id="9" name="図 8">
            <a:extLst>
              <a:ext uri="{FF2B5EF4-FFF2-40B4-BE49-F238E27FC236}">
                <a16:creationId xmlns:a16="http://schemas.microsoft.com/office/drawing/2014/main" id="{7DC50441-A35B-936C-17EF-CA31D5210BED}"/>
              </a:ext>
            </a:extLst>
          </p:cNvPr>
          <p:cNvPicPr>
            <a:picLocks noChangeAspect="1"/>
          </p:cNvPicPr>
          <p:nvPr/>
        </p:nvPicPr>
        <p:blipFill>
          <a:blip r:embed="rId2"/>
          <a:stretch>
            <a:fillRect/>
          </a:stretch>
        </p:blipFill>
        <p:spPr>
          <a:xfrm>
            <a:off x="1902097" y="3749368"/>
            <a:ext cx="608368" cy="665626"/>
          </a:xfrm>
          <a:prstGeom prst="rect">
            <a:avLst/>
          </a:prstGeom>
        </p:spPr>
      </p:pic>
      <p:sp>
        <p:nvSpPr>
          <p:cNvPr id="10" name="テキスト ボックス 9">
            <a:extLst>
              <a:ext uri="{FF2B5EF4-FFF2-40B4-BE49-F238E27FC236}">
                <a16:creationId xmlns:a16="http://schemas.microsoft.com/office/drawing/2014/main" id="{66A6A524-F405-3FD7-9A3A-3406DDE919D5}"/>
              </a:ext>
            </a:extLst>
          </p:cNvPr>
          <p:cNvSpPr txBox="1"/>
          <p:nvPr/>
        </p:nvSpPr>
        <p:spPr bwMode="auto">
          <a:xfrm>
            <a:off x="2567608" y="5214509"/>
            <a:ext cx="4232026" cy="36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defPPr>
              <a:defRPr lang="en-US"/>
            </a:defPPr>
            <a:lvl1pPr eaLnBrk="1">
              <a:defRPr sz="1800" kern="0">
                <a:latin typeface="Source Code Pro Semibold" panose="020B0609030403020204" pitchFamily="49" charset="0"/>
                <a:ea typeface="Source Code Pro Semibold" panose="020B0609030403020204" pitchFamily="49" charset="0"/>
              </a:defRPr>
            </a:lvl1pPr>
          </a:lstStyle>
          <a:p>
            <a:r>
              <a:rPr lang="en-US" altLang="ja-JP"/>
              <a:t>ORIGINAL.pptx</a:t>
            </a:r>
          </a:p>
        </p:txBody>
      </p:sp>
      <p:pic>
        <p:nvPicPr>
          <p:cNvPr id="11" name="図 10">
            <a:extLst>
              <a:ext uri="{FF2B5EF4-FFF2-40B4-BE49-F238E27FC236}">
                <a16:creationId xmlns:a16="http://schemas.microsoft.com/office/drawing/2014/main" id="{8274C7A0-C059-816A-DF62-4B362DF02804}"/>
              </a:ext>
            </a:extLst>
          </p:cNvPr>
          <p:cNvPicPr>
            <a:picLocks noChangeAspect="1"/>
          </p:cNvPicPr>
          <p:nvPr/>
        </p:nvPicPr>
        <p:blipFill>
          <a:blip r:embed="rId2"/>
          <a:stretch>
            <a:fillRect/>
          </a:stretch>
        </p:blipFill>
        <p:spPr>
          <a:xfrm>
            <a:off x="1902097" y="5008343"/>
            <a:ext cx="608368" cy="665626"/>
          </a:xfrm>
          <a:prstGeom prst="rect">
            <a:avLst/>
          </a:prstGeom>
        </p:spPr>
      </p:pic>
      <p:cxnSp>
        <p:nvCxnSpPr>
          <p:cNvPr id="12" name="直線矢印コネクタ 11">
            <a:extLst>
              <a:ext uri="{FF2B5EF4-FFF2-40B4-BE49-F238E27FC236}">
                <a16:creationId xmlns:a16="http://schemas.microsoft.com/office/drawing/2014/main" id="{DE68C9EB-4EBC-CD55-B2D1-7130A75F29DA}"/>
              </a:ext>
            </a:extLst>
          </p:cNvPr>
          <p:cNvCxnSpPr/>
          <p:nvPr/>
        </p:nvCxnSpPr>
        <p:spPr bwMode="auto">
          <a:xfrm>
            <a:off x="3559274" y="4467959"/>
            <a:ext cx="0" cy="591733"/>
          </a:xfrm>
          <a:prstGeom prst="straightConnector1">
            <a:avLst/>
          </a:prstGeom>
          <a:solidFill>
            <a:srgbClr val="CCFFFF"/>
          </a:solidFill>
          <a:ln w="57150" cap="flat" cmpd="sng" algn="ctr">
            <a:solidFill>
              <a:srgbClr val="FF0000"/>
            </a:solidFill>
            <a:prstDash val="solid"/>
            <a:round/>
            <a:headEnd type="none" w="med" len="med"/>
            <a:tailEnd type="triangle"/>
          </a:ln>
          <a:effectLst/>
        </p:spPr>
      </p:cxnSp>
      <p:sp>
        <p:nvSpPr>
          <p:cNvPr id="13" name="正方形/長方形 12">
            <a:extLst>
              <a:ext uri="{FF2B5EF4-FFF2-40B4-BE49-F238E27FC236}">
                <a16:creationId xmlns:a16="http://schemas.microsoft.com/office/drawing/2014/main" id="{B9D5F55A-F5BB-B2C9-F1A5-C69CC4DF0AFA}"/>
              </a:ext>
            </a:extLst>
          </p:cNvPr>
          <p:cNvSpPr/>
          <p:nvPr/>
        </p:nvSpPr>
        <p:spPr bwMode="auto">
          <a:xfrm>
            <a:off x="3703290" y="4554724"/>
            <a:ext cx="331236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800">
                <a:latin typeface="Source Code Pro Semibold" panose="020B0609030403020204" pitchFamily="49" charset="0"/>
                <a:ea typeface="Source Code Pro Semibold" panose="020B0609030403020204" pitchFamily="49" charset="0"/>
              </a:rPr>
              <a:t>_source</a:t>
            </a:r>
            <a:r>
              <a:rPr kumimoji="1" lang="en-US" altLang="ja-JP" sz="1800">
                <a:latin typeface="BIZ UDPゴシック" panose="020B0400000000000000" pitchFamily="50" charset="-128"/>
                <a:ea typeface="BIZ UDPゴシック" panose="020B0400000000000000" pitchFamily="50" charset="-128"/>
              </a:rPr>
              <a:t> </a:t>
            </a:r>
            <a:r>
              <a:rPr kumimoji="1" lang="ja-JP" altLang="en-US" sz="1800">
                <a:latin typeface="BIZ UDPゴシック" panose="020B0400000000000000" pitchFamily="50" charset="-128"/>
                <a:ea typeface="BIZ UDPゴシック" panose="020B0400000000000000" pitchFamily="50" charset="-128"/>
              </a:rPr>
              <a:t>を除去する</a:t>
            </a:r>
          </a:p>
        </p:txBody>
      </p:sp>
      <p:sp>
        <p:nvSpPr>
          <p:cNvPr id="14" name="正方形/長方形 13">
            <a:extLst>
              <a:ext uri="{FF2B5EF4-FFF2-40B4-BE49-F238E27FC236}">
                <a16:creationId xmlns:a16="http://schemas.microsoft.com/office/drawing/2014/main" id="{9FA6D00C-1F9C-2C6B-30B3-21DF56E8882B}"/>
              </a:ext>
            </a:extLst>
          </p:cNvPr>
          <p:cNvSpPr/>
          <p:nvPr/>
        </p:nvSpPr>
        <p:spPr bwMode="auto">
          <a:xfrm>
            <a:off x="767408" y="5825426"/>
            <a:ext cx="10309912"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通常は変換後のファイルを後工程に渡すはずで、その場合 </a:t>
            </a:r>
            <a:r>
              <a:rPr kumimoji="1" lang="en-US" altLang="ja-JP" sz="1800">
                <a:latin typeface="Source Code Pro Semibold" panose="020B0609030403020204" pitchFamily="49" charset="0"/>
                <a:ea typeface="Source Code Pro Semibold" panose="020B0609030403020204" pitchFamily="49" charset="0"/>
              </a:rPr>
              <a:t>_source </a:t>
            </a:r>
            <a:r>
              <a:rPr kumimoji="1" lang="ja-JP" altLang="en-US" sz="1800">
                <a:latin typeface="BIZ UDPゴシック" panose="020B0400000000000000" pitchFamily="50" charset="-128"/>
                <a:ea typeface="BIZ UDPゴシック" panose="020B0400000000000000" pitchFamily="50" charset="-128"/>
              </a:rPr>
              <a:t>や </a:t>
            </a:r>
            <a:r>
              <a:rPr kumimoji="1" lang="en-US" altLang="ja-JP" sz="1800">
                <a:latin typeface="Source Code Pro Semibold" panose="020B0609030403020204" pitchFamily="49" charset="0"/>
                <a:ea typeface="Source Code Pro Semibold" panose="020B0609030403020204" pitchFamily="49" charset="0"/>
              </a:rPr>
              <a:t>_generated </a:t>
            </a:r>
            <a:r>
              <a:rPr kumimoji="1" lang="ja-JP" altLang="en-US" sz="1800">
                <a:latin typeface="BIZ UDPゴシック" panose="020B0400000000000000" pitchFamily="50" charset="-128"/>
                <a:ea typeface="BIZ UDPゴシック" panose="020B0400000000000000" pitchFamily="50" charset="-128"/>
              </a:rPr>
              <a:t>のような余計な文字列を含まないファイル名のほうが好ましいはずです。それにはこの機能を使用しましょう。</a:t>
            </a:r>
          </a:p>
        </p:txBody>
      </p:sp>
    </p:spTree>
    <p:extLst>
      <p:ext uri="{BB962C8B-B14F-4D97-AF65-F5344CB8AC3E}">
        <p14:creationId xmlns:p14="http://schemas.microsoft.com/office/powerpoint/2010/main" val="3691992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9402D-385B-DD9A-3EDC-531E78909FCE}"/>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52062AC-E3EC-C229-3949-1459947AFF47}"/>
              </a:ext>
            </a:extLst>
          </p:cNvPr>
          <p:cNvSpPr txBox="1"/>
          <p:nvPr/>
        </p:nvSpPr>
        <p:spPr bwMode="auto">
          <a:xfrm>
            <a:off x="8904312" y="6567223"/>
            <a:ext cx="1872208" cy="27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200" kern="0">
                <a:latin typeface="BIZ UDPゴシック" panose="020B0400000000000000" pitchFamily="50" charset="-128"/>
                <a:ea typeface="BIZ UDPゴシック" panose="020B0400000000000000" pitchFamily="50" charset="-128"/>
              </a:rPr>
              <a:t>#CHAPT#</a:t>
            </a:r>
            <a:endParaRPr kumimoji="1" lang="ja-JP" altLang="en-US" sz="1200" kern="0">
              <a:latin typeface="BIZ UDPゴシック" panose="020B0400000000000000" pitchFamily="50" charset="-128"/>
              <a:ea typeface="BIZ UDPゴシック" panose="020B0400000000000000" pitchFamily="50" charset="-128"/>
            </a:endParaRPr>
          </a:p>
        </p:txBody>
      </p:sp>
      <p:sp>
        <p:nvSpPr>
          <p:cNvPr id="4" name="タイトル 3">
            <a:extLst>
              <a:ext uri="{FF2B5EF4-FFF2-40B4-BE49-F238E27FC236}">
                <a16:creationId xmlns:a16="http://schemas.microsoft.com/office/drawing/2014/main" id="{7A96D02A-E45C-9571-537A-E2400BD05B36}"/>
              </a:ext>
            </a:extLst>
          </p:cNvPr>
          <p:cNvSpPr>
            <a:spLocks noGrp="1"/>
          </p:cNvSpPr>
          <p:nvPr>
            <p:ph type="title"/>
          </p:nvPr>
        </p:nvSpPr>
        <p:spPr/>
        <p:txBody>
          <a:bodyPr/>
          <a:lstStyle/>
          <a:p>
            <a:r>
              <a:rPr lang="en-US" altLang="ja-JP"/>
              <a:t>--target-trailer </a:t>
            </a:r>
            <a:endParaRPr lang="ja-JP" altLang="en-US"/>
          </a:p>
        </p:txBody>
      </p:sp>
      <p:sp>
        <p:nvSpPr>
          <p:cNvPr id="5" name="正方形/長方形 4">
            <a:extLst>
              <a:ext uri="{FF2B5EF4-FFF2-40B4-BE49-F238E27FC236}">
                <a16:creationId xmlns:a16="http://schemas.microsoft.com/office/drawing/2014/main" id="{AB77B6A5-C59B-1153-C714-6A7E7005F571}"/>
              </a:ext>
            </a:extLst>
          </p:cNvPr>
          <p:cNvSpPr/>
          <p:nvPr/>
        </p:nvSpPr>
        <p:spPr bwMode="auto">
          <a:xfrm>
            <a:off x="1163452" y="173332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04_EISample_source.pptx --target-trailer '_gen'</a:t>
            </a:r>
            <a:endParaRPr kumimoji="1" lang="ja-JP" altLang="en-US" sz="1600">
              <a:latin typeface="Source Code Pro Semibold" panose="020B0609030403020204" pitchFamily="49" charset="0"/>
              <a:ea typeface="BIZ UDPゴシック" panose="020B0400000000000000" pitchFamily="50" charset="-128"/>
            </a:endParaRPr>
          </a:p>
        </p:txBody>
      </p:sp>
      <p:sp>
        <p:nvSpPr>
          <p:cNvPr id="6" name="正方形/長方形 5">
            <a:extLst>
              <a:ext uri="{FF2B5EF4-FFF2-40B4-BE49-F238E27FC236}">
                <a16:creationId xmlns:a16="http://schemas.microsoft.com/office/drawing/2014/main" id="{AEBFB1FB-3F54-8D85-7470-010EFC26C494}"/>
              </a:ext>
            </a:extLst>
          </p:cNvPr>
          <p:cNvSpPr/>
          <p:nvPr/>
        </p:nvSpPr>
        <p:spPr bwMode="auto">
          <a:xfrm>
            <a:off x="767408" y="2220038"/>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a:t>
            </a:r>
            <a:r>
              <a:rPr kumimoji="1" lang="en-US" altLang="ja-JP" sz="1800">
                <a:latin typeface="Source Code Pro Semibold" panose="020B0609030403020204" pitchFamily="49" charset="0"/>
                <a:ea typeface="Source Code Pro Semibold" panose="020B0609030403020204" pitchFamily="49" charset="0"/>
              </a:rPr>
              <a:t>_gen</a:t>
            </a:r>
            <a:r>
              <a:rPr kumimoji="1" lang="en-US" altLang="ja-JP" sz="1800">
                <a:latin typeface="BIZ UDPゴシック" panose="020B0400000000000000" pitchFamily="50" charset="-128"/>
                <a:ea typeface="BIZ UDPゴシック" panose="020B0400000000000000" pitchFamily="50" charset="-128"/>
              </a:rPr>
              <a:t> </a:t>
            </a:r>
            <a:r>
              <a:rPr kumimoji="1" lang="ja-JP" altLang="en-US" sz="1800">
                <a:latin typeface="BIZ UDPゴシック" panose="020B0400000000000000" pitchFamily="50" charset="-128"/>
                <a:ea typeface="BIZ UDPゴシック" panose="020B0400000000000000" pitchFamily="50" charset="-128"/>
              </a:rPr>
              <a:t>が付加される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A82FCA65-01FD-A35A-C7E7-5E50963A6804}"/>
              </a:ext>
            </a:extLst>
          </p:cNvPr>
          <p:cNvSpPr/>
          <p:nvPr/>
        </p:nvSpPr>
        <p:spPr bwMode="auto">
          <a:xfrm>
            <a:off x="1163452" y="2649743"/>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04_EISample_source_gen.pptx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8" name="正方形/長方形 7">
            <a:extLst>
              <a:ext uri="{FF2B5EF4-FFF2-40B4-BE49-F238E27FC236}">
                <a16:creationId xmlns:a16="http://schemas.microsoft.com/office/drawing/2014/main" id="{5D124665-0824-1122-B985-5224A137F9F5}"/>
              </a:ext>
            </a:extLst>
          </p:cNvPr>
          <p:cNvSpPr/>
          <p:nvPr/>
        </p:nvSpPr>
        <p:spPr bwMode="auto">
          <a:xfrm>
            <a:off x="767408" y="1247661"/>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800">
                <a:latin typeface="BIZ UDPゴシック" panose="020B0400000000000000" pitchFamily="50" charset="-128"/>
                <a:ea typeface="BIZ UDPゴシック" panose="020B0400000000000000" pitchFamily="50" charset="-128"/>
              </a:rPr>
              <a:t>--target-trailer </a:t>
            </a:r>
            <a:r>
              <a:rPr kumimoji="1" lang="ja-JP" altLang="en-US" sz="1800">
                <a:latin typeface="BIZ UDPゴシック" panose="020B0400000000000000" pitchFamily="50" charset="-128"/>
                <a:ea typeface="BIZ UDPゴシック" panose="020B0400000000000000" pitchFamily="50" charset="-128"/>
              </a:rPr>
              <a:t>を指定すると </a:t>
            </a:r>
            <a:r>
              <a:rPr kumimoji="1" lang="en-US" altLang="ja-JP" sz="1800">
                <a:latin typeface="BIZ UDPゴシック" panose="020B0400000000000000" pitchFamily="50" charset="-128"/>
                <a:ea typeface="BIZ UDPゴシック" panose="020B0400000000000000" pitchFamily="50" charset="-128"/>
              </a:rPr>
              <a:t>target </a:t>
            </a:r>
            <a:r>
              <a:rPr kumimoji="1" lang="ja-JP" altLang="en-US" sz="1800">
                <a:latin typeface="BIZ UDPゴシック" panose="020B0400000000000000" pitchFamily="50" charset="-128"/>
                <a:ea typeface="BIZ UDPゴシック" panose="020B0400000000000000" pitchFamily="50" charset="-128"/>
              </a:rPr>
              <a:t>に付加する文字列を指定できます</a:t>
            </a:r>
          </a:p>
        </p:txBody>
      </p:sp>
      <p:sp>
        <p:nvSpPr>
          <p:cNvPr id="3" name="正方形/長方形 2">
            <a:extLst>
              <a:ext uri="{FF2B5EF4-FFF2-40B4-BE49-F238E27FC236}">
                <a16:creationId xmlns:a16="http://schemas.microsoft.com/office/drawing/2014/main" id="{FCF41ED4-124B-ECAD-EB8F-476BBBB1DE22}"/>
              </a:ext>
            </a:extLst>
          </p:cNvPr>
          <p:cNvSpPr/>
          <p:nvPr/>
        </p:nvSpPr>
        <p:spPr bwMode="auto">
          <a:xfrm>
            <a:off x="1163452" y="4149079"/>
            <a:ext cx="10261140" cy="648245"/>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04_EISample_source.pptx --remove-source-trailer '_source'</a:t>
            </a:r>
          </a:p>
          <a:p>
            <a:pPr defTabSz="914477" eaLnBrk="1" hangingPunct="1"/>
            <a:r>
              <a:rPr kumimoji="1" lang="en-US" altLang="ja-JP" sz="1600">
                <a:latin typeface="Source Code Pro Semibold" panose="020B0609030403020204" pitchFamily="49" charset="0"/>
                <a:ea typeface="Source Code Pro Semibold" panose="020B0609030403020204" pitchFamily="49" charset="0"/>
              </a:rPr>
              <a:t> --target-trailer '_gen'</a:t>
            </a:r>
            <a:endParaRPr kumimoji="1" lang="ja-JP" altLang="en-US" sz="1600">
              <a:latin typeface="Source Code Pro Semibold" panose="020B0609030403020204" pitchFamily="49" charset="0"/>
              <a:ea typeface="BIZ UDPゴシック" panose="020B0400000000000000" pitchFamily="50" charset="-128"/>
            </a:endParaRPr>
          </a:p>
        </p:txBody>
      </p:sp>
      <p:sp>
        <p:nvSpPr>
          <p:cNvPr id="9" name="正方形/長方形 8">
            <a:extLst>
              <a:ext uri="{FF2B5EF4-FFF2-40B4-BE49-F238E27FC236}">
                <a16:creationId xmlns:a16="http://schemas.microsoft.com/office/drawing/2014/main" id="{868A5A39-5A86-996E-4A1C-7F4E3CD8B951}"/>
              </a:ext>
            </a:extLst>
          </p:cNvPr>
          <p:cNvSpPr/>
          <p:nvPr/>
        </p:nvSpPr>
        <p:spPr bwMode="auto">
          <a:xfrm>
            <a:off x="767408" y="5043468"/>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a:t>
            </a:r>
            <a:r>
              <a:rPr kumimoji="1" lang="en-US" altLang="ja-JP" sz="1800">
                <a:latin typeface="Source Code Pro Semibold" panose="020B0609030403020204" pitchFamily="49" charset="0"/>
                <a:ea typeface="Source Code Pro Semibold" panose="020B0609030403020204" pitchFamily="49" charset="0"/>
              </a:rPr>
              <a:t>_source </a:t>
            </a:r>
            <a:r>
              <a:rPr kumimoji="1" lang="ja-JP" altLang="en-US" sz="1800">
                <a:latin typeface="BIZ UDPゴシック" panose="020B0400000000000000" pitchFamily="50" charset="-128"/>
                <a:ea typeface="BIZ UDPゴシック" panose="020B0400000000000000" pitchFamily="50" charset="-128"/>
              </a:rPr>
              <a:t>を削除して </a:t>
            </a:r>
            <a:r>
              <a:rPr kumimoji="1" lang="en-US" altLang="ja-JP" sz="1800">
                <a:latin typeface="Source Code Pro Semibold" panose="020B0609030403020204" pitchFamily="49" charset="0"/>
                <a:ea typeface="Source Code Pro Semibold" panose="020B0609030403020204" pitchFamily="49" charset="0"/>
              </a:rPr>
              <a:t>_gen</a:t>
            </a:r>
            <a:r>
              <a:rPr kumimoji="1" lang="en-US" altLang="ja-JP" sz="1800">
                <a:latin typeface="BIZ UDPゴシック" panose="020B0400000000000000" pitchFamily="50" charset="-128"/>
                <a:ea typeface="BIZ UDPゴシック" panose="020B0400000000000000" pitchFamily="50" charset="-128"/>
              </a:rPr>
              <a:t> </a:t>
            </a:r>
            <a:r>
              <a:rPr kumimoji="1" lang="ja-JP" altLang="en-US" sz="1800">
                <a:latin typeface="BIZ UDPゴシック" panose="020B0400000000000000" pitchFamily="50" charset="-128"/>
                <a:ea typeface="BIZ UDPゴシック" panose="020B0400000000000000" pitchFamily="50" charset="-128"/>
              </a:rPr>
              <a:t>を付加</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76F39901-7445-BF6E-A611-9A92B1EB4989}"/>
              </a:ext>
            </a:extLst>
          </p:cNvPr>
          <p:cNvSpPr/>
          <p:nvPr/>
        </p:nvSpPr>
        <p:spPr bwMode="auto">
          <a:xfrm>
            <a:off x="1163452" y="5473173"/>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04_EISample_gen.pptx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11" name="正方形/長方形 10">
            <a:extLst>
              <a:ext uri="{FF2B5EF4-FFF2-40B4-BE49-F238E27FC236}">
                <a16:creationId xmlns:a16="http://schemas.microsoft.com/office/drawing/2014/main" id="{A099FF2D-0C5C-A693-39FE-8AFD1D57EB82}"/>
              </a:ext>
            </a:extLst>
          </p:cNvPr>
          <p:cNvSpPr/>
          <p:nvPr/>
        </p:nvSpPr>
        <p:spPr bwMode="auto">
          <a:xfrm>
            <a:off x="767408" y="3663419"/>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800">
                <a:latin typeface="BIZ UDPゴシック" panose="020B0400000000000000" pitchFamily="50" charset="-128"/>
                <a:ea typeface="BIZ UDPゴシック" panose="020B0400000000000000" pitchFamily="50" charset="-128"/>
              </a:rPr>
              <a:t>--remove-source-trailer </a:t>
            </a:r>
            <a:r>
              <a:rPr kumimoji="1" lang="ja-JP" altLang="en-US" sz="1800">
                <a:latin typeface="BIZ UDPゴシック" panose="020B0400000000000000" pitchFamily="50" charset="-128"/>
                <a:ea typeface="BIZ UDPゴシック" panose="020B0400000000000000" pitchFamily="50" charset="-128"/>
              </a:rPr>
              <a:t>と </a:t>
            </a:r>
            <a:r>
              <a:rPr kumimoji="1" lang="en-US" altLang="ja-JP" sz="1800">
                <a:latin typeface="BIZ UDPゴシック" panose="020B0400000000000000" pitchFamily="50" charset="-128"/>
                <a:ea typeface="BIZ UDPゴシック" panose="020B0400000000000000" pitchFamily="50" charset="-128"/>
              </a:rPr>
              <a:t>--target-trailer </a:t>
            </a:r>
            <a:r>
              <a:rPr kumimoji="1" lang="ja-JP" altLang="en-US" sz="1800">
                <a:latin typeface="BIZ UDPゴシック" panose="020B0400000000000000" pitchFamily="50" charset="-128"/>
                <a:ea typeface="BIZ UDPゴシック" panose="020B0400000000000000" pitchFamily="50" charset="-128"/>
              </a:rPr>
              <a:t>は併用できます</a:t>
            </a:r>
          </a:p>
        </p:txBody>
      </p:sp>
    </p:spTree>
    <p:extLst>
      <p:ext uri="{BB962C8B-B14F-4D97-AF65-F5344CB8AC3E}">
        <p14:creationId xmlns:p14="http://schemas.microsoft.com/office/powerpoint/2010/main" val="1730897725"/>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21010</TotalTime>
  <Words>298</Words>
  <Application>Microsoft Office PowerPoint</Application>
  <PresentationFormat>ワイド画面</PresentationFormat>
  <Paragraphs>34</Paragraphs>
  <Slides>4</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vt:i4>
      </vt:variant>
    </vt:vector>
  </HeadingPairs>
  <TitlesOfParts>
    <vt:vector size="11" baseType="lpstr">
      <vt:lpstr>BIZ UDPゴシック</vt:lpstr>
      <vt:lpstr>FOT-UD丸ゴ_ラージ Pr6 M</vt:lpstr>
      <vt:lpstr>Arial</vt:lpstr>
      <vt:lpstr>Garamond</vt:lpstr>
      <vt:lpstr>Source Code Pro Semibold</vt:lpstr>
      <vt:lpstr>Wingdings</vt:lpstr>
      <vt:lpstr>Edge</vt:lpstr>
      <vt:lpstr>04_EISample</vt:lpstr>
      <vt:lpstr>デフォルト動作</vt:lpstr>
      <vt:lpstr>--remove-source-trailer </vt:lpstr>
      <vt:lpstr>--target-trailer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1976</cp:revision>
  <cp:lastPrinted>2024-11-10T09:08:11Z</cp:lastPrinted>
  <dcterms:modified xsi:type="dcterms:W3CDTF">2025-03-08T13:50:45Z</dcterms:modified>
</cp:coreProperties>
</file>