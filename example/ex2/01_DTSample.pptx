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7"/>
  </p:notesMasterIdLst>
  <p:sldIdLst>
    <p:sldId id="1682" r:id="rId2"/>
    <p:sldId id="1688" r:id="rId3"/>
    <p:sldId id="1701" r:id="rId4"/>
    <p:sldId id="1690" r:id="rId5"/>
    <p:sldId id="1691" r:id="rId6"/>
  </p:sldIdLst>
  <p:sldSz cx="12192000" cy="6858000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7A7A"/>
    <a:srgbClr val="545858"/>
    <a:srgbClr val="00B0F0"/>
    <a:srgbClr val="81D994"/>
    <a:srgbClr val="58CC72"/>
    <a:srgbClr val="00FFFF"/>
    <a:srgbClr val="FF00FF"/>
    <a:srgbClr val="F7F61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7" autoAdjust="0"/>
    <p:restoredTop sz="86408" autoAdjust="0"/>
  </p:normalViewPr>
  <p:slideViewPr>
    <p:cSldViewPr>
      <p:cViewPr varScale="1">
        <p:scale>
          <a:sx n="105" d="100"/>
          <a:sy n="105" d="100"/>
        </p:scale>
        <p:origin x="132" y="4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4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294670BC-B8C6-44A7-84E1-23632D8FD86F}" type="datetimeFigureOut">
              <a:rPr lang="ja-JP" altLang="en-US" smtClean="0"/>
              <a:pPr/>
              <a:t>2025/3/8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IZ UDPゴシック" panose="020B0400000000000000" pitchFamily="50" charset="-128"/>
              </a:defRPr>
            </a:lvl1pPr>
          </a:lstStyle>
          <a:p>
            <a:fld id="{BA10FDB7-3E02-4363-90B3-590B3C26A88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ＭＳ Ｐゴシック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0C62EA-46CE-6E45-F9C1-8E001A79E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32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14102FAC-1D8D-98FF-0E86-05B23E382A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368A006B-8EC8-B39A-B6FA-0EE75EB75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031350-F277-E392-9EEE-34255C7F5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4" name="フッター プレースホルダー 2">
            <a:extLst>
              <a:ext uri="{FF2B5EF4-FFF2-40B4-BE49-F238E27FC236}">
                <a16:creationId xmlns:a16="http://schemas.microsoft.com/office/drawing/2014/main" id="{00549907-4137-254B-ABA0-204DDF7922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26FBE41-6A51-4D78-3BE1-6E095FFE1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1344" y="6478165"/>
            <a:ext cx="55446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CF806-E48A-4798-56B5-568A0B4BD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436" y="1844824"/>
            <a:ext cx="10164233" cy="1033760"/>
          </a:xfrm>
        </p:spPr>
        <p:txBody>
          <a:bodyPr/>
          <a:lstStyle/>
          <a:p>
            <a:r>
              <a:rPr kumimoji="1" lang="en-US" altLang="ja-JP"/>
              <a:t>01_DTSample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FF3C5E-3719-BB59-BBA5-EA1E27B09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7834" y="3962400"/>
            <a:ext cx="7971367" cy="1194792"/>
          </a:xfrm>
        </p:spPr>
        <p:txBody>
          <a:bodyPr/>
          <a:lstStyle/>
          <a:p>
            <a:pPr algn="r"/>
            <a:r>
              <a:rPr kumimoji="1" lang="ja-JP" altLang="en-US"/>
              <a:t>アイデアクラフト　代表　開米瑞浩</a:t>
            </a:r>
          </a:p>
          <a:p>
            <a:pPr algn="r"/>
            <a:r>
              <a:rPr lang="ja-JP" altLang="en-US" sz="2000"/>
              <a:t>　　</a:t>
            </a:r>
            <a:r>
              <a:rPr lang="en-US" altLang="ja-JP" sz="2000"/>
              <a:t> 2025/3/7</a:t>
            </a:r>
            <a:r>
              <a:rPr lang="ja-JP" altLang="en-US" sz="2000"/>
              <a:t> 作成</a:t>
            </a:r>
            <a:endParaRPr lang="en-US" altLang="ja-JP" sz="20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6F904B1-5760-3889-DA9A-8E1020BC15D9}"/>
              </a:ext>
            </a:extLst>
          </p:cNvPr>
          <p:cNvSpPr txBox="1"/>
          <p:nvPr/>
        </p:nvSpPr>
        <p:spPr bwMode="auto">
          <a:xfrm>
            <a:off x="1559496" y="2708920"/>
            <a:ext cx="8712968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本書は、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pptx-indexer.py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R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系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タグによる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PowerPoint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ファイルのタイトル引用機能の説明書です</a:t>
            </a:r>
          </a:p>
        </p:txBody>
      </p:sp>
    </p:spTree>
    <p:extLst>
      <p:ext uri="{BB962C8B-B14F-4D97-AF65-F5344CB8AC3E}">
        <p14:creationId xmlns:p14="http://schemas.microsoft.com/office/powerpoint/2010/main" val="3777677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章・節番号を自動変換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6AC1A58-2721-1446-A26C-C06388242243}"/>
              </a:ext>
            </a:extLst>
          </p:cNvPr>
          <p:cNvSpPr txBox="1"/>
          <p:nvPr/>
        </p:nvSpPr>
        <p:spPr bwMode="auto">
          <a:xfrm>
            <a:off x="898656" y="1256038"/>
            <a:ext cx="8751751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#DT# </a:t>
            </a:r>
            <a:r>
              <a:rPr kumimoji="1" lang="ja-JP" altLang="en-US" kern="0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タグで章・節コードを定義しておくと、章・節番号として変換されます</a:t>
            </a:r>
            <a:endParaRPr kumimoji="1" lang="en-US" altLang="ja-JP" kern="0">
              <a:latin typeface="Source Code Pro Semibold" panose="020B0609030403020204" pitchFamily="49" charset="0"/>
              <a:ea typeface="Source Code Pro Semibold" panose="020B0609030403020204" pitchFamily="49" charset="0"/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1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7ABC55-2FBE-50F0-8BD5-925235B5229F}"/>
              </a:ext>
            </a:extLst>
          </p:cNvPr>
          <p:cNvSpPr txBox="1"/>
          <p:nvPr/>
        </p:nvSpPr>
        <p:spPr bwMode="auto">
          <a:xfrm>
            <a:off x="731404" y="2569361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#DT#P.A#)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13595D6-8763-DFC5-9CD7-0422E95147A5}"/>
              </a:ext>
            </a:extLst>
          </p:cNvPr>
          <p:cNvSpPr txBox="1"/>
          <p:nvPr/>
        </p:nvSpPr>
        <p:spPr bwMode="auto">
          <a:xfrm>
            <a:off x="731404" y="2965513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#DT#P.B#)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DEBC2FB-2D1F-0AAF-41D1-545BBA80392C}"/>
              </a:ext>
            </a:extLst>
          </p:cNvPr>
          <p:cNvSpPr txBox="1"/>
          <p:nvPr/>
        </p:nvSpPr>
        <p:spPr bwMode="auto">
          <a:xfrm>
            <a:off x="731404" y="3360388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#DT#P.C#)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46AC1BC-A99F-A2AE-C982-E8515EE3F19B}"/>
              </a:ext>
            </a:extLst>
          </p:cNvPr>
          <p:cNvSpPr txBox="1"/>
          <p:nvPr/>
        </p:nvSpPr>
        <p:spPr bwMode="auto">
          <a:xfrm>
            <a:off x="731404" y="4478906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#DT#Q.W#)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5FAEE98-1CB4-61BB-AE13-5CA992B391A5}"/>
              </a:ext>
            </a:extLst>
          </p:cNvPr>
          <p:cNvSpPr txBox="1"/>
          <p:nvPr/>
        </p:nvSpPr>
        <p:spPr bwMode="auto">
          <a:xfrm>
            <a:off x="731404" y="4879016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#DT#Q.X#)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9F764EA-8C4F-4321-DB9F-57F0360472FA}"/>
              </a:ext>
            </a:extLst>
          </p:cNvPr>
          <p:cNvSpPr txBox="1"/>
          <p:nvPr/>
        </p:nvSpPr>
        <p:spPr bwMode="auto">
          <a:xfrm>
            <a:off x="731404" y="5263211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#DT#Q.Y#)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E282322-6C3B-8BC0-D907-FAE20078C4A5}"/>
              </a:ext>
            </a:extLst>
          </p:cNvPr>
          <p:cNvSpPr txBox="1"/>
          <p:nvPr/>
        </p:nvSpPr>
        <p:spPr bwMode="auto">
          <a:xfrm>
            <a:off x="731404" y="5679236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#DT#Q.Z#)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2704A62-70A9-3D56-49E8-99FB7D88FBD2}"/>
              </a:ext>
            </a:extLst>
          </p:cNvPr>
          <p:cNvSpPr txBox="1"/>
          <p:nvPr/>
        </p:nvSpPr>
        <p:spPr bwMode="auto">
          <a:xfrm>
            <a:off x="731404" y="2187703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#DT#P#)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章タイトル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29BB48-55D2-1A91-2BED-54872A553680}"/>
              </a:ext>
            </a:extLst>
          </p:cNvPr>
          <p:cNvSpPr txBox="1"/>
          <p:nvPr/>
        </p:nvSpPr>
        <p:spPr bwMode="auto">
          <a:xfrm>
            <a:off x="731404" y="4097553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#DT#Q#)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章タイトル</a:t>
            </a: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4A339B68-9CE2-BA75-2161-439CEA0C6842}"/>
              </a:ext>
            </a:extLst>
          </p:cNvPr>
          <p:cNvCxnSpPr/>
          <p:nvPr/>
        </p:nvCxnSpPr>
        <p:spPr bwMode="auto">
          <a:xfrm>
            <a:off x="1775520" y="1656150"/>
            <a:ext cx="0" cy="514392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97967CE6-4C09-E0BF-2D5A-646EC4DAAF6F}"/>
              </a:ext>
            </a:extLst>
          </p:cNvPr>
          <p:cNvCxnSpPr/>
          <p:nvPr/>
        </p:nvCxnSpPr>
        <p:spPr bwMode="auto">
          <a:xfrm>
            <a:off x="6456040" y="1656150"/>
            <a:ext cx="0" cy="514392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EFA9C9F-C638-80B1-A656-333C6A632D2E}"/>
              </a:ext>
            </a:extLst>
          </p:cNvPr>
          <p:cNvSpPr txBox="1"/>
          <p:nvPr/>
        </p:nvSpPr>
        <p:spPr bwMode="auto">
          <a:xfrm>
            <a:off x="6240016" y="2569361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1.1)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71F5820-532F-CFE7-C8B4-4B8F7D5EB7E1}"/>
              </a:ext>
            </a:extLst>
          </p:cNvPr>
          <p:cNvSpPr txBox="1"/>
          <p:nvPr/>
        </p:nvSpPr>
        <p:spPr bwMode="auto">
          <a:xfrm>
            <a:off x="6240016" y="2965513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1.2)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C8390D3-5888-B552-85CB-3ED73B8F78D8}"/>
              </a:ext>
            </a:extLst>
          </p:cNvPr>
          <p:cNvSpPr txBox="1"/>
          <p:nvPr/>
        </p:nvSpPr>
        <p:spPr bwMode="auto">
          <a:xfrm>
            <a:off x="6240016" y="3360388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1.3)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D4F0299-9D2E-C4C5-DFA6-75CCFBDC0ED3}"/>
              </a:ext>
            </a:extLst>
          </p:cNvPr>
          <p:cNvSpPr txBox="1"/>
          <p:nvPr/>
        </p:nvSpPr>
        <p:spPr bwMode="auto">
          <a:xfrm>
            <a:off x="6240016" y="4478906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2.1)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6B78035-4E27-300D-0482-C67831942BC7}"/>
              </a:ext>
            </a:extLst>
          </p:cNvPr>
          <p:cNvSpPr txBox="1"/>
          <p:nvPr/>
        </p:nvSpPr>
        <p:spPr bwMode="auto">
          <a:xfrm>
            <a:off x="6240016" y="4879016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2.2)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839FE44-2598-AA5F-9DB6-AF03E9C81E97}"/>
              </a:ext>
            </a:extLst>
          </p:cNvPr>
          <p:cNvSpPr txBox="1"/>
          <p:nvPr/>
        </p:nvSpPr>
        <p:spPr bwMode="auto">
          <a:xfrm>
            <a:off x="6240016" y="5263211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2.3)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212076B-059D-54A9-646A-D089EC561469}"/>
              </a:ext>
            </a:extLst>
          </p:cNvPr>
          <p:cNvSpPr txBox="1"/>
          <p:nvPr/>
        </p:nvSpPr>
        <p:spPr bwMode="auto">
          <a:xfrm>
            <a:off x="6240016" y="5679236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2.4)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8C91476-492F-7344-9319-38D0DAC10BB2}"/>
              </a:ext>
            </a:extLst>
          </p:cNvPr>
          <p:cNvSpPr txBox="1"/>
          <p:nvPr/>
        </p:nvSpPr>
        <p:spPr bwMode="auto">
          <a:xfrm>
            <a:off x="6240016" y="2187703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1)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章タイトル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760D1D62-20B2-C56B-6459-638AA16A4647}"/>
              </a:ext>
            </a:extLst>
          </p:cNvPr>
          <p:cNvSpPr txBox="1"/>
          <p:nvPr/>
        </p:nvSpPr>
        <p:spPr bwMode="auto">
          <a:xfrm>
            <a:off x="6240016" y="4097553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2)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章タイトル</a:t>
            </a: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7F6D31EB-096C-17BC-4FD9-067088264977}"/>
              </a:ext>
            </a:extLst>
          </p:cNvPr>
          <p:cNvCxnSpPr/>
          <p:nvPr/>
        </p:nvCxnSpPr>
        <p:spPr bwMode="auto">
          <a:xfrm>
            <a:off x="3719736" y="2387758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20F20767-7A95-3934-4250-15B64CA4AD31}"/>
              </a:ext>
            </a:extLst>
          </p:cNvPr>
          <p:cNvCxnSpPr/>
          <p:nvPr/>
        </p:nvCxnSpPr>
        <p:spPr bwMode="auto">
          <a:xfrm>
            <a:off x="3719736" y="2769416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D095B8FC-57E7-4DE8-7FC8-86E5F34FAA8C}"/>
              </a:ext>
            </a:extLst>
          </p:cNvPr>
          <p:cNvCxnSpPr/>
          <p:nvPr/>
        </p:nvCxnSpPr>
        <p:spPr bwMode="auto">
          <a:xfrm>
            <a:off x="3719736" y="3165568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D3E6CED7-E806-7DEE-14B4-3A4FD1A8DBE9}"/>
              </a:ext>
            </a:extLst>
          </p:cNvPr>
          <p:cNvCxnSpPr/>
          <p:nvPr/>
        </p:nvCxnSpPr>
        <p:spPr bwMode="auto">
          <a:xfrm>
            <a:off x="3719736" y="3560443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FD555F5A-7CB3-2EF7-CCBE-33D3CAE43F5E}"/>
              </a:ext>
            </a:extLst>
          </p:cNvPr>
          <p:cNvCxnSpPr/>
          <p:nvPr/>
        </p:nvCxnSpPr>
        <p:spPr bwMode="auto">
          <a:xfrm>
            <a:off x="3719736" y="4297608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5467A162-F3B2-FEB6-8C43-8147B69A1899}"/>
              </a:ext>
            </a:extLst>
          </p:cNvPr>
          <p:cNvCxnSpPr/>
          <p:nvPr/>
        </p:nvCxnSpPr>
        <p:spPr bwMode="auto">
          <a:xfrm>
            <a:off x="3719736" y="4678961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36C063F0-D456-C1AD-10C3-30F347A99F3E}"/>
              </a:ext>
            </a:extLst>
          </p:cNvPr>
          <p:cNvCxnSpPr/>
          <p:nvPr/>
        </p:nvCxnSpPr>
        <p:spPr bwMode="auto">
          <a:xfrm>
            <a:off x="3719736" y="5079071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4E7B808A-C7DD-8C16-FD72-4E5E269FEAFB}"/>
              </a:ext>
            </a:extLst>
          </p:cNvPr>
          <p:cNvCxnSpPr/>
          <p:nvPr/>
        </p:nvCxnSpPr>
        <p:spPr bwMode="auto">
          <a:xfrm>
            <a:off x="3719736" y="5463266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3546119F-AC62-28E8-B49D-A0677545E5D0}"/>
              </a:ext>
            </a:extLst>
          </p:cNvPr>
          <p:cNvCxnSpPr/>
          <p:nvPr/>
        </p:nvCxnSpPr>
        <p:spPr bwMode="auto">
          <a:xfrm>
            <a:off x="3719736" y="5879291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右中かっこ 39">
            <a:extLst>
              <a:ext uri="{FF2B5EF4-FFF2-40B4-BE49-F238E27FC236}">
                <a16:creationId xmlns:a16="http://schemas.microsoft.com/office/drawing/2014/main" id="{642B70E0-D892-9D45-A50E-33BBD9F9B048}"/>
              </a:ext>
            </a:extLst>
          </p:cNvPr>
          <p:cNvSpPr/>
          <p:nvPr/>
        </p:nvSpPr>
        <p:spPr bwMode="auto">
          <a:xfrm>
            <a:off x="8328248" y="2587813"/>
            <a:ext cx="468053" cy="1125545"/>
          </a:xfrm>
          <a:prstGeom prst="rightBrace">
            <a:avLst>
              <a:gd name="adj1" fmla="val 40536"/>
              <a:gd name="adj2" fmla="val 50000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0DC74EE2-1EEA-B7AD-855A-CBDF8563460E}"/>
              </a:ext>
            </a:extLst>
          </p:cNvPr>
          <p:cNvSpPr txBox="1"/>
          <p:nvPr/>
        </p:nvSpPr>
        <p:spPr bwMode="auto">
          <a:xfrm>
            <a:off x="8919992" y="2169699"/>
            <a:ext cx="2376261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が最初の章なので １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5C90DBD-03EE-C7B0-A06E-06BEDEC1C89A}"/>
              </a:ext>
            </a:extLst>
          </p:cNvPr>
          <p:cNvSpPr txBox="1"/>
          <p:nvPr/>
        </p:nvSpPr>
        <p:spPr bwMode="auto">
          <a:xfrm>
            <a:off x="8919992" y="2924944"/>
            <a:ext cx="2376261" cy="52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に属す節の中での連番が振られる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6CDAAC8B-CA71-20EB-87AA-318AB0C4B15C}"/>
              </a:ext>
            </a:extLst>
          </p:cNvPr>
          <p:cNvSpPr txBox="1"/>
          <p:nvPr/>
        </p:nvSpPr>
        <p:spPr bwMode="auto">
          <a:xfrm>
            <a:off x="8919992" y="4119960"/>
            <a:ext cx="2376261" cy="30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は２つめの章なので </a:t>
            </a: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右中かっこ 43">
            <a:extLst>
              <a:ext uri="{FF2B5EF4-FFF2-40B4-BE49-F238E27FC236}">
                <a16:creationId xmlns:a16="http://schemas.microsoft.com/office/drawing/2014/main" id="{A74916A3-DACE-5366-91E7-6CD0B20981F6}"/>
              </a:ext>
            </a:extLst>
          </p:cNvPr>
          <p:cNvSpPr/>
          <p:nvPr/>
        </p:nvSpPr>
        <p:spPr bwMode="auto">
          <a:xfrm>
            <a:off x="8328248" y="4566543"/>
            <a:ext cx="468053" cy="1454745"/>
          </a:xfrm>
          <a:prstGeom prst="rightBrace">
            <a:avLst>
              <a:gd name="adj1" fmla="val 40536"/>
              <a:gd name="adj2" fmla="val 50000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6ACA1029-4AF5-DA47-E3DD-536005664B01}"/>
              </a:ext>
            </a:extLst>
          </p:cNvPr>
          <p:cNvSpPr txBox="1"/>
          <p:nvPr/>
        </p:nvSpPr>
        <p:spPr bwMode="auto">
          <a:xfrm>
            <a:off x="8919992" y="5085184"/>
            <a:ext cx="2376261" cy="523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に属す節の中での連番が振られる</a:t>
            </a:r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5FF160E4-6601-A0B1-2A63-9B17454710DE}"/>
              </a:ext>
            </a:extLst>
          </p:cNvPr>
          <p:cNvCxnSpPr/>
          <p:nvPr/>
        </p:nvCxnSpPr>
        <p:spPr bwMode="auto">
          <a:xfrm>
            <a:off x="8057607" y="2343684"/>
            <a:ext cx="846705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C3D47E02-A211-1142-5FBE-E35FC786E5DB}"/>
              </a:ext>
            </a:extLst>
          </p:cNvPr>
          <p:cNvCxnSpPr/>
          <p:nvPr/>
        </p:nvCxnSpPr>
        <p:spPr bwMode="auto">
          <a:xfrm>
            <a:off x="8057607" y="4297608"/>
            <a:ext cx="846705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128A8246-8CCB-46B1-EE59-78DF094BAE62}"/>
              </a:ext>
            </a:extLst>
          </p:cNvPr>
          <p:cNvSpPr txBox="1"/>
          <p:nvPr/>
        </p:nvSpPr>
        <p:spPr bwMode="auto">
          <a:xfrm>
            <a:off x="4395973" y="2031383"/>
            <a:ext cx="828091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</a:p>
        </p:txBody>
      </p:sp>
    </p:spTree>
    <p:extLst>
      <p:ext uri="{BB962C8B-B14F-4D97-AF65-F5344CB8AC3E}">
        <p14:creationId xmlns:p14="http://schemas.microsoft.com/office/powerpoint/2010/main" val="3080666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C0AFD-0728-3A23-3181-D231657C0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D4A20A-45A1-EC5F-8318-749087C12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章および章・節番号に対応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B102E0C-A13B-111F-DE05-228975DC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4C2684-A5FD-B718-C8F3-67D88A0B38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10FA9A3-0D89-21A2-472B-5C82865109F2}"/>
              </a:ext>
            </a:extLst>
          </p:cNvPr>
          <p:cNvSpPr txBox="1"/>
          <p:nvPr/>
        </p:nvSpPr>
        <p:spPr bwMode="auto">
          <a:xfrm>
            <a:off x="1127453" y="1196752"/>
            <a:ext cx="9577065" cy="70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章・節番号を定義する</a:t>
            </a:r>
            <a:r>
              <a:rPr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 </a:t>
            </a:r>
            <a:r>
              <a:rPr lang="en-US" altLang="ja-JP" sz="1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(Definition of Title) </a:t>
            </a:r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の形式は以下の通りです。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eaLnBrk="1"/>
            <a:r>
              <a:rPr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節番号を省略して、章番号のみを使用することもできます。</a:t>
            </a:r>
            <a:endParaRPr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3E43E58-E5DA-E944-977A-A85A0E6BF157}"/>
              </a:ext>
            </a:extLst>
          </p:cNvPr>
          <p:cNvSpPr txBox="1"/>
          <p:nvPr/>
        </p:nvSpPr>
        <p:spPr bwMode="auto">
          <a:xfrm>
            <a:off x="1689513" y="2811842"/>
            <a:ext cx="91294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sz="2800" spc="400">
                <a:latin typeface="游ゴシック" panose="020B0400000000000000" pitchFamily="50" charset="-128"/>
                <a:ea typeface="游ゴシック" panose="020B0400000000000000" pitchFamily="50" charset="-128"/>
              </a:rPr>
              <a:t>#DT#FA1.PZ1# )</a:t>
            </a:r>
            <a:r>
              <a:rPr kumimoji="1" lang="ja-JP" altLang="en-US" sz="2800" spc="400">
                <a:latin typeface="游ゴシック" panose="020B0400000000000000" pitchFamily="50" charset="-128"/>
                <a:ea typeface="游ゴシック" panose="020B0400000000000000" pitchFamily="50" charset="-128"/>
              </a:rPr>
              <a:t>　</a:t>
            </a:r>
            <a:r>
              <a:rPr kumimoji="1" lang="en-US" altLang="ja-JP" sz="28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Introduction to .....</a:t>
            </a:r>
            <a:endParaRPr kumimoji="1" lang="ja-JP" altLang="en-US" sz="280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C829C180-8824-720B-7539-4DEEEC1572FD}"/>
              </a:ext>
            </a:extLst>
          </p:cNvPr>
          <p:cNvCxnSpPr/>
          <p:nvPr/>
        </p:nvCxnSpPr>
        <p:spPr bwMode="auto">
          <a:xfrm>
            <a:off x="1757087" y="3230287"/>
            <a:ext cx="116532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22757A3-6B56-58F1-3A5A-0694B4592C16}"/>
              </a:ext>
            </a:extLst>
          </p:cNvPr>
          <p:cNvSpPr txBox="1"/>
          <p:nvPr/>
        </p:nvSpPr>
        <p:spPr bwMode="auto">
          <a:xfrm>
            <a:off x="1906047" y="3287760"/>
            <a:ext cx="728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タグ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F8267F8-4FB0-0AAD-CC88-585F3A01732A}"/>
              </a:ext>
            </a:extLst>
          </p:cNvPr>
          <p:cNvSpPr txBox="1"/>
          <p:nvPr/>
        </p:nvSpPr>
        <p:spPr bwMode="auto">
          <a:xfrm>
            <a:off x="2718774" y="4962401"/>
            <a:ext cx="205246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ピリオドまたはハイフン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E640B6A0-44BF-AE1B-B4CB-3AD3E4D88418}"/>
              </a:ext>
            </a:extLst>
          </p:cNvPr>
          <p:cNvCxnSpPr>
            <a:cxnSpLocks/>
          </p:cNvCxnSpPr>
          <p:nvPr/>
        </p:nvCxnSpPr>
        <p:spPr bwMode="auto">
          <a:xfrm flipV="1">
            <a:off x="3682828" y="3229681"/>
            <a:ext cx="124342" cy="169047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AB011C44-582D-3A92-09D7-AB4452D76012}"/>
              </a:ext>
            </a:extLst>
          </p:cNvPr>
          <p:cNvCxnSpPr/>
          <p:nvPr/>
        </p:nvCxnSpPr>
        <p:spPr bwMode="auto">
          <a:xfrm>
            <a:off x="2922413" y="3379091"/>
            <a:ext cx="70688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D2AD1A23-6A87-56C1-1656-E2E14252802B}"/>
              </a:ext>
            </a:extLst>
          </p:cNvPr>
          <p:cNvCxnSpPr/>
          <p:nvPr/>
        </p:nvCxnSpPr>
        <p:spPr bwMode="auto">
          <a:xfrm>
            <a:off x="3917327" y="3379091"/>
            <a:ext cx="706882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2D7CBCC-4785-BFF3-12DB-A3B7D065BE89}"/>
              </a:ext>
            </a:extLst>
          </p:cNvPr>
          <p:cNvSpPr txBox="1"/>
          <p:nvPr/>
        </p:nvSpPr>
        <p:spPr bwMode="auto">
          <a:xfrm>
            <a:off x="1148365" y="4081504"/>
            <a:ext cx="228891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章番号定義（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文字以上の英数字列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5CB13FDD-EF52-A8E6-2667-2BC8EE0FE5FA}"/>
              </a:ext>
            </a:extLst>
          </p:cNvPr>
          <p:cNvCxnSpPr>
            <a:stCxn id="31" idx="0"/>
          </p:cNvCxnSpPr>
          <p:nvPr/>
        </p:nvCxnSpPr>
        <p:spPr bwMode="auto">
          <a:xfrm flipV="1">
            <a:off x="2292823" y="3393877"/>
            <a:ext cx="1006762" cy="687627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59499D78-95F3-46A0-BA75-06A6C5AC1BE5}"/>
              </a:ext>
            </a:extLst>
          </p:cNvPr>
          <p:cNvSpPr txBox="1"/>
          <p:nvPr/>
        </p:nvSpPr>
        <p:spPr bwMode="auto">
          <a:xfrm>
            <a:off x="5159727" y="4958707"/>
            <a:ext cx="322209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節番号定義</a:t>
            </a:r>
            <a:endParaRPr kumimoji="1" lang="en-US" altLang="ja-JP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文字以上の英数字列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2A58C854-9429-B2FF-96AD-9986583FB60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237031" y="3393877"/>
            <a:ext cx="991423" cy="1526274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0B1A205E-D90E-8CE6-F8C7-5114F1FB78BF}"/>
              </a:ext>
            </a:extLst>
          </p:cNvPr>
          <p:cNvCxnSpPr/>
          <p:nvPr/>
        </p:nvCxnSpPr>
        <p:spPr bwMode="auto">
          <a:xfrm>
            <a:off x="4675151" y="3318258"/>
            <a:ext cx="32229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0CB630F-2AB1-F7BD-47B0-48D81C7AFD71}"/>
              </a:ext>
            </a:extLst>
          </p:cNvPr>
          <p:cNvSpPr txBox="1"/>
          <p:nvPr/>
        </p:nvSpPr>
        <p:spPr bwMode="auto">
          <a:xfrm>
            <a:off x="5038876" y="3868683"/>
            <a:ext cx="15337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終端記号</a:t>
            </a:r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D57E84FC-79EE-8F70-4B9A-8E2C5926707A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809825" y="3318258"/>
            <a:ext cx="418629" cy="533784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2" name="右中かっこ 51">
            <a:extLst>
              <a:ext uri="{FF2B5EF4-FFF2-40B4-BE49-F238E27FC236}">
                <a16:creationId xmlns:a16="http://schemas.microsoft.com/office/drawing/2014/main" id="{AB9350A8-A1AA-54D2-2CEA-8124248790B2}"/>
              </a:ext>
            </a:extLst>
          </p:cNvPr>
          <p:cNvSpPr/>
          <p:nvPr/>
        </p:nvSpPr>
        <p:spPr bwMode="auto">
          <a:xfrm rot="5400000">
            <a:off x="5175923" y="2797725"/>
            <a:ext cx="432048" cy="5944057"/>
          </a:xfrm>
          <a:prstGeom prst="rightBrace">
            <a:avLst>
              <a:gd name="adj1" fmla="val 28384"/>
              <a:gd name="adj2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F0120FB-4794-252B-9E85-20406667E598}"/>
              </a:ext>
            </a:extLst>
          </p:cNvPr>
          <p:cNvSpPr txBox="1"/>
          <p:nvPr/>
        </p:nvSpPr>
        <p:spPr bwMode="auto">
          <a:xfrm>
            <a:off x="4963421" y="5985778"/>
            <a:ext cx="11141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省略可</a:t>
            </a:r>
          </a:p>
        </p:txBody>
      </p: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CC0A821B-B15A-0FBD-18D5-C2A40DF5A974}"/>
              </a:ext>
            </a:extLst>
          </p:cNvPr>
          <p:cNvCxnSpPr/>
          <p:nvPr/>
        </p:nvCxnSpPr>
        <p:spPr bwMode="auto">
          <a:xfrm>
            <a:off x="5159727" y="3379091"/>
            <a:ext cx="444314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A90CE324-19D0-B7C3-9D82-25202965D57A}"/>
              </a:ext>
            </a:extLst>
          </p:cNvPr>
          <p:cNvSpPr txBox="1"/>
          <p:nvPr/>
        </p:nvSpPr>
        <p:spPr bwMode="auto">
          <a:xfrm>
            <a:off x="7162699" y="3852042"/>
            <a:ext cx="302433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終端記号の後ろは通常のタイトル文字列</a:t>
            </a:r>
          </a:p>
        </p:txBody>
      </p: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5351F51E-600E-C260-0492-8ECFC5476BC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192059" y="3388049"/>
            <a:ext cx="304510" cy="420228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右中かっこ 6">
            <a:extLst>
              <a:ext uri="{FF2B5EF4-FFF2-40B4-BE49-F238E27FC236}">
                <a16:creationId xmlns:a16="http://schemas.microsoft.com/office/drawing/2014/main" id="{DD0D8AC3-F00C-919C-A7E0-01D607EB7D5D}"/>
              </a:ext>
            </a:extLst>
          </p:cNvPr>
          <p:cNvSpPr/>
          <p:nvPr/>
        </p:nvSpPr>
        <p:spPr bwMode="auto">
          <a:xfrm rot="16200000">
            <a:off x="3644779" y="1849891"/>
            <a:ext cx="295095" cy="1739825"/>
          </a:xfrm>
          <a:prstGeom prst="rightBrace">
            <a:avLst>
              <a:gd name="adj1" fmla="val 28384"/>
              <a:gd name="adj2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56B4722-4112-044A-DB73-6AE054DDF409}"/>
              </a:ext>
            </a:extLst>
          </p:cNvPr>
          <p:cNvSpPr txBox="1"/>
          <p:nvPr/>
        </p:nvSpPr>
        <p:spPr bwMode="auto">
          <a:xfrm>
            <a:off x="3205207" y="2144227"/>
            <a:ext cx="800336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DT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 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(R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系タグでの参照に使用します・・・後述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55400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DBC3-2AD3-BC01-6441-78E46F619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20AE04-F973-4158-2E12-47C16B39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ページの追加・削除・入れ替え時も番号振り直し不要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64A41F8-909A-3DDA-0896-49917BEF2664}"/>
              </a:ext>
            </a:extLst>
          </p:cNvPr>
          <p:cNvSpPr txBox="1"/>
          <p:nvPr/>
        </p:nvSpPr>
        <p:spPr bwMode="auto">
          <a:xfrm>
            <a:off x="898656" y="1256038"/>
            <a:ext cx="8751751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en-US" altLang="ja-JP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A</a:t>
            </a:r>
            <a:r>
              <a:rPr kumimoji="1" lang="ja-JP" altLang="en-US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～</a:t>
            </a:r>
            <a:r>
              <a:rPr kumimoji="1" lang="en-US" altLang="ja-JP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E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で構成していた節の </a:t>
            </a:r>
            <a:r>
              <a:rPr kumimoji="1" lang="en-US" altLang="ja-JP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C,E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を削除し </a:t>
            </a:r>
            <a:r>
              <a:rPr kumimoji="1" lang="en-US" altLang="ja-JP" kern="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M,N </a:t>
            </a:r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を挿入したところ</a:t>
            </a:r>
            <a:endParaRPr kumimoji="1"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222844F-CC4E-AC73-0632-DC6190F0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1CF94A5-84FA-8E32-7E13-9C8F3205B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DD4A4E2-B369-E801-9623-128FFD618034}"/>
              </a:ext>
            </a:extLst>
          </p:cNvPr>
          <p:cNvSpPr txBox="1"/>
          <p:nvPr/>
        </p:nvSpPr>
        <p:spPr bwMode="auto">
          <a:xfrm>
            <a:off x="731404" y="2699482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#DT#R.A#)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2422367-59D7-C026-3469-82D6E40482D2}"/>
              </a:ext>
            </a:extLst>
          </p:cNvPr>
          <p:cNvSpPr txBox="1"/>
          <p:nvPr/>
        </p:nvSpPr>
        <p:spPr bwMode="auto">
          <a:xfrm>
            <a:off x="731404" y="3099592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#DT#R.B#)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C89A62-E6BA-D6BD-96C6-412F1B2C71AE}"/>
              </a:ext>
            </a:extLst>
          </p:cNvPr>
          <p:cNvSpPr txBox="1"/>
          <p:nvPr/>
        </p:nvSpPr>
        <p:spPr bwMode="auto">
          <a:xfrm>
            <a:off x="731404" y="3483787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#DT#R.M#)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C01BBA8-77BE-B736-5C1E-6351BAD9931E}"/>
              </a:ext>
            </a:extLst>
          </p:cNvPr>
          <p:cNvSpPr txBox="1"/>
          <p:nvPr/>
        </p:nvSpPr>
        <p:spPr bwMode="auto">
          <a:xfrm>
            <a:off x="731404" y="3899812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#DT#R.N#)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F54C0C0A-FDC5-7ABA-3271-17EB681802CE}"/>
              </a:ext>
            </a:extLst>
          </p:cNvPr>
          <p:cNvCxnSpPr>
            <a:cxnSpLocks/>
          </p:cNvCxnSpPr>
          <p:nvPr/>
        </p:nvCxnSpPr>
        <p:spPr bwMode="auto">
          <a:xfrm>
            <a:off x="1775520" y="1656150"/>
            <a:ext cx="0" cy="1043332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60258A1D-7DBC-030F-B1DB-2F4069B37E26}"/>
              </a:ext>
            </a:extLst>
          </p:cNvPr>
          <p:cNvCxnSpPr/>
          <p:nvPr/>
        </p:nvCxnSpPr>
        <p:spPr bwMode="auto">
          <a:xfrm>
            <a:off x="3719736" y="2899537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737E1EED-D202-3CB0-8F67-EECA9764AF28}"/>
              </a:ext>
            </a:extLst>
          </p:cNvPr>
          <p:cNvCxnSpPr/>
          <p:nvPr/>
        </p:nvCxnSpPr>
        <p:spPr bwMode="auto">
          <a:xfrm>
            <a:off x="3719736" y="3299647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5787F0D5-430B-7E0C-9072-A6F5FEDCD1BD}"/>
              </a:ext>
            </a:extLst>
          </p:cNvPr>
          <p:cNvCxnSpPr/>
          <p:nvPr/>
        </p:nvCxnSpPr>
        <p:spPr bwMode="auto">
          <a:xfrm>
            <a:off x="3719736" y="3683842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12BC23ED-E7F2-7045-1873-2B60B7AEC510}"/>
              </a:ext>
            </a:extLst>
          </p:cNvPr>
          <p:cNvCxnSpPr/>
          <p:nvPr/>
        </p:nvCxnSpPr>
        <p:spPr bwMode="auto">
          <a:xfrm>
            <a:off x="3719736" y="4099867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A0DBF4B-47AB-DA2F-A7E7-249D02A9BD96}"/>
              </a:ext>
            </a:extLst>
          </p:cNvPr>
          <p:cNvSpPr txBox="1"/>
          <p:nvPr/>
        </p:nvSpPr>
        <p:spPr bwMode="auto">
          <a:xfrm>
            <a:off x="731404" y="4289332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#DT#R.D#)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3708A4F1-E6A8-B2BE-860D-5C4C047A27E7}"/>
              </a:ext>
            </a:extLst>
          </p:cNvPr>
          <p:cNvCxnSpPr/>
          <p:nvPr/>
        </p:nvCxnSpPr>
        <p:spPr bwMode="auto">
          <a:xfrm>
            <a:off x="3719736" y="4489387"/>
            <a:ext cx="2232249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A9432F08-0453-F204-80DB-9E34324B6DE5}"/>
              </a:ext>
            </a:extLst>
          </p:cNvPr>
          <p:cNvSpPr txBox="1"/>
          <p:nvPr/>
        </p:nvSpPr>
        <p:spPr bwMode="auto">
          <a:xfrm>
            <a:off x="4395973" y="2513869"/>
            <a:ext cx="828091" cy="369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変換</a:t>
            </a:r>
          </a:p>
        </p:txBody>
      </p: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FF949A0F-4C9C-552C-4B53-127038489441}"/>
              </a:ext>
            </a:extLst>
          </p:cNvPr>
          <p:cNvSpPr/>
          <p:nvPr/>
        </p:nvSpPr>
        <p:spPr bwMode="auto">
          <a:xfrm>
            <a:off x="1692071" y="2787119"/>
            <a:ext cx="223557" cy="1902323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41CA4EDD-252A-E8EE-7E60-8BF4E37057FF}"/>
              </a:ext>
            </a:extLst>
          </p:cNvPr>
          <p:cNvSpPr txBox="1"/>
          <p:nvPr/>
        </p:nvSpPr>
        <p:spPr bwMode="auto">
          <a:xfrm>
            <a:off x="6240016" y="2702254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3.1)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11570C4E-DB1A-E666-5382-3B2C4E661A7E}"/>
              </a:ext>
            </a:extLst>
          </p:cNvPr>
          <p:cNvSpPr txBox="1"/>
          <p:nvPr/>
        </p:nvSpPr>
        <p:spPr bwMode="auto">
          <a:xfrm>
            <a:off x="6240016" y="3102364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3.2)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B30679AB-DF8E-2957-BAFA-AADDE3AFEB00}"/>
              </a:ext>
            </a:extLst>
          </p:cNvPr>
          <p:cNvSpPr txBox="1"/>
          <p:nvPr/>
        </p:nvSpPr>
        <p:spPr bwMode="auto">
          <a:xfrm>
            <a:off x="6240016" y="3486559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3.3)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CAAD011C-F259-8FB7-7D2A-D950C5A6F3B4}"/>
              </a:ext>
            </a:extLst>
          </p:cNvPr>
          <p:cNvSpPr txBox="1"/>
          <p:nvPr/>
        </p:nvSpPr>
        <p:spPr bwMode="auto">
          <a:xfrm>
            <a:off x="6240016" y="3902584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3.4)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84C83E75-E1F0-9508-96CE-BB9B5F0BFBF7}"/>
              </a:ext>
            </a:extLst>
          </p:cNvPr>
          <p:cNvSpPr txBox="1"/>
          <p:nvPr/>
        </p:nvSpPr>
        <p:spPr bwMode="auto">
          <a:xfrm>
            <a:off x="6240016" y="4292104"/>
            <a:ext cx="39604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ja-JP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3.5) </a:t>
            </a:r>
            <a:r>
              <a:rPr lang="ja-JP" altLang="en-US">
                <a:latin typeface="Source Code Pro Semibold" panose="020B0609030403020204" pitchFamily="49" charset="0"/>
                <a:ea typeface="BIZ UDPゴシック" panose="020B0400000000000000" pitchFamily="50" charset="-128"/>
              </a:rPr>
              <a:t>節タイトル</a:t>
            </a: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50CEAF6E-348C-2BF9-B251-E3941D23B154}"/>
              </a:ext>
            </a:extLst>
          </p:cNvPr>
          <p:cNvSpPr/>
          <p:nvPr/>
        </p:nvSpPr>
        <p:spPr bwMode="auto">
          <a:xfrm>
            <a:off x="6608731" y="2787119"/>
            <a:ext cx="223557" cy="1902323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algn="ctr" defTabSz="914477" eaLnBrk="1" hangingPunct="1"/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23B180F8-BE2D-C4C0-6934-894534D491F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720509" y="4775582"/>
            <a:ext cx="0" cy="514392"/>
          </a:xfrm>
          <a:prstGeom prst="straightConnector1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6E283DF2-FF66-F7F8-2BF6-FCD0837611A9}"/>
              </a:ext>
            </a:extLst>
          </p:cNvPr>
          <p:cNvSpPr txBox="1"/>
          <p:nvPr/>
        </p:nvSpPr>
        <p:spPr bwMode="auto">
          <a:xfrm>
            <a:off x="6127898" y="5330623"/>
            <a:ext cx="4091070" cy="4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自動的に振り直すので手間いらず</a:t>
            </a:r>
            <a:endParaRPr kumimoji="1"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469D4409-CEC0-34E6-48B1-2601C5614E1B}"/>
              </a:ext>
            </a:extLst>
          </p:cNvPr>
          <p:cNvSpPr txBox="1"/>
          <p:nvPr/>
        </p:nvSpPr>
        <p:spPr bwMode="auto">
          <a:xfrm>
            <a:off x="2040191" y="1694189"/>
            <a:ext cx="5303305" cy="584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もし、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と直接数字を書いていたら、後続のページも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すべて手作業で修正しなければなりませんが・・・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65394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DD9D-EFE0-E190-DD34-B8772337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569455-20E9-1D64-CF9A-83A80CC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2800">
                <a:solidFill>
                  <a:schemeClr val="tx1"/>
                </a:solidFill>
              </a:rPr>
              <a:t>確認方法</a:t>
            </a:r>
            <a:endParaRPr lang="ja-JP" altLang="en-US" sz="2800" dirty="0">
              <a:solidFill>
                <a:schemeClr val="tx1"/>
              </a:solidFill>
            </a:endParaRPr>
          </a:p>
        </p:txBody>
      </p:sp>
      <p:sp>
        <p:nvSpPr>
          <p:cNvPr id="23" name="スライド番号プレースホルダー 22">
            <a:extLst>
              <a:ext uri="{FF2B5EF4-FFF2-40B4-BE49-F238E27FC236}">
                <a16:creationId xmlns:a16="http://schemas.microsoft.com/office/drawing/2014/main" id="{DDE2A957-78FA-8DE7-63AB-5D7939D9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lang="ja-JP" altLang="en-US" smtClean="0"/>
              <a:pPr/>
              <a:t>4</a:t>
            </a:fld>
            <a:endParaRPr lang="ja-JP" altLang="en-US"/>
          </a:p>
        </p:txBody>
      </p:sp>
      <p:sp>
        <p:nvSpPr>
          <p:cNvPr id="24" name="フッター プレースホルダー 23">
            <a:extLst>
              <a:ext uri="{FF2B5EF4-FFF2-40B4-BE49-F238E27FC236}">
                <a16:creationId xmlns:a16="http://schemas.microsoft.com/office/drawing/2014/main" id="{FD1CA68E-232B-C73D-AF10-06E161CD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ja-JP"/>
              <a:t>Copyright 2025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C37CEAC6-AC58-76B0-F1B1-B73D6E5825A7}"/>
              </a:ext>
            </a:extLst>
          </p:cNvPr>
          <p:cNvSpPr/>
          <p:nvPr/>
        </p:nvSpPr>
        <p:spPr bwMode="auto">
          <a:xfrm>
            <a:off x="767408" y="1130835"/>
            <a:ext cx="10441160" cy="41820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以下のように起動します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02730ED5-5710-EDFF-4330-9E3D752AC1FD}"/>
              </a:ext>
            </a:extLst>
          </p:cNvPr>
          <p:cNvSpPr/>
          <p:nvPr/>
        </p:nvSpPr>
        <p:spPr bwMode="auto">
          <a:xfrm>
            <a:off x="1163452" y="1771152"/>
            <a:ext cx="9145016" cy="41820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8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python pptx-indexer.py 01_DTSample.pptx</a:t>
            </a:r>
            <a:endParaRPr kumimoji="1" lang="ja-JP" altLang="en-US" sz="18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BD180237-316D-55F9-693A-1E629734CE77}"/>
              </a:ext>
            </a:extLst>
          </p:cNvPr>
          <p:cNvSpPr/>
          <p:nvPr/>
        </p:nvSpPr>
        <p:spPr bwMode="auto">
          <a:xfrm>
            <a:off x="767408" y="2432933"/>
            <a:ext cx="1296144" cy="418202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ja-JP" altLang="en-US" sz="1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結果</a:t>
            </a: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1B8D9E42-4737-58C6-0C1E-653C512A4A81}"/>
              </a:ext>
            </a:extLst>
          </p:cNvPr>
          <p:cNvSpPr/>
          <p:nvPr/>
        </p:nvSpPr>
        <p:spPr bwMode="auto">
          <a:xfrm>
            <a:off x="1163452" y="2962192"/>
            <a:ext cx="9145016" cy="418202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defTabSz="914477" eaLnBrk="1" hangingPunct="1"/>
            <a:r>
              <a:rPr kumimoji="1" lang="en-US" altLang="ja-JP" sz="1800">
                <a:latin typeface="Source Code Pro Semibold" panose="020B0609030403020204" pitchFamily="49" charset="0"/>
                <a:ea typeface="Source Code Pro Semibold" panose="020B0609030403020204" pitchFamily="49" charset="0"/>
              </a:rPr>
              <a:t>01_DTSample_generated.pptx</a:t>
            </a:r>
            <a:endParaRPr kumimoji="1" lang="ja-JP" altLang="en-US" sz="1800">
              <a:latin typeface="Source Code Pro Semibold" panose="020B0609030403020204" pitchFamily="49" charset="0"/>
              <a:ea typeface="BIZ UDPゴシック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EE47349-84C7-0A48-FACF-71522E2D3B88}"/>
              </a:ext>
            </a:extLst>
          </p:cNvPr>
          <p:cNvSpPr txBox="1"/>
          <p:nvPr/>
        </p:nvSpPr>
        <p:spPr bwMode="auto">
          <a:xfrm>
            <a:off x="2855640" y="3625727"/>
            <a:ext cx="5256584" cy="338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1" rIns="91440" bIns="45721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 eaLnBrk="1"/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生成後のファイル名には 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_generated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がつく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D0611F13-4034-0A5A-B5F3-AC85EABC474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431704" y="3303952"/>
            <a:ext cx="360040" cy="33855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960766259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t" anchorCtr="0" compatLnSpc="1">
        <a:prstTxWarp prst="textNoShape">
          <a:avLst/>
        </a:prstTxWarp>
      </a:bodyPr>
      <a:lstStyle>
        <a:defPPr algn="ctr" defTabSz="914477" eaLnBrk="1" hangingPunct="1">
          <a:defRPr kumimoji="1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1" rIns="91440" bIns="45721" numCol="1" rtlCol="0" anchor="t" anchorCtr="0" compatLnSpc="1">
        <a:prstTxWarp prst="textNoShape">
          <a:avLst/>
        </a:prstTxWarp>
        <a:spAutoFit/>
      </a:bodyPr>
      <a:lstStyle>
        <a:defPPr algn="l" eaLnBrk="1">
          <a:defRPr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図解技法による分かりやすい資料の作成講座-20181121・講師用</Template>
  <TotalTime>21290</TotalTime>
  <Words>514</Words>
  <Application>Microsoft Office PowerPoint</Application>
  <PresentationFormat>ワイド画面</PresentationFormat>
  <Paragraphs>72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4" baseType="lpstr">
      <vt:lpstr>BIZ UDPゴシック</vt:lpstr>
      <vt:lpstr>BIZ UDゴシック</vt:lpstr>
      <vt:lpstr>FOT-UD丸ゴ_ラージ Pr6 M</vt:lpstr>
      <vt:lpstr>游ゴシック</vt:lpstr>
      <vt:lpstr>Arial</vt:lpstr>
      <vt:lpstr>Garamond</vt:lpstr>
      <vt:lpstr>Source Code Pro Semibold</vt:lpstr>
      <vt:lpstr>Wingdings</vt:lpstr>
      <vt:lpstr>Edge</vt:lpstr>
      <vt:lpstr>01_DTSample</vt:lpstr>
      <vt:lpstr>章・節番号を自動変換</vt:lpstr>
      <vt:lpstr>章および章・節番号に対応</vt:lpstr>
      <vt:lpstr>ページの追加・削除・入れ替え時も番号振り直し不要</vt:lpstr>
      <vt:lpstr>確認方法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開米瑞浩</dc:creator>
  <cp:lastModifiedBy>瑞浩 開米</cp:lastModifiedBy>
  <cp:revision>1873</cp:revision>
  <cp:lastPrinted>2024-11-10T09:08:11Z</cp:lastPrinted>
  <dcterms:modified xsi:type="dcterms:W3CDTF">2025-03-08T14:39:37Z</dcterms:modified>
</cp:coreProperties>
</file>