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8"/>
  </p:notesMasterIdLst>
  <p:sldIdLst>
    <p:sldId id="1682" r:id="rId2"/>
    <p:sldId id="1714" r:id="rId3"/>
    <p:sldId id="1688" r:id="rId4"/>
    <p:sldId id="1706" r:id="rId5"/>
    <p:sldId id="1710" r:id="rId6"/>
    <p:sldId id="1713" r:id="rId7"/>
  </p:sldIdLst>
  <p:sldSz cx="12192000" cy="6858000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6pPr>
    <a:lvl7pPr marL="27432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7pPr>
    <a:lvl8pPr marL="32004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8pPr>
    <a:lvl9pPr marL="36576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7A7A"/>
    <a:srgbClr val="545858"/>
    <a:srgbClr val="00B0F0"/>
    <a:srgbClr val="81D994"/>
    <a:srgbClr val="58CC72"/>
    <a:srgbClr val="00FFFF"/>
    <a:srgbClr val="FF00FF"/>
    <a:srgbClr val="F7F619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67" autoAdjust="0"/>
    <p:restoredTop sz="86408" autoAdjust="0"/>
  </p:normalViewPr>
  <p:slideViewPr>
    <p:cSldViewPr>
      <p:cViewPr varScale="1">
        <p:scale>
          <a:sx n="105" d="100"/>
          <a:sy n="105" d="100"/>
        </p:scale>
        <p:origin x="132" y="43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-141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BIZ UDPゴシック" panose="020B0400000000000000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BIZ UDPゴシック" panose="020B0400000000000000" pitchFamily="50" charset="-128"/>
              </a:defRPr>
            </a:lvl1pPr>
          </a:lstStyle>
          <a:p>
            <a:fld id="{294670BC-B8C6-44A7-84E1-23632D8FD86F}" type="datetimeFigureOut">
              <a:rPr lang="ja-JP" altLang="en-US" smtClean="0"/>
              <a:pPr/>
              <a:t>2025/3/8</a:t>
            </a:fld>
            <a:endParaRPr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BIZ UDPゴシック" panose="020B0400000000000000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BIZ UDPゴシック" panose="020B0400000000000000" pitchFamily="50" charset="-128"/>
              </a:defRPr>
            </a:lvl1pPr>
          </a:lstStyle>
          <a:p>
            <a:fld id="{BA10FDB7-3E02-4363-90B3-590B3C26A88D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06735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07436" y="1524000"/>
            <a:ext cx="10164233" cy="1752600"/>
          </a:xfrm>
        </p:spPr>
        <p:txBody>
          <a:bodyPr/>
          <a:lstStyle>
            <a:lvl1pPr>
              <a:defRPr sz="4200">
                <a:solidFill>
                  <a:schemeClr val="tx2"/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altLang="ja-JP" dirty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07834" y="3962400"/>
            <a:ext cx="7971367" cy="1752600"/>
          </a:xfrm>
          <a:prstGeom prst="rect">
            <a:avLst/>
          </a:prstGeom>
        </p:spPr>
        <p:txBody>
          <a:bodyPr/>
          <a:lstStyle>
            <a:lvl1pPr marL="0" indent="0">
              <a:buFont typeface="Wingdings" pitchFamily="2" charset="2"/>
              <a:buNone/>
              <a:defRPr sz="2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サブタイトルの書式設定</a:t>
            </a:r>
            <a:endParaRPr lang="en-US" altLang="ja-JP" dirty="0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8254D289-857E-022B-E722-6C7257F338BE}"/>
              </a:ext>
            </a:extLst>
          </p:cNvPr>
          <p:cNvSpPr/>
          <p:nvPr userDrawn="1"/>
        </p:nvSpPr>
        <p:spPr bwMode="auto">
          <a:xfrm>
            <a:off x="3312000" y="3666171"/>
            <a:ext cx="8328616" cy="91135"/>
          </a:xfrm>
          <a:prstGeom prst="roundRect">
            <a:avLst>
              <a:gd name="adj" fmla="val 49227"/>
            </a:avLst>
          </a:prstGeom>
          <a:solidFill>
            <a:srgbClr val="339966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ＭＳ Ｐゴシック" pitchFamily="50" charset="-128"/>
            </a:endParaRP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00C62EA-46CE-6E45-F9C1-8E001A79E1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203523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98656" y="260648"/>
            <a:ext cx="10957984" cy="648072"/>
          </a:xfrm>
        </p:spPr>
        <p:txBody>
          <a:bodyPr/>
          <a:lstStyle>
            <a:lvl1pPr>
              <a:defRPr sz="3200" b="1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609600" y="980728"/>
            <a:ext cx="10972800" cy="5256584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 marL="669925" indent="-325438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 marL="1022350" indent="-350838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 marL="1339850" indent="-315913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 marL="1681163" indent="-339725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F7DC264F-9A8B-8BC9-4FFA-4238A27ED534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54182" y="953621"/>
            <a:ext cx="11083636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Rectangle 6">
            <a:extLst>
              <a:ext uri="{FF2B5EF4-FFF2-40B4-BE49-F238E27FC236}">
                <a16:creationId xmlns:a16="http://schemas.microsoft.com/office/drawing/2014/main" id="{6BB55BAD-460C-3254-9DE7-B95DC62378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6" name="フッター プレースホルダー 2">
            <a:extLst>
              <a:ext uri="{FF2B5EF4-FFF2-40B4-BE49-F238E27FC236}">
                <a16:creationId xmlns:a16="http://schemas.microsoft.com/office/drawing/2014/main" id="{14102FAC-1D8D-98FF-0E86-05B23E382A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1344" y="6478165"/>
            <a:ext cx="55446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2024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57564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0DDA252F-B76B-2A98-8A15-68FEF4A206C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54182" y="953621"/>
            <a:ext cx="11083636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Rectangle 6">
            <a:extLst>
              <a:ext uri="{FF2B5EF4-FFF2-40B4-BE49-F238E27FC236}">
                <a16:creationId xmlns:a16="http://schemas.microsoft.com/office/drawing/2014/main" id="{27F33519-DE7B-1578-63B1-C7F9384DEE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6" name="フッター プレースホルダー 2">
            <a:extLst>
              <a:ext uri="{FF2B5EF4-FFF2-40B4-BE49-F238E27FC236}">
                <a16:creationId xmlns:a16="http://schemas.microsoft.com/office/drawing/2014/main" id="{368A006B-8EC8-B39A-B6FA-0EE75EB75F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1344" y="6478165"/>
            <a:ext cx="55446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2024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0980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>
            <a:extLst>
              <a:ext uri="{FF2B5EF4-FFF2-40B4-BE49-F238E27FC236}">
                <a16:creationId xmlns:a16="http://schemas.microsoft.com/office/drawing/2014/main" id="{79E8B39C-04D2-1AF7-9927-F5F6D4CA6F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E031350-F277-E392-9EEE-34255C7F5C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1344" y="6478165"/>
            <a:ext cx="55446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2024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08343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 1"/>
          <p:cNvSpPr>
            <a:spLocks noGrp="1"/>
          </p:cNvSpPr>
          <p:nvPr>
            <p:ph/>
          </p:nvPr>
        </p:nvSpPr>
        <p:spPr>
          <a:xfrm>
            <a:off x="609600" y="277813"/>
            <a:ext cx="10972800" cy="5853112"/>
          </a:xfrm>
          <a:prstGeom prst="rect">
            <a:avLst/>
          </a:prstGeom>
        </p:spPr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01701D8-2655-4364-A1CC-F63E88A9B8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4" name="フッター プレースホルダー 2">
            <a:extLst>
              <a:ext uri="{FF2B5EF4-FFF2-40B4-BE49-F238E27FC236}">
                <a16:creationId xmlns:a16="http://schemas.microsoft.com/office/drawing/2014/main" id="{00549907-4137-254B-ABA0-204DDF7922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1344" y="6478165"/>
            <a:ext cx="55446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2024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95469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98656" y="260648"/>
            <a:ext cx="10957984" cy="501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dirty="0" err="1"/>
              <a:t>マスタ</a:t>
            </a:r>
            <a:r>
              <a:rPr lang="en-US" altLang="ja-JP" dirty="0"/>
              <a:t> </a:t>
            </a:r>
            <a:r>
              <a:rPr lang="en-US" altLang="ja-JP" dirty="0" err="1"/>
              <a:t>タイトルの書式設定</a:t>
            </a:r>
            <a:endParaRPr lang="en-US" altLang="ja-JP" dirty="0"/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91A1ECCD-F85D-D247-549B-2E41B84C18A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26FBE41-6A51-4D78-3BE1-6E095FFE1B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1344" y="6478165"/>
            <a:ext cx="55446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2024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5532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6" r:id="rId4"/>
    <p:sldLayoutId id="2147483667" r:id="rId5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5000"/>
        <a:buFont typeface="Wingdings" panose="05000000000000000000" pitchFamily="2" charset="2"/>
        <a:buChar char="n"/>
        <a:defRPr kumimoji="1" sz="20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  <a:cs typeface="+mn-cs"/>
        </a:defRPr>
      </a:lvl1pPr>
      <a:lvl2pPr marL="669925" indent="-325438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0000"/>
        <a:buFont typeface="Wingdings" panose="05000000000000000000" pitchFamily="2" charset="2"/>
        <a:buChar char="n"/>
        <a:defRPr kumimoji="1" sz="18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2pPr>
      <a:lvl3pPr marL="1022350" indent="-350838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5000"/>
        <a:buFont typeface="Wingdings" panose="05000000000000000000" pitchFamily="2" charset="2"/>
        <a:buChar char="n"/>
        <a:defRPr kumimoji="1" sz="16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3pPr>
      <a:lvl4pPr marL="1339850" indent="-315913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70000"/>
        <a:buFont typeface="Wingdings" panose="05000000000000000000" pitchFamily="2" charset="2"/>
        <a:buChar char="n"/>
        <a:defRPr kumimoji="1" sz="14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4pPr>
      <a:lvl5pPr marL="1681163" indent="-339725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75000"/>
        <a:buFont typeface="Wingdings" panose="05000000000000000000" pitchFamily="2" charset="2"/>
        <a:buChar char="n"/>
        <a:defRPr kumimoji="1" sz="12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5pPr>
      <a:lvl6pPr marL="21383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6pPr>
      <a:lvl7pPr marL="25955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7pPr>
      <a:lvl8pPr marL="30527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8pPr>
      <a:lvl9pPr marL="35099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2CF806-E48A-4798-56B5-568A0B4BD0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7436" y="1844824"/>
            <a:ext cx="10164233" cy="1033760"/>
          </a:xfrm>
        </p:spPr>
        <p:txBody>
          <a:bodyPr/>
          <a:lstStyle/>
          <a:p>
            <a:r>
              <a:rPr kumimoji="1" lang="en-US" altLang="ja-JP"/>
              <a:t>02_DTSample</a:t>
            </a:r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FFF3C5E-3719-BB59-BBA5-EA1E27B09C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07834" y="3962400"/>
            <a:ext cx="7971367" cy="1194792"/>
          </a:xfrm>
        </p:spPr>
        <p:txBody>
          <a:bodyPr/>
          <a:lstStyle/>
          <a:p>
            <a:pPr algn="r"/>
            <a:r>
              <a:rPr kumimoji="1" lang="ja-JP" altLang="en-US"/>
              <a:t>アイデアクラフト　代表　開米瑞浩</a:t>
            </a:r>
          </a:p>
          <a:p>
            <a:pPr algn="r"/>
            <a:r>
              <a:rPr lang="ja-JP" altLang="en-US" sz="2000"/>
              <a:t>　　</a:t>
            </a:r>
            <a:r>
              <a:rPr lang="en-US" altLang="ja-JP" sz="2000"/>
              <a:t> 2025/3/7</a:t>
            </a:r>
            <a:r>
              <a:rPr lang="ja-JP" altLang="en-US" sz="2000"/>
              <a:t> 作成</a:t>
            </a:r>
            <a:endParaRPr lang="en-US" altLang="ja-JP" sz="200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6F904B1-5760-3889-DA9A-8E1020BC15D9}"/>
              </a:ext>
            </a:extLst>
          </p:cNvPr>
          <p:cNvSpPr txBox="1"/>
          <p:nvPr/>
        </p:nvSpPr>
        <p:spPr bwMode="auto">
          <a:xfrm>
            <a:off x="1559496" y="2708920"/>
            <a:ext cx="8712968" cy="707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本書は、</a:t>
            </a:r>
            <a:r>
              <a:rPr kumimoji="1"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pptx-indexer.py </a:t>
            </a:r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 </a:t>
            </a:r>
            <a:r>
              <a:rPr kumimoji="1"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R</a:t>
            </a:r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系</a:t>
            </a:r>
            <a:r>
              <a:rPr kumimoji="1"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タグによる</a:t>
            </a:r>
            <a:r>
              <a:rPr kumimoji="1"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PowerPoint </a:t>
            </a:r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ファイルへの引用参照や目次作成機能のサンプルです。</a:t>
            </a:r>
          </a:p>
        </p:txBody>
      </p:sp>
    </p:spTree>
    <p:extLst>
      <p:ext uri="{BB962C8B-B14F-4D97-AF65-F5344CB8AC3E}">
        <p14:creationId xmlns:p14="http://schemas.microsoft.com/office/powerpoint/2010/main" val="3777677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0DD9D-EFE0-E190-DD34-B87723371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569455-20E9-1D64-CF9A-83A80CCDA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2800">
                <a:solidFill>
                  <a:schemeClr val="tx1"/>
                </a:solidFill>
              </a:rPr>
              <a:t>RIT</a:t>
            </a:r>
            <a:r>
              <a:rPr lang="ja-JP" altLang="en-US" sz="2800">
                <a:solidFill>
                  <a:schemeClr val="tx1"/>
                </a:solidFill>
              </a:rPr>
              <a:t>タグに</a:t>
            </a:r>
            <a:r>
              <a:rPr lang="en-US" altLang="ja-JP" sz="2800">
                <a:solidFill>
                  <a:schemeClr val="tx1"/>
                </a:solidFill>
              </a:rPr>
              <a:t>DT</a:t>
            </a:r>
            <a:r>
              <a:rPr lang="ja-JP" altLang="en-US" sz="2800">
                <a:solidFill>
                  <a:schemeClr val="tx1"/>
                </a:solidFill>
              </a:rPr>
              <a:t>コードを使って引用元を記載できる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46AC1A58-2721-1446-A26C-C06388242243}"/>
              </a:ext>
            </a:extLst>
          </p:cNvPr>
          <p:cNvSpPr txBox="1"/>
          <p:nvPr/>
        </p:nvSpPr>
        <p:spPr bwMode="auto">
          <a:xfrm>
            <a:off x="898656" y="1256038"/>
            <a:ext cx="10453926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en-US" altLang="ja-JP" kern="0">
                <a:latin typeface="Source Code Pro Semibold" panose="020B0609030403020204" pitchFamily="49" charset="0"/>
                <a:ea typeface="Source Code Pro Semibold" panose="020B0609030403020204" pitchFamily="49" charset="0"/>
              </a:rPr>
              <a:t>RIT</a:t>
            </a:r>
            <a:r>
              <a:rPr kumimoji="1" lang="ja-JP" altLang="en-US" kern="0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タグで引用元の</a:t>
            </a:r>
            <a:r>
              <a:rPr kumimoji="1" lang="en-US" altLang="ja-JP" kern="0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DT</a:t>
            </a:r>
            <a:r>
              <a:rPr kumimoji="1" lang="ja-JP" altLang="en-US" kern="0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タグコードを記載すると、章・節番号＋タイトルに変換されます</a:t>
            </a:r>
            <a:endParaRPr kumimoji="1" lang="en-US" altLang="ja-JP" kern="0">
              <a:latin typeface="Source Code Pro Semibold" panose="020B0609030403020204" pitchFamily="49" charset="0"/>
              <a:ea typeface="Source Code Pro Semibold" panose="020B0609030403020204" pitchFamily="49" charset="0"/>
            </a:endParaRP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DDE2A957-78FA-8DE7-63AB-5D7939D9C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1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FD1CA68E-232B-C73D-AF10-06E161CDD2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2024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58F10B1A-854B-9C8F-F9E0-F19399950C24}"/>
              </a:ext>
            </a:extLst>
          </p:cNvPr>
          <p:cNvSpPr/>
          <p:nvPr/>
        </p:nvSpPr>
        <p:spPr bwMode="auto">
          <a:xfrm>
            <a:off x="1775520" y="2498273"/>
            <a:ext cx="2988332" cy="1613296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algn="ctr" defTabSz="914477" eaLnBrk="1" hangingPunct="1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C7ABC55-2FBE-50F0-8BD5-925235B5229F}"/>
              </a:ext>
            </a:extLst>
          </p:cNvPr>
          <p:cNvSpPr txBox="1"/>
          <p:nvPr/>
        </p:nvSpPr>
        <p:spPr bwMode="auto">
          <a:xfrm>
            <a:off x="1775519" y="2562991"/>
            <a:ext cx="291632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#DT#P.A#) </a:t>
            </a:r>
            <a:r>
              <a:rPr lang="ja-JP" altLang="en-US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節タイトル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1F1ED011-850A-2113-F876-B898F181BFF7}"/>
              </a:ext>
            </a:extLst>
          </p:cNvPr>
          <p:cNvSpPr/>
          <p:nvPr/>
        </p:nvSpPr>
        <p:spPr bwMode="auto">
          <a:xfrm>
            <a:off x="1775520" y="4795314"/>
            <a:ext cx="2988332" cy="1613296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algn="ctr" defTabSz="914477" eaLnBrk="1" hangingPunct="1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13BA7D1B-1C92-F11E-FE01-3A2C32C8299A}"/>
              </a:ext>
            </a:extLst>
          </p:cNvPr>
          <p:cNvSpPr txBox="1"/>
          <p:nvPr/>
        </p:nvSpPr>
        <p:spPr bwMode="auto">
          <a:xfrm>
            <a:off x="1992797" y="5800285"/>
            <a:ext cx="291632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ja-JP" altLang="en-US" sz="1600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参照： </a:t>
            </a:r>
            <a:r>
              <a:rPr lang="en-US" altLang="ja-JP" sz="1600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#RIT#P.A#</a:t>
            </a:r>
            <a:endParaRPr lang="ja-JP" altLang="en-US" sz="1600">
              <a:latin typeface="Source Code Pro Semibold" panose="020B0609030403020204" pitchFamily="49" charset="0"/>
              <a:ea typeface="BIZ UDPゴシック" panose="020B0400000000000000" pitchFamily="50" charset="-128"/>
            </a:endParaRP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C8E3545D-998A-09E4-2081-3BB162BD9B40}"/>
              </a:ext>
            </a:extLst>
          </p:cNvPr>
          <p:cNvSpPr txBox="1"/>
          <p:nvPr/>
        </p:nvSpPr>
        <p:spPr bwMode="auto">
          <a:xfrm>
            <a:off x="755119" y="2959162"/>
            <a:ext cx="1102189" cy="646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引用元</a:t>
            </a:r>
            <a:endParaRPr kumimoji="1" lang="en-US" altLang="ja-JP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 eaLnBrk="1"/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スライド</a:t>
            </a: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2BB47869-5D3F-6BA4-47E0-B932F2FD3E07}"/>
              </a:ext>
            </a:extLst>
          </p:cNvPr>
          <p:cNvSpPr txBox="1"/>
          <p:nvPr/>
        </p:nvSpPr>
        <p:spPr bwMode="auto">
          <a:xfrm>
            <a:off x="755119" y="5236517"/>
            <a:ext cx="1102189" cy="646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引用側</a:t>
            </a:r>
            <a:endParaRPr kumimoji="1" lang="en-US" altLang="ja-JP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 eaLnBrk="1"/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スライド</a:t>
            </a:r>
          </a:p>
        </p:txBody>
      </p:sp>
      <p:pic>
        <p:nvPicPr>
          <p:cNvPr id="52" name="図 51" descr="白い背景に、数枚の白い切り絵の雪の結晶">
            <a:extLst>
              <a:ext uri="{FF2B5EF4-FFF2-40B4-BE49-F238E27FC236}">
                <a16:creationId xmlns:a16="http://schemas.microsoft.com/office/drawing/2014/main" id="{AC1845AA-F06D-A509-F8CE-A1BB999B017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2210364" y="3021508"/>
            <a:ext cx="2160239" cy="940839"/>
          </a:xfrm>
          <a:prstGeom prst="rect">
            <a:avLst/>
          </a:prstGeom>
        </p:spPr>
      </p:pic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97967CE6-4C09-E0BF-2D5A-646EC4DAAF6F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2783632" y="2938490"/>
            <a:ext cx="486054" cy="2861795"/>
          </a:xfrm>
          <a:prstGeom prst="straightConnector1">
            <a:avLst/>
          </a:prstGeom>
          <a:ln w="38100"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77DEA134-8138-E0EE-691C-E67A07BB7F99}"/>
              </a:ext>
            </a:extLst>
          </p:cNvPr>
          <p:cNvSpPr txBox="1"/>
          <p:nvPr/>
        </p:nvSpPr>
        <p:spPr bwMode="auto">
          <a:xfrm>
            <a:off x="3048477" y="4169976"/>
            <a:ext cx="2409471" cy="584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en-US" altLang="ja-JP" sz="1600" kern="0">
                <a:latin typeface="Source Code Pro Semibold" panose="020B0609030403020204" pitchFamily="49" charset="0"/>
                <a:ea typeface="Source Code Pro Semibold" panose="020B0609030403020204" pitchFamily="49" charset="0"/>
              </a:rPr>
              <a:t>RIT </a:t>
            </a:r>
            <a:r>
              <a:rPr kumimoji="1" lang="ja-JP" altLang="en-US" sz="1600" kern="0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タグで引用元の</a:t>
            </a:r>
            <a:r>
              <a:rPr kumimoji="1" lang="en-US" altLang="ja-JP" sz="1600" kern="0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DT</a:t>
            </a:r>
            <a:r>
              <a:rPr kumimoji="1" lang="ja-JP" altLang="en-US" sz="1600" kern="0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タグコードを記載する</a:t>
            </a:r>
            <a:endParaRPr kumimoji="1" lang="en-US" altLang="ja-JP" sz="1600" kern="0">
              <a:latin typeface="Source Code Pro Semibold" panose="020B0609030403020204" pitchFamily="49" charset="0"/>
              <a:ea typeface="Source Code Pro Semibold" panose="020B0609030403020204" pitchFamily="49" charset="0"/>
            </a:endParaRPr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2ED6E0F8-48F0-9B08-4263-6543DA357B9A}"/>
              </a:ext>
            </a:extLst>
          </p:cNvPr>
          <p:cNvSpPr/>
          <p:nvPr/>
        </p:nvSpPr>
        <p:spPr bwMode="auto">
          <a:xfrm>
            <a:off x="7968208" y="2498273"/>
            <a:ext cx="2988332" cy="1613296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algn="ctr" defTabSz="914477" eaLnBrk="1" hangingPunct="1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DC1A074A-AFCA-E171-D215-5A2F760405A1}"/>
              </a:ext>
            </a:extLst>
          </p:cNvPr>
          <p:cNvSpPr txBox="1"/>
          <p:nvPr/>
        </p:nvSpPr>
        <p:spPr bwMode="auto">
          <a:xfrm>
            <a:off x="7968207" y="2562991"/>
            <a:ext cx="291632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1.1) </a:t>
            </a:r>
            <a:r>
              <a:rPr lang="ja-JP" altLang="en-US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節タイトル</a:t>
            </a:r>
          </a:p>
        </p:txBody>
      </p:sp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3188FD70-43DC-8B9E-B2A8-1104C5878163}"/>
              </a:ext>
            </a:extLst>
          </p:cNvPr>
          <p:cNvSpPr/>
          <p:nvPr/>
        </p:nvSpPr>
        <p:spPr bwMode="auto">
          <a:xfrm>
            <a:off x="7968208" y="4795314"/>
            <a:ext cx="2988332" cy="1613296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algn="ctr" defTabSz="914477" eaLnBrk="1" hangingPunct="1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08166CAB-DA9E-D82F-A028-1E0EDEDF98F1}"/>
              </a:ext>
            </a:extLst>
          </p:cNvPr>
          <p:cNvSpPr txBox="1"/>
          <p:nvPr/>
        </p:nvSpPr>
        <p:spPr bwMode="auto">
          <a:xfrm>
            <a:off x="8185485" y="5800285"/>
            <a:ext cx="291632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ja-JP" altLang="en-US" sz="1600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参照： </a:t>
            </a:r>
            <a:r>
              <a:rPr lang="en-US" altLang="ja-JP" sz="1600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1.1 節タイトル </a:t>
            </a:r>
            <a:endParaRPr lang="ja-JP" altLang="en-US" sz="1600">
              <a:latin typeface="Source Code Pro Semibold" panose="020B0609030403020204" pitchFamily="49" charset="0"/>
              <a:ea typeface="BIZ UDPゴシック" panose="020B0400000000000000" pitchFamily="50" charset="-128"/>
            </a:endParaRPr>
          </a:p>
        </p:txBody>
      </p:sp>
      <p:pic>
        <p:nvPicPr>
          <p:cNvPr id="60" name="図 59" descr="白い背景に、数枚の白い切り絵の雪の結晶">
            <a:extLst>
              <a:ext uri="{FF2B5EF4-FFF2-40B4-BE49-F238E27FC236}">
                <a16:creationId xmlns:a16="http://schemas.microsoft.com/office/drawing/2014/main" id="{004E6B30-970D-68EE-B3FB-F78FB4DAB50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8403052" y="3021508"/>
            <a:ext cx="2160239" cy="940839"/>
          </a:xfrm>
          <a:prstGeom prst="rect">
            <a:avLst/>
          </a:prstGeom>
        </p:spPr>
      </p:pic>
      <p:cxnSp>
        <p:nvCxnSpPr>
          <p:cNvPr id="62" name="直線矢印コネクタ 61">
            <a:extLst>
              <a:ext uri="{FF2B5EF4-FFF2-40B4-BE49-F238E27FC236}">
                <a16:creationId xmlns:a16="http://schemas.microsoft.com/office/drawing/2014/main" id="{8AFDC1B8-7130-181A-78D1-EEF69A2219F3}"/>
              </a:ext>
            </a:extLst>
          </p:cNvPr>
          <p:cNvCxnSpPr/>
          <p:nvPr/>
        </p:nvCxnSpPr>
        <p:spPr bwMode="auto">
          <a:xfrm>
            <a:off x="5318479" y="2858373"/>
            <a:ext cx="2232249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3" name="直線矢印コネクタ 62">
            <a:extLst>
              <a:ext uri="{FF2B5EF4-FFF2-40B4-BE49-F238E27FC236}">
                <a16:creationId xmlns:a16="http://schemas.microsoft.com/office/drawing/2014/main" id="{AA1E1731-D4D8-F147-B571-E42C608839E5}"/>
              </a:ext>
            </a:extLst>
          </p:cNvPr>
          <p:cNvCxnSpPr/>
          <p:nvPr/>
        </p:nvCxnSpPr>
        <p:spPr bwMode="auto">
          <a:xfrm>
            <a:off x="5318479" y="5991016"/>
            <a:ext cx="2232249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4" name="テキスト ボックス 63">
            <a:extLst>
              <a:ext uri="{FF2B5EF4-FFF2-40B4-BE49-F238E27FC236}">
                <a16:creationId xmlns:a16="http://schemas.microsoft.com/office/drawing/2014/main" id="{A8A1E01B-70F0-51F1-935C-6265F2F25EA7}"/>
              </a:ext>
            </a:extLst>
          </p:cNvPr>
          <p:cNvSpPr txBox="1"/>
          <p:nvPr/>
        </p:nvSpPr>
        <p:spPr bwMode="auto">
          <a:xfrm>
            <a:off x="5994716" y="2501998"/>
            <a:ext cx="828091" cy="3693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変換</a:t>
            </a:r>
          </a:p>
        </p:txBody>
      </p:sp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49F8BEC8-C1D4-B220-C7E6-1EF42B56A14C}"/>
              </a:ext>
            </a:extLst>
          </p:cNvPr>
          <p:cNvSpPr txBox="1"/>
          <p:nvPr/>
        </p:nvSpPr>
        <p:spPr bwMode="auto">
          <a:xfrm>
            <a:off x="5994716" y="5562639"/>
            <a:ext cx="828091" cy="3693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変換</a:t>
            </a:r>
          </a:p>
        </p:txBody>
      </p:sp>
      <p:sp>
        <p:nvSpPr>
          <p:cNvPr id="66" name="テキスト ボックス 65">
            <a:extLst>
              <a:ext uri="{FF2B5EF4-FFF2-40B4-BE49-F238E27FC236}">
                <a16:creationId xmlns:a16="http://schemas.microsoft.com/office/drawing/2014/main" id="{BEE7DF04-7EEF-C71B-9DBA-1E8412662EC6}"/>
              </a:ext>
            </a:extLst>
          </p:cNvPr>
          <p:cNvSpPr txBox="1"/>
          <p:nvPr/>
        </p:nvSpPr>
        <p:spPr bwMode="auto">
          <a:xfrm>
            <a:off x="2652385" y="1708217"/>
            <a:ext cx="7116022" cy="584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ページの加筆加筆・削除・入れ替えがあっても</a:t>
            </a:r>
            <a:r>
              <a:rPr kumimoji="1"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DT</a:t>
            </a:r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タグコードが変わらなければ番号・タイトルは自動修正されるので手間がかかりません</a:t>
            </a:r>
            <a:endParaRPr kumimoji="1" lang="en-US" altLang="ja-JP" sz="16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25B49CEC-8FF3-EDBA-8ACD-CDEC9BF97351}"/>
              </a:ext>
            </a:extLst>
          </p:cNvPr>
          <p:cNvSpPr txBox="1"/>
          <p:nvPr/>
        </p:nvSpPr>
        <p:spPr bwMode="auto">
          <a:xfrm>
            <a:off x="1992797" y="5461729"/>
            <a:ext cx="2409471" cy="338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詳しくは下記ページ</a:t>
            </a:r>
            <a:endParaRPr kumimoji="1" lang="en-US" altLang="ja-JP" sz="16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055071AD-9A3D-1C6B-F238-332004CBB45F}"/>
              </a:ext>
            </a:extLst>
          </p:cNvPr>
          <p:cNvSpPr txBox="1"/>
          <p:nvPr/>
        </p:nvSpPr>
        <p:spPr bwMode="auto">
          <a:xfrm>
            <a:off x="8203632" y="5461729"/>
            <a:ext cx="2409471" cy="338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詳しくは下記ページ</a:t>
            </a:r>
            <a:endParaRPr kumimoji="1" lang="en-US" altLang="ja-JP" sz="16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63192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0DD9D-EFE0-E190-DD34-B87723371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569455-20E9-1D64-CF9A-83A80CCDA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2800">
                <a:solidFill>
                  <a:schemeClr val="tx1"/>
                </a:solidFill>
              </a:rPr>
              <a:t>章単位でページ一覧を作れる（目次作成に便利）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46AC1A58-2721-1446-A26C-C06388242243}"/>
              </a:ext>
            </a:extLst>
          </p:cNvPr>
          <p:cNvSpPr txBox="1"/>
          <p:nvPr/>
        </p:nvSpPr>
        <p:spPr bwMode="auto">
          <a:xfrm>
            <a:off x="898656" y="1256038"/>
            <a:ext cx="10453926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en-US" altLang="ja-JP" kern="0">
                <a:latin typeface="Source Code Pro Semibold" panose="020B0609030403020204" pitchFamily="49" charset="0"/>
                <a:ea typeface="Source Code Pro Semibold" panose="020B0609030403020204" pitchFamily="49" charset="0"/>
              </a:rPr>
              <a:t>RLISTIT</a:t>
            </a:r>
            <a:r>
              <a:rPr kumimoji="1" lang="ja-JP" altLang="en-US" kern="0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タグにより、章コードが一致する節のタイトル一覧を生成可能。目次作成に便利</a:t>
            </a:r>
            <a:endParaRPr kumimoji="1" lang="en-US" altLang="ja-JP" kern="0">
              <a:latin typeface="Source Code Pro Semibold" panose="020B0609030403020204" pitchFamily="49" charset="0"/>
              <a:ea typeface="Source Code Pro Semibold" panose="020B0609030403020204" pitchFamily="49" charset="0"/>
            </a:endParaRP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DDE2A957-78FA-8DE7-63AB-5D7939D9C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2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FD1CA68E-232B-C73D-AF10-06E161CDD2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2024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sp>
        <p:nvSpPr>
          <p:cNvPr id="70" name="テキスト ボックス 69">
            <a:extLst>
              <a:ext uri="{FF2B5EF4-FFF2-40B4-BE49-F238E27FC236}">
                <a16:creationId xmlns:a16="http://schemas.microsoft.com/office/drawing/2014/main" id="{E60CED01-40C9-1063-384C-D67063FF38A5}"/>
              </a:ext>
            </a:extLst>
          </p:cNvPr>
          <p:cNvSpPr txBox="1"/>
          <p:nvPr/>
        </p:nvSpPr>
        <p:spPr bwMode="auto">
          <a:xfrm>
            <a:off x="1852040" y="4858550"/>
            <a:ext cx="2448272" cy="132344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endParaRPr lang="en-US" altLang="ja-JP" sz="160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endParaRPr lang="en-US" altLang="ja-JP" sz="160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endParaRPr lang="en-US" altLang="ja-JP" sz="160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endParaRPr lang="en-US" altLang="ja-JP" sz="160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endParaRPr lang="en-US" altLang="ja-JP" sz="160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71" name="テキスト ボックス 70">
            <a:extLst>
              <a:ext uri="{FF2B5EF4-FFF2-40B4-BE49-F238E27FC236}">
                <a16:creationId xmlns:a16="http://schemas.microsoft.com/office/drawing/2014/main" id="{07B0CC22-C974-4C46-BADB-92FB22DCD047}"/>
              </a:ext>
            </a:extLst>
          </p:cNvPr>
          <p:cNvSpPr txBox="1"/>
          <p:nvPr/>
        </p:nvSpPr>
        <p:spPr bwMode="auto">
          <a:xfrm>
            <a:off x="1857308" y="2735439"/>
            <a:ext cx="2448272" cy="1169551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ja-JP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#DT#SA#</a:t>
            </a:r>
            <a:r>
              <a:rPr lang="ja-JP" altLang="en-US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日本列島</a:t>
            </a:r>
            <a:endParaRPr lang="en-US" altLang="ja-JP" sz="14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#DT#SA.P1#)</a:t>
            </a:r>
            <a:r>
              <a:rPr lang="ja-JP" altLang="en-US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本州</a:t>
            </a:r>
            <a:endParaRPr lang="en-US" altLang="ja-JP" sz="14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#DT#SA.P2#)</a:t>
            </a:r>
            <a:r>
              <a:rPr lang="ja-JP" altLang="en-US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九州</a:t>
            </a:r>
            <a:endParaRPr lang="en-US" altLang="ja-JP" sz="14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#DT#SA.P3#)</a:t>
            </a:r>
            <a:r>
              <a:rPr lang="ja-JP" altLang="en-US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四国</a:t>
            </a:r>
            <a:endParaRPr lang="en-US" altLang="ja-JP" sz="14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#DT#SA.P4#)</a:t>
            </a:r>
            <a:r>
              <a:rPr lang="ja-JP" altLang="en-US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北海道</a:t>
            </a:r>
            <a:endParaRPr lang="en-US" altLang="ja-JP" sz="14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CF878BF9-7767-2636-FAEB-EFE813C98D81}"/>
              </a:ext>
            </a:extLst>
          </p:cNvPr>
          <p:cNvSpPr txBox="1"/>
          <p:nvPr/>
        </p:nvSpPr>
        <p:spPr bwMode="auto">
          <a:xfrm>
            <a:off x="2138125" y="5159985"/>
            <a:ext cx="2088232" cy="3120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#RLISTIT#SA#</a:t>
            </a:r>
          </a:p>
        </p:txBody>
      </p:sp>
      <p:sp>
        <p:nvSpPr>
          <p:cNvPr id="73" name="テキスト ボックス 72">
            <a:extLst>
              <a:ext uri="{FF2B5EF4-FFF2-40B4-BE49-F238E27FC236}">
                <a16:creationId xmlns:a16="http://schemas.microsoft.com/office/drawing/2014/main" id="{ACA26B69-3168-0894-F808-6CE413D6D3E4}"/>
              </a:ext>
            </a:extLst>
          </p:cNvPr>
          <p:cNvSpPr txBox="1"/>
          <p:nvPr/>
        </p:nvSpPr>
        <p:spPr bwMode="auto">
          <a:xfrm>
            <a:off x="1873047" y="4851707"/>
            <a:ext cx="2088232" cy="3120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#RIT#SA#</a:t>
            </a:r>
          </a:p>
        </p:txBody>
      </p:sp>
      <p:sp>
        <p:nvSpPr>
          <p:cNvPr id="77" name="テキスト ボックス 76">
            <a:extLst>
              <a:ext uri="{FF2B5EF4-FFF2-40B4-BE49-F238E27FC236}">
                <a16:creationId xmlns:a16="http://schemas.microsoft.com/office/drawing/2014/main" id="{C01985FC-A2A4-4BD7-B23F-89B2CDD71E31}"/>
              </a:ext>
            </a:extLst>
          </p:cNvPr>
          <p:cNvSpPr txBox="1"/>
          <p:nvPr/>
        </p:nvSpPr>
        <p:spPr bwMode="auto">
          <a:xfrm>
            <a:off x="490041" y="2852936"/>
            <a:ext cx="1383006" cy="1200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コンテンツ</a:t>
            </a:r>
            <a:endParaRPr kumimoji="1" lang="en-US" altLang="ja-JP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 eaLnBrk="1"/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通常、複数のページに分散）</a:t>
            </a:r>
            <a:endParaRPr kumimoji="1" lang="ja-JP" altLang="en-US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E59491ED-4D2C-EEE4-274B-32364EA4073B}"/>
              </a:ext>
            </a:extLst>
          </p:cNvPr>
          <p:cNvSpPr txBox="1"/>
          <p:nvPr/>
        </p:nvSpPr>
        <p:spPr bwMode="auto">
          <a:xfrm>
            <a:off x="681164" y="5236517"/>
            <a:ext cx="1383006" cy="646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目次</a:t>
            </a:r>
            <a:endParaRPr kumimoji="1" lang="en-US" altLang="ja-JP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 eaLnBrk="1"/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スライド</a:t>
            </a:r>
          </a:p>
        </p:txBody>
      </p: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5CEBD269-655B-E641-C2F6-119B3CA12041}"/>
              </a:ext>
            </a:extLst>
          </p:cNvPr>
          <p:cNvSpPr txBox="1"/>
          <p:nvPr/>
        </p:nvSpPr>
        <p:spPr bwMode="auto">
          <a:xfrm>
            <a:off x="3287688" y="4169976"/>
            <a:ext cx="2687483" cy="584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en-US" altLang="ja-JP" sz="1600" kern="0">
                <a:latin typeface="Source Code Pro Semibold" panose="020B0609030403020204" pitchFamily="49" charset="0"/>
                <a:ea typeface="Source Code Pro Semibold" panose="020B0609030403020204" pitchFamily="49" charset="0"/>
              </a:rPr>
              <a:t>RLISTIT </a:t>
            </a:r>
            <a:r>
              <a:rPr kumimoji="1" lang="ja-JP" altLang="en-US" sz="1600" kern="0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タグで章の</a:t>
            </a:r>
            <a:r>
              <a:rPr kumimoji="1" lang="en-US" altLang="ja-JP" sz="1600" kern="0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DT</a:t>
            </a:r>
          </a:p>
          <a:p>
            <a:pPr algn="l" eaLnBrk="1"/>
            <a:r>
              <a:rPr kumimoji="1" lang="ja-JP" altLang="en-US" sz="1600" kern="0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タグコードを記載する</a:t>
            </a:r>
            <a:endParaRPr kumimoji="1" lang="en-US" altLang="ja-JP" sz="1600" kern="0">
              <a:latin typeface="Source Code Pro Semibold" panose="020B0609030403020204" pitchFamily="49" charset="0"/>
              <a:ea typeface="Source Code Pro Semibold" panose="020B0609030403020204" pitchFamily="49" charset="0"/>
            </a:endParaRPr>
          </a:p>
        </p:txBody>
      </p:sp>
      <p:cxnSp>
        <p:nvCxnSpPr>
          <p:cNvPr id="80" name="直線矢印コネクタ 79">
            <a:extLst>
              <a:ext uri="{FF2B5EF4-FFF2-40B4-BE49-F238E27FC236}">
                <a16:creationId xmlns:a16="http://schemas.microsoft.com/office/drawing/2014/main" id="{BFC62561-937C-5E20-4DCC-EC66EB1C736F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2652385" y="2996952"/>
            <a:ext cx="779319" cy="2239565"/>
          </a:xfrm>
          <a:prstGeom prst="straightConnector1">
            <a:avLst/>
          </a:prstGeom>
          <a:ln w="38100"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3" name="テキスト ボックス 82">
            <a:extLst>
              <a:ext uri="{FF2B5EF4-FFF2-40B4-BE49-F238E27FC236}">
                <a16:creationId xmlns:a16="http://schemas.microsoft.com/office/drawing/2014/main" id="{99AAF107-7536-1AE5-8506-E3B934C3A5A7}"/>
              </a:ext>
            </a:extLst>
          </p:cNvPr>
          <p:cNvSpPr txBox="1"/>
          <p:nvPr/>
        </p:nvSpPr>
        <p:spPr bwMode="auto">
          <a:xfrm>
            <a:off x="8310211" y="4858550"/>
            <a:ext cx="2448272" cy="152277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endParaRPr lang="en-US" altLang="ja-JP" sz="160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endParaRPr lang="en-US" altLang="ja-JP" sz="160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endParaRPr lang="en-US" altLang="ja-JP" sz="160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endParaRPr lang="en-US" altLang="ja-JP" sz="160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endParaRPr lang="en-US" altLang="ja-JP" sz="160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84" name="テキスト ボックス 83">
            <a:extLst>
              <a:ext uri="{FF2B5EF4-FFF2-40B4-BE49-F238E27FC236}">
                <a16:creationId xmlns:a16="http://schemas.microsoft.com/office/drawing/2014/main" id="{DB1CEFD0-45F2-06DF-9C93-25B932011C62}"/>
              </a:ext>
            </a:extLst>
          </p:cNvPr>
          <p:cNvSpPr txBox="1"/>
          <p:nvPr/>
        </p:nvSpPr>
        <p:spPr bwMode="auto">
          <a:xfrm>
            <a:off x="8315479" y="2735439"/>
            <a:ext cx="2448272" cy="1169551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ja-JP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r>
              <a:rPr lang="ja-JP" altLang="en-US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日本列島</a:t>
            </a:r>
            <a:endParaRPr lang="en-US" altLang="ja-JP" sz="14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2.1)</a:t>
            </a:r>
            <a:r>
              <a:rPr lang="ja-JP" altLang="en-US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本州</a:t>
            </a:r>
            <a:endParaRPr lang="en-US" altLang="ja-JP" sz="14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2.2)</a:t>
            </a:r>
            <a:r>
              <a:rPr lang="ja-JP" altLang="en-US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九州</a:t>
            </a:r>
            <a:endParaRPr lang="en-US" altLang="ja-JP" sz="14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2.3)</a:t>
            </a:r>
            <a:r>
              <a:rPr lang="ja-JP" altLang="en-US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四国</a:t>
            </a:r>
            <a:endParaRPr lang="en-US" altLang="ja-JP" sz="14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2.4)</a:t>
            </a:r>
            <a:r>
              <a:rPr lang="ja-JP" altLang="en-US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北海道</a:t>
            </a:r>
            <a:endParaRPr lang="en-US" altLang="ja-JP" sz="14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5" name="テキスト ボックス 84">
            <a:extLst>
              <a:ext uri="{FF2B5EF4-FFF2-40B4-BE49-F238E27FC236}">
                <a16:creationId xmlns:a16="http://schemas.microsoft.com/office/drawing/2014/main" id="{D993E46C-023B-00D5-D107-1400790586D0}"/>
              </a:ext>
            </a:extLst>
          </p:cNvPr>
          <p:cNvSpPr txBox="1"/>
          <p:nvPr/>
        </p:nvSpPr>
        <p:spPr bwMode="auto">
          <a:xfrm>
            <a:off x="8596296" y="5159985"/>
            <a:ext cx="2088232" cy="3120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2.1) 本州
2.2) 九州
2.3) 四国
2.4) 北海道
</a:t>
            </a:r>
          </a:p>
        </p:txBody>
      </p:sp>
      <p:sp>
        <p:nvSpPr>
          <p:cNvPr id="86" name="テキスト ボックス 85">
            <a:extLst>
              <a:ext uri="{FF2B5EF4-FFF2-40B4-BE49-F238E27FC236}">
                <a16:creationId xmlns:a16="http://schemas.microsoft.com/office/drawing/2014/main" id="{54FC0FE5-DF00-E773-6668-5F2F83F0D3C0}"/>
              </a:ext>
            </a:extLst>
          </p:cNvPr>
          <p:cNvSpPr txBox="1"/>
          <p:nvPr/>
        </p:nvSpPr>
        <p:spPr bwMode="auto">
          <a:xfrm>
            <a:off x="8331218" y="4851707"/>
            <a:ext cx="2088232" cy="3120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 日本列島</a:t>
            </a:r>
          </a:p>
        </p:txBody>
      </p:sp>
      <p:cxnSp>
        <p:nvCxnSpPr>
          <p:cNvPr id="88" name="直線矢印コネクタ 87">
            <a:extLst>
              <a:ext uri="{FF2B5EF4-FFF2-40B4-BE49-F238E27FC236}">
                <a16:creationId xmlns:a16="http://schemas.microsoft.com/office/drawing/2014/main" id="{5D494220-B8FD-A566-B262-B46FC25C82CD}"/>
              </a:ext>
            </a:extLst>
          </p:cNvPr>
          <p:cNvCxnSpPr/>
          <p:nvPr/>
        </p:nvCxnSpPr>
        <p:spPr bwMode="auto">
          <a:xfrm>
            <a:off x="5318479" y="3320494"/>
            <a:ext cx="2232249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9" name="直線矢印コネクタ 88">
            <a:extLst>
              <a:ext uri="{FF2B5EF4-FFF2-40B4-BE49-F238E27FC236}">
                <a16:creationId xmlns:a16="http://schemas.microsoft.com/office/drawing/2014/main" id="{FA02FE21-EE1A-9FFD-BEAD-717036538219}"/>
              </a:ext>
            </a:extLst>
          </p:cNvPr>
          <p:cNvCxnSpPr/>
          <p:nvPr/>
        </p:nvCxnSpPr>
        <p:spPr bwMode="auto">
          <a:xfrm>
            <a:off x="5318479" y="5159985"/>
            <a:ext cx="2232249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90" name="テキスト ボックス 89">
            <a:extLst>
              <a:ext uri="{FF2B5EF4-FFF2-40B4-BE49-F238E27FC236}">
                <a16:creationId xmlns:a16="http://schemas.microsoft.com/office/drawing/2014/main" id="{40F878E2-AAFC-E79A-DD5F-395BEB49FE40}"/>
              </a:ext>
            </a:extLst>
          </p:cNvPr>
          <p:cNvSpPr txBox="1"/>
          <p:nvPr/>
        </p:nvSpPr>
        <p:spPr bwMode="auto">
          <a:xfrm>
            <a:off x="5994716" y="2964119"/>
            <a:ext cx="828091" cy="3693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変換</a:t>
            </a:r>
          </a:p>
        </p:txBody>
      </p:sp>
      <p:sp>
        <p:nvSpPr>
          <p:cNvPr id="91" name="テキスト ボックス 90">
            <a:extLst>
              <a:ext uri="{FF2B5EF4-FFF2-40B4-BE49-F238E27FC236}">
                <a16:creationId xmlns:a16="http://schemas.microsoft.com/office/drawing/2014/main" id="{368E2B68-43BE-8DED-38EF-056DB9EBBBC0}"/>
              </a:ext>
            </a:extLst>
          </p:cNvPr>
          <p:cNvSpPr txBox="1"/>
          <p:nvPr/>
        </p:nvSpPr>
        <p:spPr bwMode="auto">
          <a:xfrm>
            <a:off x="5994716" y="4731608"/>
            <a:ext cx="828091" cy="3693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変換</a:t>
            </a:r>
          </a:p>
        </p:txBody>
      </p:sp>
      <p:sp>
        <p:nvSpPr>
          <p:cNvPr id="92" name="テキスト ボックス 91">
            <a:extLst>
              <a:ext uri="{FF2B5EF4-FFF2-40B4-BE49-F238E27FC236}">
                <a16:creationId xmlns:a16="http://schemas.microsoft.com/office/drawing/2014/main" id="{D4A8E7FF-C9B3-B618-DD1C-89E7A3F02C45}"/>
              </a:ext>
            </a:extLst>
          </p:cNvPr>
          <p:cNvSpPr txBox="1"/>
          <p:nvPr/>
        </p:nvSpPr>
        <p:spPr bwMode="auto">
          <a:xfrm>
            <a:off x="2707653" y="1918404"/>
            <a:ext cx="6843379" cy="338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注：全章分の一括生成はできません。</a:t>
            </a:r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１章ごとに指定する必要があります。</a:t>
            </a:r>
          </a:p>
        </p:txBody>
      </p:sp>
    </p:spTree>
    <p:extLst>
      <p:ext uri="{BB962C8B-B14F-4D97-AF65-F5344CB8AC3E}">
        <p14:creationId xmlns:p14="http://schemas.microsoft.com/office/powerpoint/2010/main" val="3080666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2D42E-BB57-66D2-464B-0789E0087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425F09-610C-EA66-7A8A-BB6ECBDF7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スライド番号つき目次生成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0F78664-FA66-E52F-6C2C-D983D23CE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3</a:t>
            </a:fld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01C2C32-C07A-DC20-C9EF-8042D38501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390546A-27C2-2C22-045B-B527F6551D26}"/>
              </a:ext>
            </a:extLst>
          </p:cNvPr>
          <p:cNvSpPr txBox="1"/>
          <p:nvPr/>
        </p:nvSpPr>
        <p:spPr bwMode="auto">
          <a:xfrm>
            <a:off x="1127453" y="1196752"/>
            <a:ext cx="9577065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少し手間がかかりますがスライド番号つきの目次生成も可能です。</a:t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AE8696C-2A59-0C2F-FBCC-7FAD96DB35D3}"/>
              </a:ext>
            </a:extLst>
          </p:cNvPr>
          <p:cNvSpPr txBox="1"/>
          <p:nvPr/>
        </p:nvSpPr>
        <p:spPr bwMode="auto">
          <a:xfrm>
            <a:off x="2049595" y="2857273"/>
            <a:ext cx="3548340" cy="3434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#RLISTIT#SA#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AF48C41-093A-7040-6078-95ABFF4B2CC2}"/>
              </a:ext>
            </a:extLst>
          </p:cNvPr>
          <p:cNvSpPr txBox="1"/>
          <p:nvPr/>
        </p:nvSpPr>
        <p:spPr bwMode="auto">
          <a:xfrm>
            <a:off x="5288487" y="2857273"/>
            <a:ext cx="2347084" cy="3434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>
              <a:lnSpc>
                <a:spcPct val="120000"/>
              </a:lnSpc>
              <a:defRPr sz="1200" kern="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pPr algn="r"/>
            <a:r>
              <a:rPr lang="en-US" altLang="ja-JP" sz="1600"/>
              <a:t>#RLISTSN#SA#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8F22F95F-AFB1-7BB9-D74F-23E965E70F94}"/>
              </a:ext>
            </a:extLst>
          </p:cNvPr>
          <p:cNvSpPr txBox="1"/>
          <p:nvPr/>
        </p:nvSpPr>
        <p:spPr bwMode="auto">
          <a:xfrm>
            <a:off x="968007" y="1837229"/>
            <a:ext cx="4896544" cy="338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SA</a:t>
            </a:r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に属す</a:t>
            </a:r>
            <a:r>
              <a:rPr kumimoji="1" lang="ja-JP" altLang="en-US" sz="1600" kern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章</a:t>
            </a:r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の章番号＋タイトルに変換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90D056C5-5013-B0B0-112A-F383519F6A55}"/>
              </a:ext>
            </a:extLst>
          </p:cNvPr>
          <p:cNvSpPr txBox="1"/>
          <p:nvPr/>
        </p:nvSpPr>
        <p:spPr bwMode="auto">
          <a:xfrm>
            <a:off x="5375920" y="1837229"/>
            <a:ext cx="4896544" cy="338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kumimoji="1"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SA</a:t>
            </a:r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に属す</a:t>
            </a:r>
            <a:r>
              <a:rPr kumimoji="1" lang="ja-JP" altLang="en-US" sz="1600" kern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章</a:t>
            </a:r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のスライド番号</a:t>
            </a:r>
            <a:r>
              <a:rPr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に変換</a:t>
            </a:r>
            <a:endParaRPr kumimoji="1" lang="ja-JP" altLang="en-US" sz="16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8F62C181-C7AD-C7EC-0F6F-7D36108C7816}"/>
              </a:ext>
            </a:extLst>
          </p:cNvPr>
          <p:cNvCxnSpPr/>
          <p:nvPr/>
        </p:nvCxnSpPr>
        <p:spPr bwMode="auto">
          <a:xfrm>
            <a:off x="2264151" y="2219170"/>
            <a:ext cx="0" cy="360040"/>
          </a:xfrm>
          <a:prstGeom prst="straightConnector1">
            <a:avLst/>
          </a:prstGeom>
          <a:solidFill>
            <a:srgbClr val="CCFFFF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97B43B47-B928-E613-786C-8B2B1BF8EE1C}"/>
              </a:ext>
            </a:extLst>
          </p:cNvPr>
          <p:cNvCxnSpPr/>
          <p:nvPr/>
        </p:nvCxnSpPr>
        <p:spPr bwMode="auto">
          <a:xfrm>
            <a:off x="6872663" y="2227495"/>
            <a:ext cx="0" cy="360040"/>
          </a:xfrm>
          <a:prstGeom prst="straightConnector1">
            <a:avLst/>
          </a:prstGeom>
          <a:solidFill>
            <a:srgbClr val="CCFFFF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F1E3D96D-CDCB-28BC-D984-5F1D9B3AB2FD}"/>
              </a:ext>
            </a:extLst>
          </p:cNvPr>
          <p:cNvSpPr txBox="1"/>
          <p:nvPr/>
        </p:nvSpPr>
        <p:spPr bwMode="auto">
          <a:xfrm>
            <a:off x="1784517" y="2548995"/>
            <a:ext cx="3548340" cy="3434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#RIT#SA#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C870ED76-3482-AF3B-A621-208A20E36F92}"/>
              </a:ext>
            </a:extLst>
          </p:cNvPr>
          <p:cNvSpPr txBox="1"/>
          <p:nvPr/>
        </p:nvSpPr>
        <p:spPr bwMode="auto">
          <a:xfrm>
            <a:off x="5288487" y="2548995"/>
            <a:ext cx="2347084" cy="3434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>
              <a:lnSpc>
                <a:spcPct val="120000"/>
              </a:lnSpc>
              <a:defRPr sz="1200" kern="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pPr algn="r"/>
            <a:r>
              <a:rPr lang="en-US" altLang="ja-JP" sz="1600"/>
              <a:t>#RN#SA#</a:t>
            </a: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9B83C421-5424-3CA8-E599-073E1CB138DF}"/>
              </a:ext>
            </a:extLst>
          </p:cNvPr>
          <p:cNvSpPr/>
          <p:nvPr/>
        </p:nvSpPr>
        <p:spPr bwMode="auto">
          <a:xfrm>
            <a:off x="1688088" y="2516407"/>
            <a:ext cx="6120679" cy="716947"/>
          </a:xfrm>
          <a:prstGeom prst="rect">
            <a:avLst/>
          </a:prstGeom>
          <a:noFill/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algn="ctr" defTabSz="914477" eaLnBrk="1" hangingPunct="1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141621ED-9781-121B-C591-D3746DAF1926}"/>
              </a:ext>
            </a:extLst>
          </p:cNvPr>
          <p:cNvSpPr txBox="1"/>
          <p:nvPr/>
        </p:nvSpPr>
        <p:spPr bwMode="auto">
          <a:xfrm>
            <a:off x="968007" y="3492649"/>
            <a:ext cx="4896544" cy="338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SA</a:t>
            </a:r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に属す</a:t>
            </a:r>
            <a:r>
              <a:rPr kumimoji="1" lang="ja-JP" altLang="en-US" sz="1600" kern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節</a:t>
            </a:r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の章節番号＋タイトル一覧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721AB3FC-CB2E-2A34-8391-AC141F3A5E27}"/>
              </a:ext>
            </a:extLst>
          </p:cNvPr>
          <p:cNvSpPr txBox="1"/>
          <p:nvPr/>
        </p:nvSpPr>
        <p:spPr bwMode="auto">
          <a:xfrm>
            <a:off x="5303912" y="3533538"/>
            <a:ext cx="4896544" cy="338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SA</a:t>
            </a:r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に属す</a:t>
            </a:r>
            <a:r>
              <a:rPr kumimoji="1" lang="ja-JP" altLang="en-US" sz="1600" kern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節</a:t>
            </a:r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のスライド番号一覧</a:t>
            </a:r>
          </a:p>
        </p:txBody>
      </p: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D4609AC0-D2D6-9B26-BC84-FB0460346D58}"/>
              </a:ext>
            </a:extLst>
          </p:cNvPr>
          <p:cNvCxnSpPr/>
          <p:nvPr/>
        </p:nvCxnSpPr>
        <p:spPr bwMode="auto">
          <a:xfrm flipV="1">
            <a:off x="2840215" y="3140051"/>
            <a:ext cx="0" cy="360040"/>
          </a:xfrm>
          <a:prstGeom prst="straightConnector1">
            <a:avLst/>
          </a:prstGeom>
          <a:solidFill>
            <a:srgbClr val="CCFFFF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2" name="直線矢印コネクタ 31">
            <a:extLst>
              <a:ext uri="{FF2B5EF4-FFF2-40B4-BE49-F238E27FC236}">
                <a16:creationId xmlns:a16="http://schemas.microsoft.com/office/drawing/2014/main" id="{898514F6-568F-51FA-988C-36AE5F01104B}"/>
              </a:ext>
            </a:extLst>
          </p:cNvPr>
          <p:cNvCxnSpPr/>
          <p:nvPr/>
        </p:nvCxnSpPr>
        <p:spPr bwMode="auto">
          <a:xfrm flipV="1">
            <a:off x="6368607" y="3148376"/>
            <a:ext cx="0" cy="360040"/>
          </a:xfrm>
          <a:prstGeom prst="straightConnector1">
            <a:avLst/>
          </a:prstGeom>
          <a:solidFill>
            <a:srgbClr val="CCFFFF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C32722DC-838D-9E61-3A6C-0FE14197FCAF}"/>
              </a:ext>
            </a:extLst>
          </p:cNvPr>
          <p:cNvSpPr txBox="1"/>
          <p:nvPr/>
        </p:nvSpPr>
        <p:spPr bwMode="auto">
          <a:xfrm>
            <a:off x="9048328" y="1986513"/>
            <a:ext cx="2532768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85750" indent="-285750" eaLnBrk="1">
              <a:buFont typeface="Arial" panose="020B0604020202020204" pitchFamily="34" charset="0"/>
              <a:buChar char="•"/>
            </a:pPr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#RLISTIT# </a:t>
            </a:r>
            <a:r>
              <a:rPr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と </a:t>
            </a:r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#RLISTSN# </a:t>
            </a:r>
            <a:r>
              <a:rPr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は「節」の一覧を出すので、通常は複数行になります</a:t>
            </a:r>
            <a:endParaRPr lang="en-US" altLang="ja-JP" sz="14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285750" indent="-285750" eaLnBrk="1">
              <a:buFont typeface="Arial" panose="020B0604020202020204" pitchFamily="34" charset="0"/>
              <a:buChar char="•"/>
            </a:pPr>
            <a:endParaRPr lang="en-US" altLang="ja-JP" sz="14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285750" indent="-285750" eaLnBrk="1">
              <a:buFont typeface="Arial" panose="020B0604020202020204" pitchFamily="34" charset="0"/>
              <a:buChar char="•"/>
            </a:pPr>
            <a:r>
              <a:rPr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全章分の一括生成はできません。１章ごとに指定する必要があります。</a:t>
            </a:r>
            <a:endParaRPr lang="en-US" altLang="ja-JP" sz="14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37" name="図 36">
            <a:extLst>
              <a:ext uri="{FF2B5EF4-FFF2-40B4-BE49-F238E27FC236}">
                <a16:creationId xmlns:a16="http://schemas.microsoft.com/office/drawing/2014/main" id="{032ED670-823E-4C25-5E2E-45CFA07002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1070" y="4770065"/>
            <a:ext cx="5196180" cy="1723400"/>
          </a:xfrm>
          <a:prstGeom prst="rect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0FB775DF-B46A-A373-E00F-15061EBE584F}"/>
              </a:ext>
            </a:extLst>
          </p:cNvPr>
          <p:cNvSpPr txBox="1"/>
          <p:nvPr/>
        </p:nvSpPr>
        <p:spPr bwMode="auto">
          <a:xfrm>
            <a:off x="4369568" y="4371695"/>
            <a:ext cx="3570726" cy="338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目次生成結果のイメージ</a:t>
            </a:r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E5481C01-D13D-EBFC-653F-91187AD4D373}"/>
              </a:ext>
            </a:extLst>
          </p:cNvPr>
          <p:cNvSpPr txBox="1"/>
          <p:nvPr/>
        </p:nvSpPr>
        <p:spPr bwMode="auto">
          <a:xfrm>
            <a:off x="623392" y="4788091"/>
            <a:ext cx="1815625" cy="338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#RIT# </a:t>
            </a:r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を変換</a:t>
            </a:r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BD18955B-CE61-C5EC-9A0C-44159B47FE63}"/>
              </a:ext>
            </a:extLst>
          </p:cNvPr>
          <p:cNvSpPr txBox="1"/>
          <p:nvPr/>
        </p:nvSpPr>
        <p:spPr bwMode="auto">
          <a:xfrm>
            <a:off x="9277218" y="4788091"/>
            <a:ext cx="1815625" cy="338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#RN# </a:t>
            </a:r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を変換</a:t>
            </a:r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CF18C5F0-536C-EBBD-5FAE-500ED6730AE4}"/>
              </a:ext>
            </a:extLst>
          </p:cNvPr>
          <p:cNvSpPr txBox="1"/>
          <p:nvPr/>
        </p:nvSpPr>
        <p:spPr bwMode="auto">
          <a:xfrm>
            <a:off x="623392" y="5589009"/>
            <a:ext cx="1640759" cy="584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#RLISTIT# </a:t>
            </a:r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を変換</a:t>
            </a:r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95025312-3BE1-483C-EDBD-47826718146E}"/>
              </a:ext>
            </a:extLst>
          </p:cNvPr>
          <p:cNvSpPr txBox="1"/>
          <p:nvPr/>
        </p:nvSpPr>
        <p:spPr bwMode="auto">
          <a:xfrm>
            <a:off x="9277219" y="5589009"/>
            <a:ext cx="1643318" cy="584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#RLISTSN# </a:t>
            </a:r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を変換</a:t>
            </a:r>
          </a:p>
        </p:txBody>
      </p:sp>
      <p:sp>
        <p:nvSpPr>
          <p:cNvPr id="54" name="右中かっこ 53">
            <a:extLst>
              <a:ext uri="{FF2B5EF4-FFF2-40B4-BE49-F238E27FC236}">
                <a16:creationId xmlns:a16="http://schemas.microsoft.com/office/drawing/2014/main" id="{0363F56B-6091-7879-50A9-F9752D8252AD}"/>
              </a:ext>
            </a:extLst>
          </p:cNvPr>
          <p:cNvSpPr/>
          <p:nvPr/>
        </p:nvSpPr>
        <p:spPr bwMode="auto">
          <a:xfrm flipH="1">
            <a:off x="2900668" y="5269329"/>
            <a:ext cx="293504" cy="1224136"/>
          </a:xfrm>
          <a:prstGeom prst="rightBrace">
            <a:avLst>
              <a:gd name="adj1" fmla="val 56454"/>
              <a:gd name="adj2" fmla="val 50299"/>
            </a:avLst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6" name="直線矢印コネクタ 55">
            <a:extLst>
              <a:ext uri="{FF2B5EF4-FFF2-40B4-BE49-F238E27FC236}">
                <a16:creationId xmlns:a16="http://schemas.microsoft.com/office/drawing/2014/main" id="{1D5B2302-3BC3-CCBF-649A-915709897367}"/>
              </a:ext>
            </a:extLst>
          </p:cNvPr>
          <p:cNvCxnSpPr/>
          <p:nvPr/>
        </p:nvCxnSpPr>
        <p:spPr bwMode="auto">
          <a:xfrm>
            <a:off x="2269868" y="4957369"/>
            <a:ext cx="777552" cy="0"/>
          </a:xfrm>
          <a:prstGeom prst="straightConnector1">
            <a:avLst/>
          </a:prstGeom>
          <a:solidFill>
            <a:srgbClr val="CCFFFF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9" name="直線矢印コネクタ 58">
            <a:extLst>
              <a:ext uri="{FF2B5EF4-FFF2-40B4-BE49-F238E27FC236}">
                <a16:creationId xmlns:a16="http://schemas.microsoft.com/office/drawing/2014/main" id="{D2104119-9204-6E64-7C7D-F2F090FE7813}"/>
              </a:ext>
            </a:extLst>
          </p:cNvPr>
          <p:cNvCxnSpPr>
            <a:stCxn id="52" idx="3"/>
            <a:endCxn id="54" idx="1"/>
          </p:cNvCxnSpPr>
          <p:nvPr/>
        </p:nvCxnSpPr>
        <p:spPr bwMode="auto">
          <a:xfrm>
            <a:off x="2264151" y="5881398"/>
            <a:ext cx="636517" cy="3659"/>
          </a:xfrm>
          <a:prstGeom prst="straightConnector1">
            <a:avLst/>
          </a:prstGeom>
          <a:solidFill>
            <a:srgbClr val="CCFFFF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6" name="右中かっこ 65">
            <a:extLst>
              <a:ext uri="{FF2B5EF4-FFF2-40B4-BE49-F238E27FC236}">
                <a16:creationId xmlns:a16="http://schemas.microsoft.com/office/drawing/2014/main" id="{03FC5E7C-C664-03FF-B162-461E5846A74B}"/>
              </a:ext>
            </a:extLst>
          </p:cNvPr>
          <p:cNvSpPr/>
          <p:nvPr/>
        </p:nvSpPr>
        <p:spPr bwMode="auto">
          <a:xfrm>
            <a:off x="8565709" y="5269329"/>
            <a:ext cx="293504" cy="1224136"/>
          </a:xfrm>
          <a:prstGeom prst="rightBrace">
            <a:avLst>
              <a:gd name="adj1" fmla="val 56454"/>
              <a:gd name="adj2" fmla="val 50299"/>
            </a:avLst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7" name="直線矢印コネクタ 66">
            <a:extLst>
              <a:ext uri="{FF2B5EF4-FFF2-40B4-BE49-F238E27FC236}">
                <a16:creationId xmlns:a16="http://schemas.microsoft.com/office/drawing/2014/main" id="{E7EB5297-221D-4464-038D-D007C0873DE2}"/>
              </a:ext>
            </a:extLst>
          </p:cNvPr>
          <p:cNvCxnSpPr>
            <a:stCxn id="53" idx="1"/>
            <a:endCxn id="66" idx="1"/>
          </p:cNvCxnSpPr>
          <p:nvPr/>
        </p:nvCxnSpPr>
        <p:spPr bwMode="auto">
          <a:xfrm flipH="1">
            <a:off x="8859213" y="5881398"/>
            <a:ext cx="418006" cy="3659"/>
          </a:xfrm>
          <a:prstGeom prst="straightConnector1">
            <a:avLst/>
          </a:prstGeom>
          <a:solidFill>
            <a:srgbClr val="CCFFFF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0" name="直線矢印コネクタ 69">
            <a:extLst>
              <a:ext uri="{FF2B5EF4-FFF2-40B4-BE49-F238E27FC236}">
                <a16:creationId xmlns:a16="http://schemas.microsoft.com/office/drawing/2014/main" id="{383D7B2E-D4F1-9D39-4251-896960878ABE}"/>
              </a:ext>
            </a:extLst>
          </p:cNvPr>
          <p:cNvCxnSpPr/>
          <p:nvPr/>
        </p:nvCxnSpPr>
        <p:spPr bwMode="auto">
          <a:xfrm flipH="1">
            <a:off x="8556784" y="4957369"/>
            <a:ext cx="777552" cy="0"/>
          </a:xfrm>
          <a:prstGeom prst="straightConnector1">
            <a:avLst/>
          </a:prstGeom>
          <a:solidFill>
            <a:srgbClr val="CCFFFF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2" name="直線コネクタ 71">
            <a:extLst>
              <a:ext uri="{FF2B5EF4-FFF2-40B4-BE49-F238E27FC236}">
                <a16:creationId xmlns:a16="http://schemas.microsoft.com/office/drawing/2014/main" id="{0DD17982-1770-4810-0D5E-74571C51A77E}"/>
              </a:ext>
            </a:extLst>
          </p:cNvPr>
          <p:cNvCxnSpPr/>
          <p:nvPr/>
        </p:nvCxnSpPr>
        <p:spPr bwMode="auto">
          <a:xfrm>
            <a:off x="424760" y="4128889"/>
            <a:ext cx="11482206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7511835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932F5-F04B-2663-14C3-21418413F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表 28">
            <a:extLst>
              <a:ext uri="{FF2B5EF4-FFF2-40B4-BE49-F238E27FC236}">
                <a16:creationId xmlns:a16="http://schemas.microsoft.com/office/drawing/2014/main" id="{AF1BD1EC-FD0E-A2D4-4624-B110507461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8071442"/>
              </p:ext>
            </p:extLst>
          </p:nvPr>
        </p:nvGraphicFramePr>
        <p:xfrm>
          <a:off x="2580059" y="3521104"/>
          <a:ext cx="8127999" cy="28619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67869">
                  <a:extLst>
                    <a:ext uri="{9D8B030D-6E8A-4147-A177-3AD203B41FA5}">
                      <a16:colId xmlns:a16="http://schemas.microsoft.com/office/drawing/2014/main" val="1463709558"/>
                    </a:ext>
                  </a:extLst>
                </a:gridCol>
                <a:gridCol w="2550797">
                  <a:extLst>
                    <a:ext uri="{9D8B030D-6E8A-4147-A177-3AD203B41FA5}">
                      <a16:colId xmlns:a16="http://schemas.microsoft.com/office/drawing/2014/main" val="86683042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242915501"/>
                    </a:ext>
                  </a:extLst>
                </a:gridCol>
              </a:tblGrid>
              <a:tr h="334834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b="1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R</a:t>
                      </a:r>
                      <a:r>
                        <a:rPr kumimoji="1" lang="ja-JP" altLang="en-US" sz="1400" b="1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タグ記載例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b="1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変換結果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b="1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意味あい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6221730"/>
                  </a:ext>
                </a:extLst>
              </a:tr>
              <a:tr h="3348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1" kern="0" spc="400" baseline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#RI#SA.P1#</a:t>
                      </a:r>
                      <a:endParaRPr kumimoji="1" lang="ja-JP" altLang="en-US" sz="1400" b="1" spc="400" baseline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b="1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1.1</a:t>
                      </a:r>
                      <a:endParaRPr kumimoji="1" lang="ja-JP" altLang="en-US" sz="1400" b="1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kern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章節番号</a:t>
                      </a:r>
                      <a:endParaRPr kumimoji="1" lang="ja-JP" altLang="en-US" sz="1400" b="1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0158647"/>
                  </a:ext>
                </a:extLst>
              </a:tr>
              <a:tr h="3348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1" kern="0" spc="400" baseline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#RT#SA.P1#</a:t>
                      </a:r>
                      <a:endParaRPr kumimoji="1" lang="ja-JP" altLang="en-US" sz="1400" b="1" spc="400" baseline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b="1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引用元タイトル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kern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タイトル</a:t>
                      </a:r>
                      <a:endParaRPr kumimoji="1" lang="ja-JP" altLang="en-US" sz="1400" b="1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244298"/>
                  </a:ext>
                </a:extLst>
              </a:tr>
              <a:tr h="3348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1" kern="0" spc="400" baseline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#RIT#SA.P1#</a:t>
                      </a:r>
                      <a:endParaRPr kumimoji="1" lang="ja-JP" altLang="en-US" sz="1400" b="1" spc="400" baseline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b="1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1.1)</a:t>
                      </a:r>
                      <a:r>
                        <a:rPr kumimoji="1" lang="ja-JP" altLang="en-US" sz="1400" b="1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　引用元タイトル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kern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章節番号＋タイトル</a:t>
                      </a:r>
                      <a:endParaRPr kumimoji="1" lang="ja-JP" altLang="en-US" sz="1400" b="1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024766"/>
                  </a:ext>
                </a:extLst>
              </a:tr>
              <a:tr h="3348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1" spc="400" baseline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#RSIT#SA.P1#  </a:t>
                      </a:r>
                      <a:r>
                        <a:rPr kumimoji="1" lang="en-US" altLang="ja-JP" sz="1400" b="1" spc="0" baseline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TRAILER</a:t>
                      </a:r>
                      <a:endParaRPr kumimoji="1" lang="ja-JP" altLang="en-US" sz="1400" b="1" spc="0" baseline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1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1.1)</a:t>
                      </a:r>
                      <a:r>
                        <a:rPr kumimoji="1" lang="ja-JP" altLang="en-US" sz="1400" b="1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　引用元タイトル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b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#RIT#</a:t>
                      </a:r>
                      <a:r>
                        <a:rPr kumimoji="1" lang="ja-JP" altLang="en-US" sz="1400" b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と同じだが </a:t>
                      </a:r>
                      <a:r>
                        <a:rPr kumimoji="1" lang="en-US" altLang="ja-JP" sz="1400" b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TRAILER</a:t>
                      </a:r>
                      <a:r>
                        <a:rPr kumimoji="1" lang="ja-JP" altLang="en-US" sz="1400" b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部分の文字列を消去する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2886203"/>
                  </a:ext>
                </a:extLst>
              </a:tr>
              <a:tr h="3348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1" kern="0" spc="400" baseline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#RN#SA.P1#</a:t>
                      </a:r>
                      <a:endParaRPr kumimoji="1" lang="ja-JP" altLang="en-US" sz="1400" b="1" spc="400" baseline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b="1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3</a:t>
                      </a:r>
                      <a:endParaRPr kumimoji="1" lang="ja-JP" altLang="en-US" sz="1400" b="1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kern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スライド番号</a:t>
                      </a:r>
                      <a:endParaRPr kumimoji="1" lang="ja-JP" altLang="en-US" sz="1400" b="1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8374753"/>
                  </a:ext>
                </a:extLst>
              </a:tr>
              <a:tr h="3348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1" spc="400" baseline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#RLISTIT#SA#</a:t>
                      </a:r>
                      <a:endParaRPr kumimoji="1" lang="ja-JP" altLang="en-US" sz="1400" b="1" spc="400" baseline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kumimoji="1" lang="ja-JP" altLang="en-US" sz="1400" b="1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目次生成用、「スライド番号つき目次生成」を参照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 b="1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7233530"/>
                  </a:ext>
                </a:extLst>
              </a:tr>
              <a:tr h="3348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b="1" spc="400" baseline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#RLISTSN#SA#</a:t>
                      </a:r>
                      <a:endParaRPr kumimoji="1" lang="ja-JP" altLang="en-US" sz="1400" b="1" spc="400" baseline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 b="1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目次生成用、「スライド番号つき目次生成」を参照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5385430"/>
                  </a:ext>
                </a:extLst>
              </a:tr>
            </a:tbl>
          </a:graphicData>
        </a:graphic>
      </p:graphicFrame>
      <p:sp>
        <p:nvSpPr>
          <p:cNvPr id="2" name="タイトル 1">
            <a:extLst>
              <a:ext uri="{FF2B5EF4-FFF2-40B4-BE49-F238E27FC236}">
                <a16:creationId xmlns:a16="http://schemas.microsoft.com/office/drawing/2014/main" id="{25214BDD-0BC6-E38B-8E00-2898854FA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引用タグ（</a:t>
            </a:r>
            <a:r>
              <a:rPr lang="en-US" altLang="ja-JP"/>
              <a:t>R</a:t>
            </a:r>
            <a:r>
              <a:rPr lang="ja-JP" altLang="en-US"/>
              <a:t>）の使用例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AC01ED9-8C5E-69C1-C7AA-995501FC5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4</a:t>
            </a:fld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19B2061-FB25-FE1B-5387-794CFB446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BC1FEAA-CC39-8DE6-A8E0-1C09C1FEDE2F}"/>
              </a:ext>
            </a:extLst>
          </p:cNvPr>
          <p:cNvSpPr txBox="1"/>
          <p:nvPr/>
        </p:nvSpPr>
        <p:spPr bwMode="auto">
          <a:xfrm>
            <a:off x="1127453" y="1196752"/>
            <a:ext cx="9577065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R</a:t>
            </a:r>
            <a:r>
              <a:rPr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タグにはいくつかのバリエーションがあります。</a:t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6BFFE242-71DD-508D-83C3-1CC08E0475B2}"/>
              </a:ext>
            </a:extLst>
          </p:cNvPr>
          <p:cNvSpPr/>
          <p:nvPr/>
        </p:nvSpPr>
        <p:spPr bwMode="auto">
          <a:xfrm>
            <a:off x="2580059" y="2030797"/>
            <a:ext cx="3299917" cy="400112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algn="ctr" defTabSz="914477" eaLnBrk="1" hangingPunct="1"/>
            <a:r>
              <a:rPr lang="en-US" altLang="ja-JP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#DT#SA.P1#) </a:t>
            </a:r>
            <a:r>
              <a:rPr lang="ja-JP" altLang="en-US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引用元タイトル</a:t>
            </a:r>
            <a:endParaRPr kumimoji="1" lang="ja-JP" altLang="en-US" sz="14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099F8440-DBB9-1AB7-077D-356FE7A81565}"/>
              </a:ext>
            </a:extLst>
          </p:cNvPr>
          <p:cNvCxnSpPr/>
          <p:nvPr/>
        </p:nvCxnSpPr>
        <p:spPr bwMode="auto">
          <a:xfrm>
            <a:off x="4151784" y="2472030"/>
            <a:ext cx="0" cy="268706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7C7F86A6-460D-2413-226A-3DA2C2B27BC7}"/>
              </a:ext>
            </a:extLst>
          </p:cNvPr>
          <p:cNvSpPr txBox="1"/>
          <p:nvPr/>
        </p:nvSpPr>
        <p:spPr bwMode="auto">
          <a:xfrm>
            <a:off x="551384" y="2030797"/>
            <a:ext cx="1936687" cy="338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r" eaLnBrk="1"/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元の</a:t>
            </a:r>
            <a:r>
              <a:rPr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DT</a:t>
            </a:r>
            <a:r>
              <a:rPr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タグ</a:t>
            </a:r>
            <a:endParaRPr kumimoji="1" lang="ja-JP" altLang="en-US" sz="16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B3A6E316-ADEF-81AA-0301-4CC5F203278E}"/>
              </a:ext>
            </a:extLst>
          </p:cNvPr>
          <p:cNvSpPr/>
          <p:nvPr/>
        </p:nvSpPr>
        <p:spPr bwMode="auto">
          <a:xfrm>
            <a:off x="2580059" y="2740736"/>
            <a:ext cx="3299917" cy="400112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algn="ctr" defTabSz="914477" eaLnBrk="1" hangingPunct="1"/>
            <a:r>
              <a:rPr lang="en-US" altLang="ja-JP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1.1) </a:t>
            </a:r>
            <a:r>
              <a:rPr lang="ja-JP" altLang="en-US" sz="1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引用元タイトル</a:t>
            </a:r>
            <a:endParaRPr kumimoji="1" lang="ja-JP" altLang="en-US" sz="14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EEF7DB90-F0E2-DADD-279E-2B8C10388D72}"/>
              </a:ext>
            </a:extLst>
          </p:cNvPr>
          <p:cNvSpPr txBox="1"/>
          <p:nvPr/>
        </p:nvSpPr>
        <p:spPr bwMode="auto">
          <a:xfrm>
            <a:off x="551384" y="2740736"/>
            <a:ext cx="1936687" cy="338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r" eaLnBrk="1"/>
            <a:r>
              <a:rPr kumimoji="1"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DT</a:t>
            </a:r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タグの変換結果</a:t>
            </a:r>
          </a:p>
        </p:txBody>
      </p:sp>
      <p:cxnSp>
        <p:nvCxnSpPr>
          <p:cNvPr id="38" name="直線矢印コネクタ 37">
            <a:extLst>
              <a:ext uri="{FF2B5EF4-FFF2-40B4-BE49-F238E27FC236}">
                <a16:creationId xmlns:a16="http://schemas.microsoft.com/office/drawing/2014/main" id="{E32001A3-C211-DE4A-D40D-68515904B812}"/>
              </a:ext>
            </a:extLst>
          </p:cNvPr>
          <p:cNvCxnSpPr/>
          <p:nvPr/>
        </p:nvCxnSpPr>
        <p:spPr bwMode="auto">
          <a:xfrm>
            <a:off x="4151784" y="3192880"/>
            <a:ext cx="0" cy="295577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F980B735-3185-0893-0F93-41680EA4325F}"/>
              </a:ext>
            </a:extLst>
          </p:cNvPr>
          <p:cNvSpPr txBox="1"/>
          <p:nvPr/>
        </p:nvSpPr>
        <p:spPr bwMode="auto">
          <a:xfrm>
            <a:off x="551384" y="4434412"/>
            <a:ext cx="1936687" cy="830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r" eaLnBrk="1"/>
            <a:r>
              <a:rPr kumimoji="1"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R</a:t>
            </a:r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タグでの</a:t>
            </a:r>
            <a:endParaRPr kumimoji="1" lang="en-US" altLang="ja-JP" sz="16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r" eaLnBrk="1"/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引用形式と</a:t>
            </a:r>
            <a:endParaRPr kumimoji="1" lang="en-US" altLang="ja-JP" sz="16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r" eaLnBrk="1"/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その変換結果</a:t>
            </a: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628BA129-C903-DDCC-0C2D-81F568A0CD91}"/>
              </a:ext>
            </a:extLst>
          </p:cNvPr>
          <p:cNvSpPr txBox="1"/>
          <p:nvPr/>
        </p:nvSpPr>
        <p:spPr bwMode="auto">
          <a:xfrm>
            <a:off x="6888089" y="2025576"/>
            <a:ext cx="4248471" cy="338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これが</a:t>
            </a:r>
            <a:r>
              <a:rPr kumimoji="1"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枚目のスライドにあったとします</a:t>
            </a: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E95DC6F4-C84B-F57D-0819-79B05626FB44}"/>
              </a:ext>
            </a:extLst>
          </p:cNvPr>
          <p:cNvSpPr txBox="1"/>
          <p:nvPr/>
        </p:nvSpPr>
        <p:spPr bwMode="auto">
          <a:xfrm>
            <a:off x="5971965" y="2030797"/>
            <a:ext cx="916124" cy="338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eaLnBrk="1"/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・・・・・</a:t>
            </a:r>
          </a:p>
        </p:txBody>
      </p:sp>
    </p:spTree>
    <p:extLst>
      <p:ext uri="{BB962C8B-B14F-4D97-AF65-F5344CB8AC3E}">
        <p14:creationId xmlns:p14="http://schemas.microsoft.com/office/powerpoint/2010/main" val="26373020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0DD9D-EFE0-E190-DD34-B87723371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0322E5CC-E26C-657C-A91F-29EA9C848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確認方法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0AD6836-6AB0-5DDA-262C-517F4383344E}"/>
              </a:ext>
            </a:extLst>
          </p:cNvPr>
          <p:cNvSpPr/>
          <p:nvPr/>
        </p:nvSpPr>
        <p:spPr bwMode="auto">
          <a:xfrm>
            <a:off x="1163452" y="1771152"/>
            <a:ext cx="10261140" cy="418202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defTabSz="914477" eaLnBrk="1" hangingPunct="1"/>
            <a:r>
              <a:rPr kumimoji="1" lang="en-US" altLang="ja-JP" sz="1600">
                <a:latin typeface="Source Code Pro Semibold" panose="020B0609030403020204" pitchFamily="49" charset="0"/>
                <a:ea typeface="Source Code Pro Semibold" panose="020B0609030403020204" pitchFamily="49" charset="0"/>
              </a:rPr>
              <a:t>python pptx-indexer.py 02_DTSample.pptx</a:t>
            </a:r>
            <a:endParaRPr kumimoji="1" lang="ja-JP" altLang="en-US" sz="1600">
              <a:latin typeface="Source Code Pro Semibold" panose="020B0609030403020204" pitchFamily="49" charset="0"/>
              <a:ea typeface="BIZ UDPゴシック" panose="020B0400000000000000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0622CBD-4F81-E7B5-422F-DB5C59488CA7}"/>
              </a:ext>
            </a:extLst>
          </p:cNvPr>
          <p:cNvSpPr/>
          <p:nvPr/>
        </p:nvSpPr>
        <p:spPr bwMode="auto">
          <a:xfrm>
            <a:off x="767408" y="2225916"/>
            <a:ext cx="5832648" cy="418202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defTabSz="914477" eaLnBrk="1" hangingPunct="1"/>
            <a:r>
              <a:rPr kumimoji="1"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結果 </a:t>
            </a:r>
            <a:r>
              <a:rPr kumimoji="1" lang="en-US" altLang="ja-JP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en-US" altLang="ja-JP" sz="1800">
                <a:latin typeface="Source Code Pro Semibold" panose="020B0609030403020204" pitchFamily="49" charset="0"/>
                <a:ea typeface="Source Code Pro Semibold" panose="020B0609030403020204" pitchFamily="49" charset="0"/>
              </a:rPr>
              <a:t>_generated</a:t>
            </a:r>
            <a:r>
              <a:rPr kumimoji="1" lang="en-US" altLang="ja-JP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kumimoji="1"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が付加される</a:t>
            </a:r>
            <a:r>
              <a:rPr kumimoji="1" lang="en-US" altLang="ja-JP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8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F64814C-807D-0EFA-FB96-DA89ADDB66E3}"/>
              </a:ext>
            </a:extLst>
          </p:cNvPr>
          <p:cNvSpPr/>
          <p:nvPr/>
        </p:nvSpPr>
        <p:spPr bwMode="auto">
          <a:xfrm>
            <a:off x="1163452" y="2655621"/>
            <a:ext cx="10261140" cy="418202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defTabSz="914477" eaLnBrk="1" hangingPunct="1"/>
            <a:r>
              <a:rPr kumimoji="1" lang="en-US" altLang="ja-JP" sz="1600">
                <a:latin typeface="Source Code Pro Semibold" panose="020B0609030403020204" pitchFamily="49" charset="0"/>
                <a:ea typeface="Source Code Pro Semibold" panose="020B0609030403020204" pitchFamily="49" charset="0"/>
              </a:rPr>
              <a:t>02_DTSample_generated.pptx</a:t>
            </a:r>
            <a:endParaRPr kumimoji="1" lang="ja-JP" altLang="en-US" sz="1600">
              <a:latin typeface="Source Code Pro Semibold" panose="020B0609030403020204" pitchFamily="49" charset="0"/>
              <a:ea typeface="BIZ UDPゴシック" panose="020B0400000000000000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6718D0F8-ED45-1539-DB07-FA507A333021}"/>
              </a:ext>
            </a:extLst>
          </p:cNvPr>
          <p:cNvSpPr/>
          <p:nvPr/>
        </p:nvSpPr>
        <p:spPr bwMode="auto">
          <a:xfrm>
            <a:off x="767408" y="1247661"/>
            <a:ext cx="10441160" cy="418202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defTabSz="914477" eaLnBrk="1" hangingPunct="1"/>
            <a:r>
              <a:rPr kumimoji="1"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以下のように起動します</a:t>
            </a:r>
          </a:p>
        </p:txBody>
      </p:sp>
    </p:spTree>
    <p:extLst>
      <p:ext uri="{BB962C8B-B14F-4D97-AF65-F5344CB8AC3E}">
        <p14:creationId xmlns:p14="http://schemas.microsoft.com/office/powerpoint/2010/main" val="1006638437"/>
      </p:ext>
    </p:extLst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ユーザー定義 1">
      <a:dk1>
        <a:srgbClr val="292929"/>
      </a:dk1>
      <a:lt1>
        <a:sysClr val="window" lastClr="FFFFFF"/>
      </a:lt1>
      <a:dk2>
        <a:srgbClr val="244242"/>
      </a:dk2>
      <a:lt2>
        <a:srgbClr val="FFFFFF"/>
      </a:lt2>
      <a:accent1>
        <a:srgbClr val="51BD9C"/>
      </a:accent1>
      <a:accent2>
        <a:srgbClr val="FF2121"/>
      </a:accent2>
      <a:accent3>
        <a:srgbClr val="A3E3B1"/>
      </a:accent3>
      <a:accent4>
        <a:srgbClr val="FFE8B3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ユーザー定義 1">
      <a:majorFont>
        <a:latin typeface="Calibri"/>
        <a:ea typeface="メイリオ"/>
        <a:cs typeface=""/>
      </a:majorFont>
      <a:minorFont>
        <a:latin typeface="Calibri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 cap="flat" cmpd="sng" algn="ctr">
          <a:solidFill>
            <a:schemeClr val="tx1">
              <a:lumMod val="75000"/>
              <a:lumOff val="25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rtlCol="0" anchor="t" anchorCtr="0" compatLnSpc="1">
        <a:prstTxWarp prst="textNoShape">
          <a:avLst/>
        </a:prstTxWarp>
      </a:bodyPr>
      <a:lstStyle>
        <a:defPPr algn="ctr" defTabSz="914477" eaLnBrk="1" hangingPunct="1">
          <a:defRPr kumimoji="1"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spDef>
    <a:lnDef>
      <a:spPr bwMode="auto">
        <a:solidFill>
          <a:srgbClr val="CCFFFF"/>
        </a:solidFill>
        <a:ln w="28575" cap="flat" cmpd="sng" algn="ctr">
          <a:solidFill>
            <a:schemeClr val="tx1">
              <a:lumMod val="75000"/>
              <a:lumOff val="25000"/>
            </a:schemeClr>
          </a:solidFill>
          <a:prstDash val="solid"/>
          <a:round/>
          <a:headEnd type="none" w="med" len="med"/>
          <a:tailEnd type="triangle"/>
        </a:ln>
        <a:effectLst/>
      </a:spPr>
      <a:bodyPr/>
      <a:lstStyle/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vert="horz" wrap="square" lIns="91440" tIns="45721" rIns="91440" bIns="45721" numCol="1" rtlCol="0" anchor="t" anchorCtr="0" compatLnSpc="1">
        <a:prstTxWarp prst="textNoShape">
          <a:avLst/>
        </a:prstTxWarp>
        <a:spAutoFit/>
      </a:bodyPr>
      <a:lstStyle>
        <a:defPPr algn="l" eaLnBrk="1">
          <a:defRPr kern="0" smtClean="0"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tx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図解技法による分かりやすい資料の作成講座-20181121・講師用</Template>
  <TotalTime>21672</TotalTime>
  <Words>674</Words>
  <Application>Microsoft Office PowerPoint</Application>
  <PresentationFormat>ワイド画面</PresentationFormat>
  <Paragraphs>115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8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5" baseType="lpstr">
      <vt:lpstr>BIZ UDPゴシック</vt:lpstr>
      <vt:lpstr>BIZ UDゴシック</vt:lpstr>
      <vt:lpstr>FOT-UD丸ゴ_ラージ Pr6 M</vt:lpstr>
      <vt:lpstr>游ゴシック</vt:lpstr>
      <vt:lpstr>Arial</vt:lpstr>
      <vt:lpstr>Garamond</vt:lpstr>
      <vt:lpstr>Source Code Pro Semibold</vt:lpstr>
      <vt:lpstr>Wingdings</vt:lpstr>
      <vt:lpstr>Edge</vt:lpstr>
      <vt:lpstr>02_DTSample</vt:lpstr>
      <vt:lpstr>RITタグにDTコードを使って引用元を記載できる</vt:lpstr>
      <vt:lpstr>章単位でページ一覧を作れる（目次作成に便利）</vt:lpstr>
      <vt:lpstr>スライド番号つき目次生成</vt:lpstr>
      <vt:lpstr>引用タグ（R）の使用例</vt:lpstr>
      <vt:lpstr>確認方法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開米瑞浩</dc:creator>
  <cp:lastModifiedBy>瑞浩 開米</cp:lastModifiedBy>
  <cp:revision>1896</cp:revision>
  <cp:lastPrinted>2024-11-10T09:08:11Z</cp:lastPrinted>
  <dcterms:modified xsi:type="dcterms:W3CDTF">2025-03-08T15:00:34Z</dcterms:modified>
</cp:coreProperties>
</file>