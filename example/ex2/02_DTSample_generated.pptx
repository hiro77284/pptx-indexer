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"/>
  </p:notesMasterIdLst>
  <p:sldIdLst>
    <p:sldId id="1682" r:id="rId2"/>
    <p:sldId id="1714" r:id="rId3"/>
    <p:sldId id="1688" r:id="rId4"/>
    <p:sldId id="1706" r:id="rId5"/>
    <p:sldId id="1710" r:id="rId6"/>
    <p:sldId id="1713" r:id="rId7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95" d="100"/>
          <a:sy n="95" d="100"/>
        </p:scale>
        <p:origin x="49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844824"/>
            <a:ext cx="10164233" cy="1033760"/>
          </a:xfrm>
        </p:spPr>
        <p:txBody>
          <a:bodyPr/>
          <a:lstStyle/>
          <a:p>
            <a:r>
              <a:rPr kumimoji="1" lang="en-US" altLang="ja-JP"/>
              <a:t>02_DTSample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2025/3/7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708920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pptx-indexer.py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ファイルへの引用参照や目次作成機能のサンプルです。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DT</a:t>
            </a:r>
            <a:r>
              <a:rPr lang="ja-JP" altLang="en-US" sz="2800">
                <a:solidFill>
                  <a:schemeClr val="tx1"/>
                </a:solidFill>
              </a:rPr>
              <a:t>コードを使って引用元を記載できる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1045392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RIT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タグで引用元の</a:t>
            </a:r>
            <a:r>
              <a:rPr kumimoji="1" lang="en-US" altLang="ja-JP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タグコードを記載すると、章・節番号＋タイトルに変換されます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F10B1A-854B-9C8F-F9E0-F19399950C24}"/>
              </a:ext>
            </a:extLst>
          </p:cNvPr>
          <p:cNvSpPr/>
          <p:nvPr/>
        </p:nvSpPr>
        <p:spPr bwMode="auto">
          <a:xfrm>
            <a:off x="1775520" y="2498273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ABC55-2FBE-50F0-8BD5-925235B5229F}"/>
              </a:ext>
            </a:extLst>
          </p:cNvPr>
          <p:cNvSpPr txBox="1"/>
          <p:nvPr/>
        </p:nvSpPr>
        <p:spPr bwMode="auto">
          <a:xfrm>
            <a:off x="1775519" y="2562991"/>
            <a:ext cx="2916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F1ED011-850A-2113-F876-B898F181BFF7}"/>
              </a:ext>
            </a:extLst>
          </p:cNvPr>
          <p:cNvSpPr/>
          <p:nvPr/>
        </p:nvSpPr>
        <p:spPr bwMode="auto">
          <a:xfrm>
            <a:off x="1775520" y="4795314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3BA7D1B-1C92-F11E-FE01-3A2C32C8299A}"/>
              </a:ext>
            </a:extLst>
          </p:cNvPr>
          <p:cNvSpPr txBox="1"/>
          <p:nvPr/>
        </p:nvSpPr>
        <p:spPr bwMode="auto">
          <a:xfrm>
            <a:off x="1992797" y="5800285"/>
            <a:ext cx="29163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参照： </a:t>
            </a:r>
            <a:r>
              <a:rPr lang="en-US" altLang="ja-JP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 節タイトル </a:t>
            </a:r>
            <a:endParaRPr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8E3545D-998A-09E4-2081-3BB162BD9B40}"/>
              </a:ext>
            </a:extLst>
          </p:cNvPr>
          <p:cNvSpPr txBox="1"/>
          <p:nvPr/>
        </p:nvSpPr>
        <p:spPr bwMode="auto">
          <a:xfrm>
            <a:off x="755119" y="2959162"/>
            <a:ext cx="1102189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BB47869-5D3F-6BA4-47E0-B932F2FD3E07}"/>
              </a:ext>
            </a:extLst>
          </p:cNvPr>
          <p:cNvSpPr txBox="1"/>
          <p:nvPr/>
        </p:nvSpPr>
        <p:spPr bwMode="auto">
          <a:xfrm>
            <a:off x="755119" y="5236517"/>
            <a:ext cx="1102189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引用側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pic>
        <p:nvPicPr>
          <p:cNvPr id="52" name="図 51" descr="白い背景に、数枚の白い切り絵の雪の結晶">
            <a:extLst>
              <a:ext uri="{FF2B5EF4-FFF2-40B4-BE49-F238E27FC236}">
                <a16:creationId xmlns:a16="http://schemas.microsoft.com/office/drawing/2014/main" id="{AC1845AA-F06D-A509-F8CE-A1BB999B01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10364" y="3021508"/>
            <a:ext cx="2160239" cy="940839"/>
          </a:xfrm>
          <a:prstGeom prst="rect">
            <a:avLst/>
          </a:prstGeom>
        </p:spPr>
      </p:pic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7967CE6-4C09-E0BF-2D5A-646EC4DAAF6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83632" y="2938490"/>
            <a:ext cx="486054" cy="286179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7DEA134-8138-E0EE-691C-E67A07BB7F99}"/>
              </a:ext>
            </a:extLst>
          </p:cNvPr>
          <p:cNvSpPr txBox="1"/>
          <p:nvPr/>
        </p:nvSpPr>
        <p:spPr bwMode="auto">
          <a:xfrm>
            <a:off x="3048477" y="4169976"/>
            <a:ext cx="2409471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RIT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タグで引用元の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ED6E0F8-48F0-9B08-4263-6543DA357B9A}"/>
              </a:ext>
            </a:extLst>
          </p:cNvPr>
          <p:cNvSpPr/>
          <p:nvPr/>
        </p:nvSpPr>
        <p:spPr bwMode="auto">
          <a:xfrm>
            <a:off x="7968208" y="2498273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C1A074A-AFCA-E171-D215-5A2F760405A1}"/>
              </a:ext>
            </a:extLst>
          </p:cNvPr>
          <p:cNvSpPr txBox="1"/>
          <p:nvPr/>
        </p:nvSpPr>
        <p:spPr bwMode="auto">
          <a:xfrm>
            <a:off x="7968207" y="2562991"/>
            <a:ext cx="2916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188FD70-43DC-8B9E-B2A8-1104C5878163}"/>
              </a:ext>
            </a:extLst>
          </p:cNvPr>
          <p:cNvSpPr/>
          <p:nvPr/>
        </p:nvSpPr>
        <p:spPr bwMode="auto">
          <a:xfrm>
            <a:off x="7968208" y="4795314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8166CAB-DA9E-D82F-A028-1E0EDEDF98F1}"/>
              </a:ext>
            </a:extLst>
          </p:cNvPr>
          <p:cNvSpPr txBox="1"/>
          <p:nvPr/>
        </p:nvSpPr>
        <p:spPr bwMode="auto">
          <a:xfrm>
            <a:off x="8185485" y="5800285"/>
            <a:ext cx="29163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参照： </a:t>
            </a:r>
            <a:r>
              <a:rPr lang="en-US" altLang="ja-JP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 節タイトル </a:t>
            </a:r>
            <a:endParaRPr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pic>
        <p:nvPicPr>
          <p:cNvPr id="60" name="図 59" descr="白い背景に、数枚の白い切り絵の雪の結晶">
            <a:extLst>
              <a:ext uri="{FF2B5EF4-FFF2-40B4-BE49-F238E27FC236}">
                <a16:creationId xmlns:a16="http://schemas.microsoft.com/office/drawing/2014/main" id="{004E6B30-970D-68EE-B3FB-F78FB4DAB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403052" y="3021508"/>
            <a:ext cx="2160239" cy="940839"/>
          </a:xfrm>
          <a:prstGeom prst="rect">
            <a:avLst/>
          </a:prstGeom>
        </p:spPr>
      </p:pic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8AFDC1B8-7130-181A-78D1-EEF69A2219F3}"/>
              </a:ext>
            </a:extLst>
          </p:cNvPr>
          <p:cNvCxnSpPr/>
          <p:nvPr/>
        </p:nvCxnSpPr>
        <p:spPr bwMode="auto">
          <a:xfrm>
            <a:off x="5318479" y="2858373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A1E1731-D4D8-F147-B571-E42C608839E5}"/>
              </a:ext>
            </a:extLst>
          </p:cNvPr>
          <p:cNvCxnSpPr/>
          <p:nvPr/>
        </p:nvCxnSpPr>
        <p:spPr bwMode="auto">
          <a:xfrm>
            <a:off x="5318479" y="599101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8A1E01B-70F0-51F1-935C-6265F2F25EA7}"/>
              </a:ext>
            </a:extLst>
          </p:cNvPr>
          <p:cNvSpPr txBox="1"/>
          <p:nvPr/>
        </p:nvSpPr>
        <p:spPr bwMode="auto">
          <a:xfrm>
            <a:off x="5994716" y="2501998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9F8BEC8-C1D4-B220-C7E6-1EF42B56A14C}"/>
              </a:ext>
            </a:extLst>
          </p:cNvPr>
          <p:cNvSpPr txBox="1"/>
          <p:nvPr/>
        </p:nvSpPr>
        <p:spPr bwMode="auto">
          <a:xfrm>
            <a:off x="5994716" y="556263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EE7DF04-7EEF-C71B-9DBA-1E8412662EC6}"/>
              </a:ext>
            </a:extLst>
          </p:cNvPr>
          <p:cNvSpPr txBox="1"/>
          <p:nvPr/>
        </p:nvSpPr>
        <p:spPr bwMode="auto">
          <a:xfrm>
            <a:off x="2652385" y="1708217"/>
            <a:ext cx="7116022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ページの加筆加筆・削除・入れ替えがあっても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タグコードが変わらなければ番号・タイトルは自動修正されるので手間がかかりません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5B49CEC-8FF3-EDBA-8ACD-CDEC9BF97351}"/>
              </a:ext>
            </a:extLst>
          </p:cNvPr>
          <p:cNvSpPr txBox="1"/>
          <p:nvPr/>
        </p:nvSpPr>
        <p:spPr bwMode="auto">
          <a:xfrm>
            <a:off x="1992797" y="5461729"/>
            <a:ext cx="2409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詳しくは下記ページ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55071AD-9A3D-1C6B-F238-332004CBB45F}"/>
              </a:ext>
            </a:extLst>
          </p:cNvPr>
          <p:cNvSpPr txBox="1"/>
          <p:nvPr/>
        </p:nvSpPr>
        <p:spPr bwMode="auto">
          <a:xfrm>
            <a:off x="8203632" y="5461729"/>
            <a:ext cx="2409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詳しくは下記ページ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319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章単位でページ一覧を作れる（目次作成に便利）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1045392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RLISTT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タグにより、章コードが一致する節のタイトル一覧を生成可能。目次作成に便利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60CED01-40C9-1063-384C-D67063FF38A5}"/>
              </a:ext>
            </a:extLst>
          </p:cNvPr>
          <p:cNvSpPr txBox="1"/>
          <p:nvPr/>
        </p:nvSpPr>
        <p:spPr bwMode="auto">
          <a:xfrm>
            <a:off x="1852040" y="4858550"/>
            <a:ext cx="2448272" cy="132344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07B0CC22-C974-4C46-BADB-92FB22DCD047}"/>
              </a:ext>
            </a:extLst>
          </p:cNvPr>
          <p:cNvSpPr txBox="1"/>
          <p:nvPr/>
        </p:nvSpPr>
        <p:spPr bwMode="auto">
          <a:xfrm>
            <a:off x="1857308" y="2735439"/>
            <a:ext cx="2448272" cy="11695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日本列島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本州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九州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四国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2.4)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北海道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F878BF9-7767-2636-FAEB-EFE813C98D81}"/>
              </a:ext>
            </a:extLst>
          </p:cNvPr>
          <p:cNvSpPr txBox="1"/>
          <p:nvPr/>
        </p:nvSpPr>
        <p:spPr bwMode="auto">
          <a:xfrm>
            <a:off x="2138125" y="5159985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本州
2.2) 九州
2.3) 四国
2.4) 北海道
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CA26B69-3168-0894-F808-6CE413D6D3E4}"/>
              </a:ext>
            </a:extLst>
          </p:cNvPr>
          <p:cNvSpPr txBox="1"/>
          <p:nvPr/>
        </p:nvSpPr>
        <p:spPr bwMode="auto">
          <a:xfrm>
            <a:off x="1873047" y="4851707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日本列島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01985FC-A2A4-4BD7-B23F-89B2CDD71E31}"/>
              </a:ext>
            </a:extLst>
          </p:cNvPr>
          <p:cNvSpPr txBox="1"/>
          <p:nvPr/>
        </p:nvSpPr>
        <p:spPr bwMode="auto">
          <a:xfrm>
            <a:off x="490041" y="2852936"/>
            <a:ext cx="1383006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通常、複数のページに分散）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59491ED-4D2C-EEE4-274B-32364EA4073B}"/>
              </a:ext>
            </a:extLst>
          </p:cNvPr>
          <p:cNvSpPr txBox="1"/>
          <p:nvPr/>
        </p:nvSpPr>
        <p:spPr bwMode="auto">
          <a:xfrm>
            <a:off x="681164" y="5236517"/>
            <a:ext cx="1383006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目次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5CEBD269-655B-E641-C2F6-119B3CA12041}"/>
              </a:ext>
            </a:extLst>
          </p:cNvPr>
          <p:cNvSpPr txBox="1"/>
          <p:nvPr/>
        </p:nvSpPr>
        <p:spPr bwMode="auto">
          <a:xfrm>
            <a:off x="3287688" y="4169976"/>
            <a:ext cx="2687483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RLISTIT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タグで章の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FC62561-937C-5E20-4DCC-EC66EB1C736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52385" y="2996952"/>
            <a:ext cx="779319" cy="223956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9AAF107-7536-1AE5-8506-E3B934C3A5A7}"/>
              </a:ext>
            </a:extLst>
          </p:cNvPr>
          <p:cNvSpPr txBox="1"/>
          <p:nvPr/>
        </p:nvSpPr>
        <p:spPr bwMode="auto">
          <a:xfrm>
            <a:off x="8310211" y="4858550"/>
            <a:ext cx="2448272" cy="15227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B1CEFD0-45F2-06DF-9C93-25B932011C62}"/>
              </a:ext>
            </a:extLst>
          </p:cNvPr>
          <p:cNvSpPr txBox="1"/>
          <p:nvPr/>
        </p:nvSpPr>
        <p:spPr bwMode="auto">
          <a:xfrm>
            <a:off x="8315479" y="2735439"/>
            <a:ext cx="2448272" cy="11695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日本列島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本州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九州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四国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2.4)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北海道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993E46C-023B-00D5-D107-1400790586D0}"/>
              </a:ext>
            </a:extLst>
          </p:cNvPr>
          <p:cNvSpPr txBox="1"/>
          <p:nvPr/>
        </p:nvSpPr>
        <p:spPr bwMode="auto">
          <a:xfrm>
            <a:off x="8596296" y="5159985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本州
2.2) 九州
2.3) 四国
2.4) 北海道
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4FC0FE5-DF00-E773-6668-5F2F83F0D3C0}"/>
              </a:ext>
            </a:extLst>
          </p:cNvPr>
          <p:cNvSpPr txBox="1"/>
          <p:nvPr/>
        </p:nvSpPr>
        <p:spPr bwMode="auto">
          <a:xfrm>
            <a:off x="8331218" y="4851707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日本列島</a:t>
            </a:r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5D494220-B8FD-A566-B262-B46FC25C82CD}"/>
              </a:ext>
            </a:extLst>
          </p:cNvPr>
          <p:cNvCxnSpPr/>
          <p:nvPr/>
        </p:nvCxnSpPr>
        <p:spPr bwMode="auto">
          <a:xfrm>
            <a:off x="5318479" y="3320494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FA02FE21-EE1A-9FFD-BEAD-717036538219}"/>
              </a:ext>
            </a:extLst>
          </p:cNvPr>
          <p:cNvCxnSpPr/>
          <p:nvPr/>
        </p:nvCxnSpPr>
        <p:spPr bwMode="auto">
          <a:xfrm>
            <a:off x="5318479" y="5159985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40F878E2-AAFC-E79A-DD5F-395BEB49FE40}"/>
              </a:ext>
            </a:extLst>
          </p:cNvPr>
          <p:cNvSpPr txBox="1"/>
          <p:nvPr/>
        </p:nvSpPr>
        <p:spPr bwMode="auto">
          <a:xfrm>
            <a:off x="5994716" y="296411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68E2B68-43BE-8DED-38EF-056DB9EBBBC0}"/>
              </a:ext>
            </a:extLst>
          </p:cNvPr>
          <p:cNvSpPr txBox="1"/>
          <p:nvPr/>
        </p:nvSpPr>
        <p:spPr bwMode="auto">
          <a:xfrm>
            <a:off x="5994716" y="4731608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4A8E7FF-C9B3-B618-DD1C-89E7A3F02C45}"/>
              </a:ext>
            </a:extLst>
          </p:cNvPr>
          <p:cNvSpPr txBox="1"/>
          <p:nvPr/>
        </p:nvSpPr>
        <p:spPr bwMode="auto">
          <a:xfrm>
            <a:off x="2707653" y="1918404"/>
            <a:ext cx="6843379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注：全章分の一括生成はできません。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１章ごとに指定する必要があります。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D42E-BB57-66D2-464B-0789E008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425F09-610C-EA66-7A8A-BB6ECBDF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スライド番号つき目次生成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F78664-FA66-E52F-6C2C-D983D23C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C2C32-C07A-DC20-C9EF-8042D3850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90546A-27C2-2C22-045B-B527F6551D26}"/>
              </a:ext>
            </a:extLst>
          </p:cNvPr>
          <p:cNvSpPr txBox="1"/>
          <p:nvPr/>
        </p:nvSpPr>
        <p:spPr bwMode="auto">
          <a:xfrm>
            <a:off x="1127453" y="1196752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少し手間がかかりますがスライド番号つきの目次生成も可能です。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E8696C-2A59-0C2F-FBCC-7FAD96DB35D3}"/>
              </a:ext>
            </a:extLst>
          </p:cNvPr>
          <p:cNvSpPr txBox="1"/>
          <p:nvPr/>
        </p:nvSpPr>
        <p:spPr bwMode="auto">
          <a:xfrm>
            <a:off x="2049595" y="2857273"/>
            <a:ext cx="3548340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本州
2.2) 九州
2.3) 四国
2.4) 北海道
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F48C41-093A-7040-6078-95ABFF4B2CC2}"/>
              </a:ext>
            </a:extLst>
          </p:cNvPr>
          <p:cNvSpPr txBox="1"/>
          <p:nvPr/>
        </p:nvSpPr>
        <p:spPr bwMode="auto">
          <a:xfrm>
            <a:off x="5288487" y="2857273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2
2
2
2
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22F95F-AFB1-7BB9-D74F-23E965E70F94}"/>
              </a:ext>
            </a:extLst>
          </p:cNvPr>
          <p:cNvSpPr txBox="1"/>
          <p:nvPr/>
        </p:nvSpPr>
        <p:spPr bwMode="auto">
          <a:xfrm>
            <a:off x="968007" y="183722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の章番号＋タイトルに変換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D056C5-5013-B0B0-112A-F383519F6A55}"/>
              </a:ext>
            </a:extLst>
          </p:cNvPr>
          <p:cNvSpPr txBox="1"/>
          <p:nvPr/>
        </p:nvSpPr>
        <p:spPr bwMode="auto">
          <a:xfrm>
            <a:off x="5375920" y="183722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のスライド番号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F62C181-C7AD-C7EC-0F6F-7D36108C7816}"/>
              </a:ext>
            </a:extLst>
          </p:cNvPr>
          <p:cNvCxnSpPr/>
          <p:nvPr/>
        </p:nvCxnSpPr>
        <p:spPr bwMode="auto">
          <a:xfrm>
            <a:off x="2264151" y="2219170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7B43B47-B928-E613-786C-8B2B1BF8EE1C}"/>
              </a:ext>
            </a:extLst>
          </p:cNvPr>
          <p:cNvCxnSpPr/>
          <p:nvPr/>
        </p:nvCxnSpPr>
        <p:spPr bwMode="auto">
          <a:xfrm>
            <a:off x="6872663" y="2227495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E3D96D-CDCB-28BC-D984-5F1D9B3AB2FD}"/>
              </a:ext>
            </a:extLst>
          </p:cNvPr>
          <p:cNvSpPr txBox="1"/>
          <p:nvPr/>
        </p:nvSpPr>
        <p:spPr bwMode="auto">
          <a:xfrm>
            <a:off x="1784517" y="2548995"/>
            <a:ext cx="3548340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日本列島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870ED76-3482-AF3B-A621-208A20E36F92}"/>
              </a:ext>
            </a:extLst>
          </p:cNvPr>
          <p:cNvSpPr txBox="1"/>
          <p:nvPr/>
        </p:nvSpPr>
        <p:spPr bwMode="auto">
          <a:xfrm>
            <a:off x="5288487" y="2548995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2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B83C421-5424-3CA8-E599-073E1CB138DF}"/>
              </a:ext>
            </a:extLst>
          </p:cNvPr>
          <p:cNvSpPr/>
          <p:nvPr/>
        </p:nvSpPr>
        <p:spPr bwMode="auto">
          <a:xfrm>
            <a:off x="1688088" y="2516407"/>
            <a:ext cx="6120679" cy="716947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41621ED-9781-121B-C591-D3746DAF1926}"/>
              </a:ext>
            </a:extLst>
          </p:cNvPr>
          <p:cNvSpPr txBox="1"/>
          <p:nvPr/>
        </p:nvSpPr>
        <p:spPr bwMode="auto">
          <a:xfrm>
            <a:off x="968007" y="349264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の章節番号＋タイトル一覧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1AB3FC-CB2E-2A34-8391-AC141F3A5E27}"/>
              </a:ext>
            </a:extLst>
          </p:cNvPr>
          <p:cNvSpPr txBox="1"/>
          <p:nvPr/>
        </p:nvSpPr>
        <p:spPr bwMode="auto">
          <a:xfrm>
            <a:off x="5303912" y="3533538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のスライド番号一覧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4609AC0-D2D6-9B26-BC84-FB0460346D58}"/>
              </a:ext>
            </a:extLst>
          </p:cNvPr>
          <p:cNvCxnSpPr/>
          <p:nvPr/>
        </p:nvCxnSpPr>
        <p:spPr bwMode="auto">
          <a:xfrm flipV="1">
            <a:off x="2840215" y="3140051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98514F6-568F-51FA-988C-36AE5F01104B}"/>
              </a:ext>
            </a:extLst>
          </p:cNvPr>
          <p:cNvCxnSpPr/>
          <p:nvPr/>
        </p:nvCxnSpPr>
        <p:spPr bwMode="auto">
          <a:xfrm flipV="1">
            <a:off x="6368607" y="3148376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32722DC-838D-9E61-3A6C-0FE14197FCAF}"/>
              </a:ext>
            </a:extLst>
          </p:cNvPr>
          <p:cNvSpPr txBox="1"/>
          <p:nvPr/>
        </p:nvSpPr>
        <p:spPr bwMode="auto">
          <a:xfrm>
            <a:off x="9048328" y="1986513"/>
            <a:ext cx="253276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1">
              <a:buFont typeface="Arial" panose="020B0604020202020204" pitchFamily="34" charset="0"/>
              <a:buChar char="•"/>
            </a:pP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#RLISTSN#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は「節」の一覧を出すので、通常は複数行になります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eaLnBrk="1">
              <a:buFont typeface="Arial" panose="020B0604020202020204" pitchFamily="34" charset="0"/>
              <a:buChar char="•"/>
            </a:pP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eaLnBrk="1">
              <a:buFont typeface="Arial" panose="020B0604020202020204" pitchFamily="34" charset="0"/>
              <a:buChar char="•"/>
            </a:pP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全章分の一括生成はできません。１章ごとに指定する必要があります。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032ED670-823E-4C25-5E2E-45CFA0700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070" y="4770065"/>
            <a:ext cx="5196180" cy="1723400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FB775DF-B46A-A373-E00F-15061EBE584F}"/>
              </a:ext>
            </a:extLst>
          </p:cNvPr>
          <p:cNvSpPr txBox="1"/>
          <p:nvPr/>
        </p:nvSpPr>
        <p:spPr bwMode="auto">
          <a:xfrm>
            <a:off x="4369568" y="4371695"/>
            <a:ext cx="3570726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目次生成結果のイメージ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5481C01-D13D-EBFC-653F-91187AD4D373}"/>
              </a:ext>
            </a:extLst>
          </p:cNvPr>
          <p:cNvSpPr txBox="1"/>
          <p:nvPr/>
        </p:nvSpPr>
        <p:spPr bwMode="auto">
          <a:xfrm>
            <a:off x="623392" y="4788091"/>
            <a:ext cx="1815625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#RIT#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D18955B-CE61-C5EC-9A0C-44159B47FE63}"/>
              </a:ext>
            </a:extLst>
          </p:cNvPr>
          <p:cNvSpPr txBox="1"/>
          <p:nvPr/>
        </p:nvSpPr>
        <p:spPr bwMode="auto">
          <a:xfrm>
            <a:off x="9277218" y="4788091"/>
            <a:ext cx="1815625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#RN#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F18C5F0-536C-EBBD-5FAE-500ED6730AE4}"/>
              </a:ext>
            </a:extLst>
          </p:cNvPr>
          <p:cNvSpPr txBox="1"/>
          <p:nvPr/>
        </p:nvSpPr>
        <p:spPr bwMode="auto">
          <a:xfrm>
            <a:off x="623392" y="5589009"/>
            <a:ext cx="1640759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5025312-3BE1-483C-EDBD-47826718146E}"/>
              </a:ext>
            </a:extLst>
          </p:cNvPr>
          <p:cNvSpPr txBox="1"/>
          <p:nvPr/>
        </p:nvSpPr>
        <p:spPr bwMode="auto">
          <a:xfrm>
            <a:off x="9277219" y="5589009"/>
            <a:ext cx="1643318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#RLISTSN#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4" name="右中かっこ 53">
            <a:extLst>
              <a:ext uri="{FF2B5EF4-FFF2-40B4-BE49-F238E27FC236}">
                <a16:creationId xmlns:a16="http://schemas.microsoft.com/office/drawing/2014/main" id="{0363F56B-6091-7879-50A9-F9752D8252AD}"/>
              </a:ext>
            </a:extLst>
          </p:cNvPr>
          <p:cNvSpPr/>
          <p:nvPr/>
        </p:nvSpPr>
        <p:spPr bwMode="auto">
          <a:xfrm flipH="1">
            <a:off x="2900668" y="5269329"/>
            <a:ext cx="293504" cy="1224136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D5B2302-3BC3-CCBF-649A-915709897367}"/>
              </a:ext>
            </a:extLst>
          </p:cNvPr>
          <p:cNvCxnSpPr/>
          <p:nvPr/>
        </p:nvCxnSpPr>
        <p:spPr bwMode="auto">
          <a:xfrm>
            <a:off x="2269868" y="4957369"/>
            <a:ext cx="777552" cy="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D2104119-9204-6E64-7C7D-F2F090FE7813}"/>
              </a:ext>
            </a:extLst>
          </p:cNvPr>
          <p:cNvCxnSpPr>
            <a:stCxn id="52" idx="3"/>
            <a:endCxn id="54" idx="1"/>
          </p:cNvCxnSpPr>
          <p:nvPr/>
        </p:nvCxnSpPr>
        <p:spPr bwMode="auto">
          <a:xfrm>
            <a:off x="2264151" y="5881398"/>
            <a:ext cx="636517" cy="3659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右中かっこ 65">
            <a:extLst>
              <a:ext uri="{FF2B5EF4-FFF2-40B4-BE49-F238E27FC236}">
                <a16:creationId xmlns:a16="http://schemas.microsoft.com/office/drawing/2014/main" id="{03FC5E7C-C664-03FF-B162-461E5846A74B}"/>
              </a:ext>
            </a:extLst>
          </p:cNvPr>
          <p:cNvSpPr/>
          <p:nvPr/>
        </p:nvSpPr>
        <p:spPr bwMode="auto">
          <a:xfrm>
            <a:off x="8565709" y="5269329"/>
            <a:ext cx="293504" cy="1224136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E7EB5297-221D-4464-038D-D007C0873DE2}"/>
              </a:ext>
            </a:extLst>
          </p:cNvPr>
          <p:cNvCxnSpPr>
            <a:stCxn id="53" idx="1"/>
            <a:endCxn id="66" idx="1"/>
          </p:cNvCxnSpPr>
          <p:nvPr/>
        </p:nvCxnSpPr>
        <p:spPr bwMode="auto">
          <a:xfrm flipH="1">
            <a:off x="8859213" y="5881398"/>
            <a:ext cx="418006" cy="3659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383D7B2E-D4F1-9D39-4251-896960878ABE}"/>
              </a:ext>
            </a:extLst>
          </p:cNvPr>
          <p:cNvCxnSpPr/>
          <p:nvPr/>
        </p:nvCxnSpPr>
        <p:spPr bwMode="auto">
          <a:xfrm flipH="1">
            <a:off x="8556784" y="4957369"/>
            <a:ext cx="777552" cy="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DD17982-1770-4810-0D5E-74571C51A77E}"/>
              </a:ext>
            </a:extLst>
          </p:cNvPr>
          <p:cNvCxnSpPr/>
          <p:nvPr/>
        </p:nvCxnSpPr>
        <p:spPr bwMode="auto">
          <a:xfrm>
            <a:off x="424760" y="4128889"/>
            <a:ext cx="1148220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5118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32F5-F04B-2663-14C3-21418413F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AF1BD1EC-FD0E-A2D4-4624-B11050746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754326"/>
              </p:ext>
            </p:extLst>
          </p:nvPr>
        </p:nvGraphicFramePr>
        <p:xfrm>
          <a:off x="2580059" y="3521104"/>
          <a:ext cx="8127999" cy="2861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7869">
                  <a:extLst>
                    <a:ext uri="{9D8B030D-6E8A-4147-A177-3AD203B41FA5}">
                      <a16:colId xmlns:a16="http://schemas.microsoft.com/office/drawing/2014/main" val="1463709558"/>
                    </a:ext>
                  </a:extLst>
                </a:gridCol>
                <a:gridCol w="2550797">
                  <a:extLst>
                    <a:ext uri="{9D8B030D-6E8A-4147-A177-3AD203B41FA5}">
                      <a16:colId xmlns:a16="http://schemas.microsoft.com/office/drawing/2014/main" val="8668304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42915501"/>
                    </a:ext>
                  </a:extLst>
                </a:gridCol>
              </a:tblGrid>
              <a:tr h="334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タグ記載例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変換結果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意味あい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221730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#RI#SA.P1#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章節番号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58647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#RT#SA.P1#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タイトル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44298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#RIT#SA.P1#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章節番号＋タイトル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24766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#RSIT#SA.P1#  </a:t>
                      </a:r>
                      <a:r>
                        <a:rPr kumimoji="1" lang="en-US" altLang="ja-JP" sz="1400" b="1" spc="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TRAILER</a:t>
                      </a:r>
                      <a:endParaRPr kumimoji="1" lang="ja-JP" altLang="en-US" sz="1400" b="1" spc="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#RIT#</a:t>
                      </a:r>
                      <a:r>
                        <a:rPr kumimoji="1" lang="ja-JP" altLang="en-US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と同じだが </a:t>
                      </a:r>
                      <a:r>
                        <a:rPr kumimoji="1" lang="en-US" altLang="ja-JP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TRAILER</a:t>
                      </a:r>
                      <a:r>
                        <a:rPr kumimoji="1" lang="ja-JP" altLang="en-US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部分の文字列を消去する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886203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#RN#SA.P1#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スライド番号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374753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#RLISTIT#SA#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目次生成用、変換例</a:t>
                      </a:r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(5)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を参照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3530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#RLISTSN#SA#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目次生成用、変換例</a:t>
                      </a:r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(5)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を参照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85430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25214BDD-0BC6-E38B-8E00-2898854F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引用タグ（</a:t>
            </a:r>
            <a:r>
              <a:rPr lang="en-US" altLang="ja-JP"/>
              <a:t>R</a:t>
            </a:r>
            <a:r>
              <a:rPr lang="ja-JP" altLang="en-US"/>
              <a:t>）の使用例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C01ED9-8C5E-69C1-C7AA-995501FC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9B2061-FB25-FE1B-5387-794CFB446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C1FEAA-CC39-8DE6-A8E0-1C09C1FEDE2F}"/>
              </a:ext>
            </a:extLst>
          </p:cNvPr>
          <p:cNvSpPr txBox="1"/>
          <p:nvPr/>
        </p:nvSpPr>
        <p:spPr bwMode="auto">
          <a:xfrm>
            <a:off x="1127453" y="1196752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タグにはいくつかのバリエーションがあります。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BFFE242-71DD-508D-83C3-1CC08E0475B2}"/>
              </a:ext>
            </a:extLst>
          </p:cNvPr>
          <p:cNvSpPr/>
          <p:nvPr/>
        </p:nvSpPr>
        <p:spPr bwMode="auto">
          <a:xfrm>
            <a:off x="2580059" y="2030797"/>
            <a:ext cx="3299917" cy="400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引用元タイトル</a:t>
            </a:r>
            <a:endParaRPr kumimoji="1"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99F8440-DBB9-1AB7-077D-356FE7A81565}"/>
              </a:ext>
            </a:extLst>
          </p:cNvPr>
          <p:cNvCxnSpPr/>
          <p:nvPr/>
        </p:nvCxnSpPr>
        <p:spPr bwMode="auto">
          <a:xfrm>
            <a:off x="4151784" y="2472030"/>
            <a:ext cx="0" cy="26870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C7F86A6-460D-2413-226A-3DA2C2B27BC7}"/>
              </a:ext>
            </a:extLst>
          </p:cNvPr>
          <p:cNvSpPr txBox="1"/>
          <p:nvPr/>
        </p:nvSpPr>
        <p:spPr bwMode="auto">
          <a:xfrm>
            <a:off x="551384" y="2030797"/>
            <a:ext cx="193668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元の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3A6E316-ADEF-81AA-0301-4CC5F203278E}"/>
              </a:ext>
            </a:extLst>
          </p:cNvPr>
          <p:cNvSpPr/>
          <p:nvPr/>
        </p:nvSpPr>
        <p:spPr bwMode="auto">
          <a:xfrm>
            <a:off x="2580059" y="2740736"/>
            <a:ext cx="3299917" cy="400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引用元タイトル</a:t>
            </a:r>
            <a:endParaRPr kumimoji="1"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EF7DB90-F0E2-DADD-279E-2B8C10388D72}"/>
              </a:ext>
            </a:extLst>
          </p:cNvPr>
          <p:cNvSpPr txBox="1"/>
          <p:nvPr/>
        </p:nvSpPr>
        <p:spPr bwMode="auto">
          <a:xfrm>
            <a:off x="551384" y="2740736"/>
            <a:ext cx="193668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タグの変換結果</a:t>
            </a: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32001A3-C211-DE4A-D40D-68515904B812}"/>
              </a:ext>
            </a:extLst>
          </p:cNvPr>
          <p:cNvCxnSpPr/>
          <p:nvPr/>
        </p:nvCxnSpPr>
        <p:spPr bwMode="auto">
          <a:xfrm>
            <a:off x="4151784" y="3192880"/>
            <a:ext cx="0" cy="295577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980B735-3185-0893-0F93-41680EA4325F}"/>
              </a:ext>
            </a:extLst>
          </p:cNvPr>
          <p:cNvSpPr txBox="1"/>
          <p:nvPr/>
        </p:nvSpPr>
        <p:spPr bwMode="auto">
          <a:xfrm>
            <a:off x="551384" y="4434412"/>
            <a:ext cx="1936687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タグでの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引用形式と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その変換結果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28BA129-C903-DDCC-0C2D-81F568A0CD91}"/>
              </a:ext>
            </a:extLst>
          </p:cNvPr>
          <p:cNvSpPr txBox="1"/>
          <p:nvPr/>
        </p:nvSpPr>
        <p:spPr bwMode="auto">
          <a:xfrm>
            <a:off x="6888089" y="2025576"/>
            <a:ext cx="4248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これが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枚目のスライドにあったとします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95DC6F4-C84B-F57D-0819-79B05626FB44}"/>
              </a:ext>
            </a:extLst>
          </p:cNvPr>
          <p:cNvSpPr txBox="1"/>
          <p:nvPr/>
        </p:nvSpPr>
        <p:spPr bwMode="auto">
          <a:xfrm>
            <a:off x="5971965" y="2030797"/>
            <a:ext cx="91612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</a:p>
        </p:txBody>
      </p:sp>
    </p:spTree>
    <p:extLst>
      <p:ext uri="{BB962C8B-B14F-4D97-AF65-F5344CB8AC3E}">
        <p14:creationId xmlns:p14="http://schemas.microsoft.com/office/powerpoint/2010/main" val="263730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322E5CC-E26C-657C-A91F-29EA9C84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確認方法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0AD6836-6AB0-5DDA-262C-517F4383344E}"/>
              </a:ext>
            </a:extLst>
          </p:cNvPr>
          <p:cNvSpPr/>
          <p:nvPr/>
        </p:nvSpPr>
        <p:spPr bwMode="auto">
          <a:xfrm>
            <a:off x="1163452" y="1771152"/>
            <a:ext cx="10261140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6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02_DTSample.pptx</a:t>
            </a:r>
            <a:endParaRPr kumimoji="1"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622CBD-4F81-E7B5-422F-DB5C59488CA7}"/>
              </a:ext>
            </a:extLst>
          </p:cNvPr>
          <p:cNvSpPr/>
          <p:nvPr/>
        </p:nvSpPr>
        <p:spPr bwMode="auto">
          <a:xfrm>
            <a:off x="767408" y="2225916"/>
            <a:ext cx="5832648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 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_generated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が付加される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64814C-807D-0EFA-FB96-DA89ADDB66E3}"/>
              </a:ext>
            </a:extLst>
          </p:cNvPr>
          <p:cNvSpPr/>
          <p:nvPr/>
        </p:nvSpPr>
        <p:spPr bwMode="auto">
          <a:xfrm>
            <a:off x="1163452" y="2655621"/>
            <a:ext cx="10261140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6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02_DTSample_generated.pptx</a:t>
            </a:r>
            <a:endParaRPr kumimoji="1"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18D0F8-ED45-1539-DB07-FA507A333021}"/>
              </a:ext>
            </a:extLst>
          </p:cNvPr>
          <p:cNvSpPr/>
          <p:nvPr/>
        </p:nvSpPr>
        <p:spPr bwMode="auto">
          <a:xfrm>
            <a:off x="767408" y="1247661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以下のように起動します</a:t>
            </a:r>
          </a:p>
        </p:txBody>
      </p:sp>
    </p:spTree>
    <p:extLst>
      <p:ext uri="{BB962C8B-B14F-4D97-AF65-F5344CB8AC3E}">
        <p14:creationId xmlns:p14="http://schemas.microsoft.com/office/powerpoint/2010/main" val="100663843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21661</TotalTime>
  <Words>643</Words>
  <Application>Microsoft Office PowerPoint</Application>
  <PresentationFormat>ワイド画面</PresentationFormat>
  <Paragraphs>115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5" baseType="lpstr">
      <vt:lpstr>BIZ UDPゴシック</vt:lpstr>
      <vt:lpstr>BIZ UDゴシック</vt:lpstr>
      <vt:lpstr>FOT-UD丸ゴ_ラージ Pr6 M</vt:lpstr>
      <vt:lpstr>游ゴシック</vt:lpstr>
      <vt:lpstr>Arial</vt:lpstr>
      <vt:lpstr>Garamond</vt:lpstr>
      <vt:lpstr>Source Code Pro Semibold</vt:lpstr>
      <vt:lpstr>Wingdings</vt:lpstr>
      <vt:lpstr>Edge</vt:lpstr>
      <vt:lpstr>02_DTSample</vt:lpstr>
      <vt:lpstr>DTコードを使って引用元を記載できる</vt:lpstr>
      <vt:lpstr>章単位でページ一覧を作れる（目次作成に便利）</vt:lpstr>
      <vt:lpstr>スライド番号つき目次生成</vt:lpstr>
      <vt:lpstr>引用タグ（R）の使用例</vt:lpstr>
      <vt:lpstr>確認方法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1892</cp:revision>
  <cp:lastPrinted>2024-11-10T09:08:11Z</cp:lastPrinted>
  <dcterms:modified xsi:type="dcterms:W3CDTF">2025-03-08T05:45:38Z</dcterms:modified>
</cp:coreProperties>
</file>