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11"/>
  </p:notesMasterIdLst>
  <p:sldIdLst>
    <p:sldId id="1682" r:id="rId2"/>
    <p:sldId id="1688" r:id="rId3"/>
    <p:sldId id="1689" r:id="rId4"/>
    <p:sldId id="1691" r:id="rId5"/>
    <p:sldId id="1690" r:id="rId6"/>
    <p:sldId id="1694" r:id="rId7"/>
    <p:sldId id="1695" r:id="rId8"/>
    <p:sldId id="1693" r:id="rId9"/>
    <p:sldId id="1686" r:id="rId10"/>
  </p:sldIdLst>
  <p:sldSz cx="12192000" cy="6858000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7A7A"/>
    <a:srgbClr val="545858"/>
    <a:srgbClr val="00B0F0"/>
    <a:srgbClr val="81D994"/>
    <a:srgbClr val="58CC72"/>
    <a:srgbClr val="00FFFF"/>
    <a:srgbClr val="FF00FF"/>
    <a:srgbClr val="F7F61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7" autoAdjust="0"/>
    <p:restoredTop sz="86408" autoAdjust="0"/>
  </p:normalViewPr>
  <p:slideViewPr>
    <p:cSldViewPr>
      <p:cViewPr varScale="1">
        <p:scale>
          <a:sx n="78" d="100"/>
          <a:sy n="78" d="100"/>
        </p:scale>
        <p:origin x="546" y="29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4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294670BC-B8C6-44A7-84E1-23632D8FD86F}" type="datetimeFigureOut">
              <a:rPr lang="ja-JP" altLang="en-US" smtClean="0"/>
              <a:pPr/>
              <a:t>2025/2/22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BA10FDB7-3E02-4363-90B3-590B3C26A88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32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2CF806-E48A-4798-56B5-568A0B4BD0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/>
              <a:t>PowerPoint Indexing Labeler </a:t>
            </a:r>
            <a:br>
              <a:rPr kumimoji="1" lang="en-US" altLang="ja-JP"/>
            </a:br>
            <a:r>
              <a:rPr kumimoji="1" lang="en-US" altLang="ja-JP"/>
              <a:t>Example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FFF3C5E-3719-BB59-BBA5-EA1E27B09C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/>
              <a:t>Version 1.0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7677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#DT#WX1.PG1#) Chapter 1, Page 1   !!S_1!!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99E952-89B7-B4FF-4DAF-797808D01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D6276C2-91B8-ADEC-CB3B-2924E9E85D26}"/>
              </a:ext>
            </a:extLst>
          </p:cNvPr>
          <p:cNvSpPr txBox="1"/>
          <p:nvPr/>
        </p:nvSpPr>
        <p:spPr bwMode="auto">
          <a:xfrm>
            <a:off x="1127453" y="1412776"/>
            <a:ext cx="6120675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は章・節番号へと置換されます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0BB8CE6E-C042-B8A2-D3B9-E5CCB9A91FCC}"/>
              </a:ext>
            </a:extLst>
          </p:cNvPr>
          <p:cNvCxnSpPr/>
          <p:nvPr/>
        </p:nvCxnSpPr>
        <p:spPr bwMode="auto">
          <a:xfrm flipV="1">
            <a:off x="2351584" y="836712"/>
            <a:ext cx="0" cy="614906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95B0E1A-ABC0-84CA-F282-70A70DE60E4E}"/>
              </a:ext>
            </a:extLst>
          </p:cNvPr>
          <p:cNvSpPr txBox="1"/>
          <p:nvPr/>
        </p:nvSpPr>
        <p:spPr bwMode="auto">
          <a:xfrm>
            <a:off x="1127453" y="1797526"/>
            <a:ext cx="6120675" cy="646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The DT-code is replaced with the chapter and the section numbers.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E97FF768-D7B0-F2D7-C938-975D829B1717}"/>
              </a:ext>
            </a:extLst>
          </p:cNvPr>
          <p:cNvCxnSpPr>
            <a:cxnSpLocks/>
          </p:cNvCxnSpPr>
          <p:nvPr/>
        </p:nvCxnSpPr>
        <p:spPr bwMode="auto">
          <a:xfrm>
            <a:off x="983432" y="836712"/>
            <a:ext cx="3312368" cy="0"/>
          </a:xfrm>
          <a:prstGeom prst="line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03F66FF4-CFE5-F36B-84FE-67E41C3C3234}"/>
              </a:ext>
            </a:extLst>
          </p:cNvPr>
          <p:cNvCxnSpPr/>
          <p:nvPr/>
        </p:nvCxnSpPr>
        <p:spPr bwMode="auto">
          <a:xfrm flipV="1">
            <a:off x="9039679" y="836712"/>
            <a:ext cx="0" cy="614906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D35F5B8A-ECEF-0DBE-5909-2B7E4D40C2CF}"/>
              </a:ext>
            </a:extLst>
          </p:cNvPr>
          <p:cNvCxnSpPr>
            <a:cxnSpLocks/>
          </p:cNvCxnSpPr>
          <p:nvPr/>
        </p:nvCxnSpPr>
        <p:spPr bwMode="auto">
          <a:xfrm>
            <a:off x="8400261" y="836712"/>
            <a:ext cx="1296144" cy="0"/>
          </a:xfrm>
          <a:prstGeom prst="line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A9E689A-4498-753F-600E-286313A02F09}"/>
              </a:ext>
            </a:extLst>
          </p:cNvPr>
          <p:cNvSpPr txBox="1"/>
          <p:nvPr/>
        </p:nvSpPr>
        <p:spPr bwMode="auto">
          <a:xfrm>
            <a:off x="8400261" y="1412776"/>
            <a:ext cx="3456379" cy="738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この形式の文字列は変換結果の照合用符号です。開発用にのみ使用します。通常、利用者が知る必要はありません。</a:t>
            </a:r>
            <a:endParaRPr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4698126-FBD6-A9F3-1C86-2649D637212B}"/>
              </a:ext>
            </a:extLst>
          </p:cNvPr>
          <p:cNvSpPr txBox="1"/>
          <p:nvPr/>
        </p:nvSpPr>
        <p:spPr bwMode="auto">
          <a:xfrm>
            <a:off x="8400261" y="2160969"/>
            <a:ext cx="3456379" cy="1384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This format of string serves as a code for verifying conversion results. It is used only for development purposes and is not typically necessary for users to know."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FDA772B-D10B-2F23-55EE-990692EBAC0F}"/>
              </a:ext>
            </a:extLst>
          </p:cNvPr>
          <p:cNvSpPr txBox="1"/>
          <p:nvPr/>
        </p:nvSpPr>
        <p:spPr bwMode="auto">
          <a:xfrm>
            <a:off x="1127453" y="3284355"/>
            <a:ext cx="5688627" cy="523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とは、 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#DT#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の後に英数文字が続くコードであり、下記正規表現にマッチするものです。</a:t>
            </a:r>
            <a:endParaRPr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D2871BB-CF4D-F432-9AA4-A43170DD5035}"/>
              </a:ext>
            </a:extLst>
          </p:cNvPr>
          <p:cNvSpPr txBox="1"/>
          <p:nvPr/>
        </p:nvSpPr>
        <p:spPr bwMode="auto">
          <a:xfrm>
            <a:off x="1127453" y="3904657"/>
            <a:ext cx="6120675" cy="738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"DT-code" refers to a code consisting of alphanumeric characters following '#DT#', which matches the following regular expression.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918B1712-4860-8FA5-701C-A22EF1201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53" y="5174844"/>
            <a:ext cx="7773485" cy="257211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617698B9-7A8D-A33C-1ACD-6A2506A58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124" y="5836593"/>
            <a:ext cx="9859751" cy="314369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108F9A0-1325-DA60-E52F-0B74A5FFF49C}"/>
              </a:ext>
            </a:extLst>
          </p:cNvPr>
          <p:cNvSpPr txBox="1"/>
          <p:nvPr/>
        </p:nvSpPr>
        <p:spPr bwMode="auto">
          <a:xfrm>
            <a:off x="1127453" y="4908960"/>
            <a:ext cx="6120675" cy="30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 regexp for a chapter number only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02B9281-BF31-93BB-45D5-212BAE1F2F60}"/>
              </a:ext>
            </a:extLst>
          </p:cNvPr>
          <p:cNvSpPr txBox="1"/>
          <p:nvPr/>
        </p:nvSpPr>
        <p:spPr bwMode="auto">
          <a:xfrm>
            <a:off x="1127453" y="5613704"/>
            <a:ext cx="6120675" cy="30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 regexp for a chapter and section number</a:t>
            </a:r>
          </a:p>
        </p:txBody>
      </p:sp>
    </p:spTree>
    <p:extLst>
      <p:ext uri="{BB962C8B-B14F-4D97-AF65-F5344CB8AC3E}">
        <p14:creationId xmlns:p14="http://schemas.microsoft.com/office/powerpoint/2010/main" val="3080666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Ａ </a:t>
            </a:r>
            <a:r>
              <a:rPr lang="en-US" altLang="ja-JP" sz="2800">
                <a:solidFill>
                  <a:schemeClr val="tx1"/>
                </a:solidFill>
              </a:rPr>
              <a:t>simple sentence without DT-code stays the same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99E952-89B7-B4FF-4DAF-797808D01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5B572DC-89D4-59D8-A319-5E283E1948CD}"/>
              </a:ext>
            </a:extLst>
          </p:cNvPr>
          <p:cNvSpPr txBox="1"/>
          <p:nvPr/>
        </p:nvSpPr>
        <p:spPr bwMode="auto">
          <a:xfrm>
            <a:off x="1127453" y="1358102"/>
            <a:ext cx="6120675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を含まない単純な文は変更されません。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41ADEE6-2AC5-880A-300C-D1FC0140A820}"/>
              </a:ext>
            </a:extLst>
          </p:cNvPr>
          <p:cNvSpPr txBox="1"/>
          <p:nvPr/>
        </p:nvSpPr>
        <p:spPr bwMode="auto">
          <a:xfrm>
            <a:off x="1127453" y="4004596"/>
            <a:ext cx="9577065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はコンテンツエリアにあっても機能します。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854240B-0A79-B462-471D-2F3A1706DE6F}"/>
              </a:ext>
            </a:extLst>
          </p:cNvPr>
          <p:cNvSpPr txBox="1"/>
          <p:nvPr/>
        </p:nvSpPr>
        <p:spPr bwMode="auto">
          <a:xfrm>
            <a:off x="1127453" y="1718142"/>
            <a:ext cx="9577065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Ａ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simple sentence without DT-code stays the same.</a:t>
            </a: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1C267388-1AE3-8A6A-28F4-1C188066B3DE}"/>
              </a:ext>
            </a:extLst>
          </p:cNvPr>
          <p:cNvCxnSpPr/>
          <p:nvPr/>
        </p:nvCxnSpPr>
        <p:spPr bwMode="auto">
          <a:xfrm flipV="1">
            <a:off x="3071664" y="835754"/>
            <a:ext cx="0" cy="614906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0B725E42-3DCB-A2E9-9AE7-33EE63D17F57}"/>
              </a:ext>
            </a:extLst>
          </p:cNvPr>
          <p:cNvCxnSpPr>
            <a:cxnSpLocks/>
          </p:cNvCxnSpPr>
          <p:nvPr/>
        </p:nvCxnSpPr>
        <p:spPr bwMode="auto">
          <a:xfrm>
            <a:off x="898656" y="835754"/>
            <a:ext cx="10525936" cy="0"/>
          </a:xfrm>
          <a:prstGeom prst="line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C9F3BC87-543E-0CC0-A92C-B5C14484C0F2}"/>
              </a:ext>
            </a:extLst>
          </p:cNvPr>
          <p:cNvSpPr txBox="1"/>
          <p:nvPr/>
        </p:nvSpPr>
        <p:spPr bwMode="auto">
          <a:xfrm>
            <a:off x="1127453" y="3086681"/>
            <a:ext cx="87849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#DT#WX1.PG2#) DT-code in content area !!S_2!!</a:t>
            </a:r>
            <a:endParaRPr lang="ja-JP" altLang="en-US" sz="240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F5E1105-64CE-5EF2-8E35-243662CA6071}"/>
              </a:ext>
            </a:extLst>
          </p:cNvPr>
          <p:cNvSpPr txBox="1"/>
          <p:nvPr/>
        </p:nvSpPr>
        <p:spPr bwMode="auto">
          <a:xfrm>
            <a:off x="1127453" y="4362884"/>
            <a:ext cx="9577065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The DT-code also works in the content area.</a:t>
            </a: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35D3907C-8AEF-2BBF-FC7F-8D1145106E60}"/>
              </a:ext>
            </a:extLst>
          </p:cNvPr>
          <p:cNvCxnSpPr/>
          <p:nvPr/>
        </p:nvCxnSpPr>
        <p:spPr bwMode="auto">
          <a:xfrm flipV="1">
            <a:off x="2567608" y="3573016"/>
            <a:ext cx="0" cy="461987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FEC5EFB8-4CF4-B2D4-428C-FE6EF83DE51F}"/>
              </a:ext>
            </a:extLst>
          </p:cNvPr>
          <p:cNvCxnSpPr>
            <a:cxnSpLocks/>
          </p:cNvCxnSpPr>
          <p:nvPr/>
        </p:nvCxnSpPr>
        <p:spPr bwMode="auto">
          <a:xfrm>
            <a:off x="1127453" y="3548346"/>
            <a:ext cx="2376259" cy="0"/>
          </a:xfrm>
          <a:prstGeom prst="line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484514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6174E-63BB-2C63-8032-9B8C3B582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D81B98-E569-3B3C-4913-2E13B02B2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#DT#WX1.PGA#)  DT-code without numeric !!S_3!!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C6FCD6-268E-75CB-E7F6-74563412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6491125-4402-8828-025E-1424864D4656}"/>
              </a:ext>
            </a:extLst>
          </p:cNvPr>
          <p:cNvSpPr txBox="1"/>
          <p:nvPr/>
        </p:nvSpPr>
        <p:spPr bwMode="auto">
          <a:xfrm>
            <a:off x="1127453" y="1412776"/>
            <a:ext cx="6120675" cy="646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は英文字だけでも機能します。出現順にナンバリングされます。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5279C8D5-C6F9-DC19-A0F8-E35CE4B34137}"/>
              </a:ext>
            </a:extLst>
          </p:cNvPr>
          <p:cNvCxnSpPr/>
          <p:nvPr/>
        </p:nvCxnSpPr>
        <p:spPr bwMode="auto">
          <a:xfrm flipV="1">
            <a:off x="2351584" y="836712"/>
            <a:ext cx="0" cy="614906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4D0DD86-8A84-4F26-44B8-67F96C11AC7E}"/>
              </a:ext>
            </a:extLst>
          </p:cNvPr>
          <p:cNvSpPr txBox="1"/>
          <p:nvPr/>
        </p:nvSpPr>
        <p:spPr bwMode="auto">
          <a:xfrm>
            <a:off x="1127453" y="2027682"/>
            <a:ext cx="6120675" cy="1200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DT-codes don't require numeric characters, those with alphabetic characters only can also work, and is numbered in the order of appearance.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B5EA5096-FDDF-29B7-F6A4-5896C41F7CAA}"/>
              </a:ext>
            </a:extLst>
          </p:cNvPr>
          <p:cNvCxnSpPr>
            <a:cxnSpLocks/>
          </p:cNvCxnSpPr>
          <p:nvPr/>
        </p:nvCxnSpPr>
        <p:spPr bwMode="auto">
          <a:xfrm>
            <a:off x="983432" y="836712"/>
            <a:ext cx="3528392" cy="0"/>
          </a:xfrm>
          <a:prstGeom prst="line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656153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6174E-63BB-2C63-8032-9B8C3B582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D81B98-E569-3B3C-4913-2E13B02B2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#DT#WXB.PGX#)  DT-code without numeric !!S_4!!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C6FCD6-268E-75CB-E7F6-74563412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6491125-4402-8828-025E-1424864D4656}"/>
              </a:ext>
            </a:extLst>
          </p:cNvPr>
          <p:cNvSpPr txBox="1"/>
          <p:nvPr/>
        </p:nvSpPr>
        <p:spPr bwMode="auto">
          <a:xfrm>
            <a:off x="1127453" y="1412776"/>
            <a:ext cx="8064891" cy="1477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上記コードは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2.1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に変換されます。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コードは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WX1, WXB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の順に出現したので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WX1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＝１，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WXB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＝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に変換されます。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コードは同一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コード内でナンバリングされます。 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PGX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WXB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内で初めて出現したので１となります。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5279C8D5-C6F9-DC19-A0F8-E35CE4B34137}"/>
              </a:ext>
            </a:extLst>
          </p:cNvPr>
          <p:cNvCxnSpPr/>
          <p:nvPr/>
        </p:nvCxnSpPr>
        <p:spPr bwMode="auto">
          <a:xfrm flipV="1">
            <a:off x="2351584" y="836712"/>
            <a:ext cx="0" cy="614906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B5EA5096-FDDF-29B7-F6A4-5896C41F7CAA}"/>
              </a:ext>
            </a:extLst>
          </p:cNvPr>
          <p:cNvCxnSpPr>
            <a:cxnSpLocks/>
          </p:cNvCxnSpPr>
          <p:nvPr/>
        </p:nvCxnSpPr>
        <p:spPr bwMode="auto">
          <a:xfrm>
            <a:off x="983432" y="836712"/>
            <a:ext cx="3528392" cy="0"/>
          </a:xfrm>
          <a:prstGeom prst="line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E146FA1-B65D-EE86-7C72-BF0611C1A8A3}"/>
              </a:ext>
            </a:extLst>
          </p:cNvPr>
          <p:cNvSpPr txBox="1"/>
          <p:nvPr/>
        </p:nvSpPr>
        <p:spPr bwMode="auto">
          <a:xfrm>
            <a:off x="1127453" y="3068960"/>
            <a:ext cx="8064891" cy="1477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The code above is converted to 2.1. The chapter codes appeared in the order of WX1, WXB, thus they are converted to 1 and 2. Section codes are numbered within the same chapter code. Since PGX appeared the first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time within WXB, it is numbered as 1.</a:t>
            </a:r>
          </a:p>
        </p:txBody>
      </p:sp>
    </p:spTree>
    <p:extLst>
      <p:ext uri="{BB962C8B-B14F-4D97-AF65-F5344CB8AC3E}">
        <p14:creationId xmlns:p14="http://schemas.microsoft.com/office/powerpoint/2010/main" val="997892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AC2CD-F7C3-D8D4-ED5B-395A82D6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D1DB8C-6402-25C7-FE26-4183AC555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Ａ </a:t>
            </a:r>
            <a:r>
              <a:rPr lang="en-US" altLang="ja-JP" sz="2800">
                <a:solidFill>
                  <a:schemeClr val="tx1"/>
                </a:solidFill>
              </a:rPr>
              <a:t>slide can contain multiple DT-codes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8CC5A0-26F8-B54F-D639-0147AF07A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78F7564-CB73-5BD6-6E24-3BF4167EEC59}"/>
              </a:ext>
            </a:extLst>
          </p:cNvPr>
          <p:cNvSpPr txBox="1"/>
          <p:nvPr/>
        </p:nvSpPr>
        <p:spPr bwMode="auto">
          <a:xfrm>
            <a:off x="1127453" y="1933416"/>
            <a:ext cx="95770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#DT#WXB.PGB#)  2nd DT-code in the same slide        !!S_6!!</a:t>
            </a:r>
            <a:endParaRPr lang="ja-JP" altLang="en-US" sz="240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E57CE95-D8E6-4844-AF48-689DC747D68E}"/>
              </a:ext>
            </a:extLst>
          </p:cNvPr>
          <p:cNvSpPr txBox="1"/>
          <p:nvPr/>
        </p:nvSpPr>
        <p:spPr bwMode="auto">
          <a:xfrm>
            <a:off x="1127453" y="1482965"/>
            <a:ext cx="95770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#DT#WXB.PGA#)  1st DT-code in a slide                       !!S_5!!</a:t>
            </a:r>
            <a:endParaRPr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2991279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AC2CD-F7C3-D8D4-ED5B-395A82D6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D1DB8C-6402-25C7-FE26-4183AC555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Acceptable DT-code format examples.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8CC5A0-26F8-B54F-D639-0147AF07A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E57CE95-D8E6-4844-AF48-689DC747D68E}"/>
              </a:ext>
            </a:extLst>
          </p:cNvPr>
          <p:cNvSpPr txBox="1"/>
          <p:nvPr/>
        </p:nvSpPr>
        <p:spPr bwMode="auto">
          <a:xfrm>
            <a:off x="1127452" y="1397089"/>
            <a:ext cx="105131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#DT#WXB.PG4#) chapter and section should be alphanumeric    !!S_7!!</a:t>
            </a:r>
            <a:endParaRPr lang="ja-JP" altLang="en-US" sz="2400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6FF0CA7-1EB7-35A2-41AB-8E62DD0581CA}"/>
              </a:ext>
            </a:extLst>
          </p:cNvPr>
          <p:cNvCxnSpPr/>
          <p:nvPr/>
        </p:nvCxnSpPr>
        <p:spPr bwMode="auto">
          <a:xfrm>
            <a:off x="1991544" y="1833464"/>
            <a:ext cx="648072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30F73D5-906C-8450-3836-6A74F25851F5}"/>
              </a:ext>
            </a:extLst>
          </p:cNvPr>
          <p:cNvCxnSpPr/>
          <p:nvPr/>
        </p:nvCxnSpPr>
        <p:spPr bwMode="auto">
          <a:xfrm>
            <a:off x="2744160" y="1833464"/>
            <a:ext cx="648072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B9FDBE8-FF21-3741-30F6-84DDDF78F7E4}"/>
              </a:ext>
            </a:extLst>
          </p:cNvPr>
          <p:cNvSpPr txBox="1"/>
          <p:nvPr/>
        </p:nvSpPr>
        <p:spPr bwMode="auto">
          <a:xfrm>
            <a:off x="1775520" y="2065456"/>
            <a:ext cx="2376264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alphanumeric</a:t>
            </a:r>
            <a:endParaRPr kumimoji="1" lang="ja-JP" altLang="en-US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47A632D1-8636-43AA-6621-7EDFFFCB96EA}"/>
              </a:ext>
            </a:extLst>
          </p:cNvPr>
          <p:cNvCxnSpPr/>
          <p:nvPr/>
        </p:nvCxnSpPr>
        <p:spPr bwMode="auto">
          <a:xfrm flipH="1" flipV="1">
            <a:off x="2315580" y="1833464"/>
            <a:ext cx="324036" cy="330423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FF1827E2-CE4C-734F-26AD-A36B3D4A1C86}"/>
              </a:ext>
            </a:extLst>
          </p:cNvPr>
          <p:cNvCxnSpPr>
            <a:cxnSpLocks/>
          </p:cNvCxnSpPr>
          <p:nvPr/>
        </p:nvCxnSpPr>
        <p:spPr bwMode="auto">
          <a:xfrm flipV="1">
            <a:off x="2722781" y="1833463"/>
            <a:ext cx="240871" cy="330424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154C8C9-7B0E-5640-73A6-F670EE9AF9C7}"/>
              </a:ext>
            </a:extLst>
          </p:cNvPr>
          <p:cNvSpPr txBox="1"/>
          <p:nvPr/>
        </p:nvSpPr>
        <p:spPr bwMode="auto">
          <a:xfrm>
            <a:off x="1127452" y="2512671"/>
            <a:ext cx="106571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#DT#W.longSECTIONcode#) short and long code sample             !!S_8!!</a:t>
            </a:r>
            <a:endParaRPr lang="ja-JP" altLang="en-US" sz="2400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B22FD46F-39C0-21E0-3AD0-BC2C5B5E84B7}"/>
              </a:ext>
            </a:extLst>
          </p:cNvPr>
          <p:cNvCxnSpPr/>
          <p:nvPr/>
        </p:nvCxnSpPr>
        <p:spPr bwMode="auto">
          <a:xfrm>
            <a:off x="1915756" y="2924944"/>
            <a:ext cx="365819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2B5D85F5-46EB-A4E2-5062-09A0D51C03B2}"/>
              </a:ext>
            </a:extLst>
          </p:cNvPr>
          <p:cNvCxnSpPr>
            <a:cxnSpLocks/>
          </p:cNvCxnSpPr>
          <p:nvPr/>
        </p:nvCxnSpPr>
        <p:spPr bwMode="auto">
          <a:xfrm>
            <a:off x="2356962" y="2924944"/>
            <a:ext cx="2658918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669DBCD-0A20-4F31-AE24-4A55FBE3BB47}"/>
              </a:ext>
            </a:extLst>
          </p:cNvPr>
          <p:cNvSpPr txBox="1"/>
          <p:nvPr/>
        </p:nvSpPr>
        <p:spPr bwMode="auto">
          <a:xfrm>
            <a:off x="1127452" y="3386609"/>
            <a:ext cx="105131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DT#WXC-PGX separator and terminator                                       !!S_9!!</a:t>
            </a:r>
            <a:endParaRPr lang="ja-JP" altLang="en-US" sz="2400"/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1E383FE0-640D-6629-5165-D6106CB80EDF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614902" y="3745227"/>
            <a:ext cx="324036" cy="920868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67C3293-7AE5-4ED0-B6A7-FD3F7D529C02}"/>
              </a:ext>
            </a:extLst>
          </p:cNvPr>
          <p:cNvSpPr txBox="1"/>
          <p:nvPr/>
        </p:nvSpPr>
        <p:spPr bwMode="auto">
          <a:xfrm>
            <a:off x="820523" y="4691553"/>
            <a:ext cx="2556284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separator can be '-'</a:t>
            </a:r>
            <a:endParaRPr kumimoji="1" lang="ja-JP" altLang="en-US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4A5CDC7B-2829-FC92-1581-B3B31541759E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414885" y="3745227"/>
            <a:ext cx="271536" cy="327585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949A371F-CE22-581D-BDB7-D94B27A914D8}"/>
              </a:ext>
            </a:extLst>
          </p:cNvPr>
          <p:cNvSpPr txBox="1"/>
          <p:nvPr/>
        </p:nvSpPr>
        <p:spPr bwMode="auto">
          <a:xfrm>
            <a:off x="3416980" y="4048458"/>
            <a:ext cx="6711467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terminator should be '#'</a:t>
            </a:r>
            <a:endParaRPr kumimoji="1" lang="ja-JP" altLang="en-US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52C204BE-9E0B-490C-DD76-6041E586CA3E}"/>
              </a:ext>
            </a:extLst>
          </p:cNvPr>
          <p:cNvSpPr txBox="1"/>
          <p:nvPr/>
        </p:nvSpPr>
        <p:spPr bwMode="auto">
          <a:xfrm>
            <a:off x="1127452" y="5328364"/>
            <a:ext cx="105131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#DT#WXD#) just a chapter code without section also available  !!S_10!!</a:t>
            </a:r>
            <a:endParaRPr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2488258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AC2CD-F7C3-D8D4-ED5B-395A82D6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6E3513D5-0FEA-44CE-1031-07E436469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52" y="3946432"/>
            <a:ext cx="1911393" cy="2434896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4CD1DB8C-6402-25C7-FE26-4183AC555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Several Reference code format examples.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8CC5A0-26F8-B54F-D639-0147AF07A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E57CE95-D8E6-4844-AF48-689DC747D68E}"/>
              </a:ext>
            </a:extLst>
          </p:cNvPr>
          <p:cNvSpPr txBox="1"/>
          <p:nvPr/>
        </p:nvSpPr>
        <p:spPr bwMode="auto">
          <a:xfrm>
            <a:off x="1127453" y="1095126"/>
            <a:ext cx="95770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DT-code defines a signifier of a title text.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FA73CED0-BE99-A52C-EBF3-03B8B3FDCD38}"/>
              </a:ext>
            </a:extLst>
          </p:cNvPr>
          <p:cNvSpPr txBox="1"/>
          <p:nvPr/>
        </p:nvSpPr>
        <p:spPr bwMode="auto">
          <a:xfrm>
            <a:off x="1847528" y="2260415"/>
            <a:ext cx="82809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#DT#WXY.PG1#)  101 of digital marketing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DCD48883-4465-C0DB-F388-99697FFC112C}"/>
              </a:ext>
            </a:extLst>
          </p:cNvPr>
          <p:cNvSpPr txBox="1"/>
          <p:nvPr/>
        </p:nvSpPr>
        <p:spPr bwMode="auto">
          <a:xfrm>
            <a:off x="1127453" y="2859323"/>
            <a:ext cx="957705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You can use R-codes to cite the related information defined by the DT-code.</a:t>
            </a: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83C77CDC-A346-BE3C-D4A0-41FB386F5816}"/>
              </a:ext>
            </a:extLst>
          </p:cNvPr>
          <p:cNvCxnSpPr/>
          <p:nvPr/>
        </p:nvCxnSpPr>
        <p:spPr bwMode="auto">
          <a:xfrm>
            <a:off x="3359696" y="1960606"/>
            <a:ext cx="0" cy="299809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1758549B-72F7-A776-F762-27876281E3D5}"/>
              </a:ext>
            </a:extLst>
          </p:cNvPr>
          <p:cNvSpPr txBox="1"/>
          <p:nvPr/>
        </p:nvSpPr>
        <p:spPr bwMode="auto">
          <a:xfrm>
            <a:off x="2711624" y="1542633"/>
            <a:ext cx="15841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>
                <a:solidFill>
                  <a:srgbClr val="FF0000"/>
                </a:solidFill>
              </a:rPr>
              <a:t>signifier</a:t>
            </a:r>
          </a:p>
        </p:txBody>
      </p: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AC33A5A1-C614-99FD-7E4B-4E800BC19DC0}"/>
              </a:ext>
            </a:extLst>
          </p:cNvPr>
          <p:cNvCxnSpPr>
            <a:cxnSpLocks/>
          </p:cNvCxnSpPr>
          <p:nvPr/>
        </p:nvCxnSpPr>
        <p:spPr bwMode="auto">
          <a:xfrm>
            <a:off x="2639616" y="2273194"/>
            <a:ext cx="1512168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56B21349-5347-71F1-B84A-965C065884D6}"/>
              </a:ext>
            </a:extLst>
          </p:cNvPr>
          <p:cNvCxnSpPr>
            <a:cxnSpLocks/>
          </p:cNvCxnSpPr>
          <p:nvPr/>
        </p:nvCxnSpPr>
        <p:spPr bwMode="auto">
          <a:xfrm>
            <a:off x="6023992" y="1960606"/>
            <a:ext cx="0" cy="299809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3B77E33D-83AB-929B-BB30-1CB6F7B524AA}"/>
              </a:ext>
            </a:extLst>
          </p:cNvPr>
          <p:cNvCxnSpPr>
            <a:cxnSpLocks/>
          </p:cNvCxnSpPr>
          <p:nvPr/>
        </p:nvCxnSpPr>
        <p:spPr bwMode="auto">
          <a:xfrm>
            <a:off x="4583832" y="2273194"/>
            <a:ext cx="3456384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2743E59A-85F4-9B92-9F92-D7B00A4C4275}"/>
              </a:ext>
            </a:extLst>
          </p:cNvPr>
          <p:cNvSpPr txBox="1"/>
          <p:nvPr/>
        </p:nvSpPr>
        <p:spPr bwMode="auto">
          <a:xfrm>
            <a:off x="5303912" y="1542633"/>
            <a:ext cx="17213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>
                <a:solidFill>
                  <a:srgbClr val="FF0000"/>
                </a:solidFill>
              </a:rPr>
              <a:t>title text</a:t>
            </a:r>
          </a:p>
        </p:txBody>
      </p: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8123F8E7-257D-E552-8B15-5A5F14D39079}"/>
              </a:ext>
            </a:extLst>
          </p:cNvPr>
          <p:cNvCxnSpPr/>
          <p:nvPr/>
        </p:nvCxnSpPr>
        <p:spPr bwMode="auto">
          <a:xfrm>
            <a:off x="2999656" y="4187610"/>
            <a:ext cx="1152128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5F2C904A-5F95-0778-A3FC-31934D988801}"/>
              </a:ext>
            </a:extLst>
          </p:cNvPr>
          <p:cNvCxnSpPr/>
          <p:nvPr/>
        </p:nvCxnSpPr>
        <p:spPr bwMode="auto">
          <a:xfrm>
            <a:off x="2999656" y="4869160"/>
            <a:ext cx="1152128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A4E0B9FF-1E75-9BC0-8512-77B337E93AB3}"/>
              </a:ext>
            </a:extLst>
          </p:cNvPr>
          <p:cNvCxnSpPr/>
          <p:nvPr/>
        </p:nvCxnSpPr>
        <p:spPr bwMode="auto">
          <a:xfrm>
            <a:off x="2999656" y="6323650"/>
            <a:ext cx="1152128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ECF6CE55-0C09-1695-E05E-0671C3869C0C}"/>
              </a:ext>
            </a:extLst>
          </p:cNvPr>
          <p:cNvCxnSpPr/>
          <p:nvPr/>
        </p:nvCxnSpPr>
        <p:spPr bwMode="auto">
          <a:xfrm>
            <a:off x="2999656" y="5646540"/>
            <a:ext cx="1152128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A22A0CE6-D995-BEC7-46B3-7DB8A29683CD}"/>
              </a:ext>
            </a:extLst>
          </p:cNvPr>
          <p:cNvSpPr txBox="1"/>
          <p:nvPr/>
        </p:nvSpPr>
        <p:spPr bwMode="auto">
          <a:xfrm>
            <a:off x="4655840" y="3946432"/>
            <a:ext cx="66247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1800"/>
              <a:t>#RI#WXY.PG1#                                        !!S_11!!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314F52C1-81C2-6FCB-1208-45CE37286F2F}"/>
              </a:ext>
            </a:extLst>
          </p:cNvPr>
          <p:cNvSpPr txBox="1"/>
          <p:nvPr/>
        </p:nvSpPr>
        <p:spPr bwMode="auto">
          <a:xfrm>
            <a:off x="4655840" y="4672678"/>
            <a:ext cx="66247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1800"/>
              <a:t>#RT#WXY.PG1#                                       !!S_12!!</a:t>
            </a: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21B6697D-80F2-2A46-0F6C-1CB312B47AAD}"/>
              </a:ext>
            </a:extLst>
          </p:cNvPr>
          <p:cNvSpPr txBox="1"/>
          <p:nvPr/>
        </p:nvSpPr>
        <p:spPr bwMode="auto">
          <a:xfrm>
            <a:off x="4655840" y="6107626"/>
            <a:ext cx="66247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1800"/>
              <a:t>#RN#WXY.PG1#                                        !!S_14!!</a:t>
            </a: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D396E6D3-D832-9B5B-9A26-146968F2045A}"/>
              </a:ext>
            </a:extLst>
          </p:cNvPr>
          <p:cNvSpPr txBox="1"/>
          <p:nvPr/>
        </p:nvSpPr>
        <p:spPr bwMode="auto">
          <a:xfrm>
            <a:off x="4655840" y="5430516"/>
            <a:ext cx="66247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1800"/>
              <a:t>#RIT#WXY.PG1#                                        !!S_13!!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2A521525-4606-0367-B539-009E130C7F51}"/>
              </a:ext>
            </a:extLst>
          </p:cNvPr>
          <p:cNvSpPr txBox="1"/>
          <p:nvPr/>
        </p:nvSpPr>
        <p:spPr bwMode="auto">
          <a:xfrm>
            <a:off x="2711624" y="3716356"/>
            <a:ext cx="3096344" cy="277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index number only</a:t>
            </a:r>
            <a:endParaRPr kumimoji="1" lang="ja-JP" altLang="en-US" sz="12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5FB0303B-D0EB-4FE3-599C-C3B465D3CA11}"/>
              </a:ext>
            </a:extLst>
          </p:cNvPr>
          <p:cNvSpPr txBox="1"/>
          <p:nvPr/>
        </p:nvSpPr>
        <p:spPr bwMode="auto">
          <a:xfrm>
            <a:off x="2819638" y="4499784"/>
            <a:ext cx="3096344" cy="277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title text only</a:t>
            </a:r>
            <a:endParaRPr kumimoji="1" lang="ja-JP" altLang="en-US" sz="12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D213095D-8A56-8F12-35FD-3E87C73169FB}"/>
              </a:ext>
            </a:extLst>
          </p:cNvPr>
          <p:cNvSpPr txBox="1"/>
          <p:nvPr/>
        </p:nvSpPr>
        <p:spPr bwMode="auto">
          <a:xfrm>
            <a:off x="2819638" y="5175820"/>
            <a:ext cx="3096344" cy="277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index and title only</a:t>
            </a:r>
            <a:endParaRPr kumimoji="1" lang="ja-JP" altLang="en-US" sz="12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95F30A79-92C0-D0E2-A2BB-7A2A7DEE2D4C}"/>
              </a:ext>
            </a:extLst>
          </p:cNvPr>
          <p:cNvSpPr txBox="1"/>
          <p:nvPr/>
        </p:nvSpPr>
        <p:spPr bwMode="auto">
          <a:xfrm>
            <a:off x="2819638" y="5954319"/>
            <a:ext cx="3096344" cy="277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slide number only</a:t>
            </a:r>
            <a:endParaRPr kumimoji="1" lang="ja-JP" altLang="en-US" sz="12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6263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Index Page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41ADEE6-2AC5-880A-300C-D1FC0140A820}"/>
              </a:ext>
            </a:extLst>
          </p:cNvPr>
          <p:cNvSpPr txBox="1"/>
          <p:nvPr/>
        </p:nvSpPr>
        <p:spPr bwMode="auto">
          <a:xfrm>
            <a:off x="1127453" y="1253698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The following shapes will be replaced with the table of contents.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99E952-89B7-B4FF-4DAF-797808D01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97208C5-A8ED-73E8-AECE-EEE0D7A6F78C}"/>
              </a:ext>
            </a:extLst>
          </p:cNvPr>
          <p:cNvSpPr txBox="1"/>
          <p:nvPr/>
        </p:nvSpPr>
        <p:spPr bwMode="auto">
          <a:xfrm>
            <a:off x="1323525" y="1827042"/>
            <a:ext cx="6624737" cy="34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#RLISTIT#WX1#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A48185C-6C02-38A8-F736-166E89B5431C}"/>
              </a:ext>
            </a:extLst>
          </p:cNvPr>
          <p:cNvSpPr txBox="1"/>
          <p:nvPr/>
        </p:nvSpPr>
        <p:spPr bwMode="auto">
          <a:xfrm>
            <a:off x="7320136" y="1827042"/>
            <a:ext cx="2347084" cy="34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2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pPr algn="r"/>
            <a:r>
              <a:rPr lang="en-US" altLang="ja-JP" sz="1600"/>
              <a:t>#RLISTSN#WX1#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B4973D0-1BE3-ADC2-392A-F29C77AF0A6F}"/>
              </a:ext>
            </a:extLst>
          </p:cNvPr>
          <p:cNvSpPr txBox="1"/>
          <p:nvPr/>
        </p:nvSpPr>
        <p:spPr bwMode="auto">
          <a:xfrm>
            <a:off x="1323525" y="3257254"/>
            <a:ext cx="6624737" cy="34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#RLISTIT#WX2#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0D417FF-F8D0-32A8-B732-78B5F6B7BED8}"/>
              </a:ext>
            </a:extLst>
          </p:cNvPr>
          <p:cNvSpPr txBox="1"/>
          <p:nvPr/>
        </p:nvSpPr>
        <p:spPr bwMode="auto">
          <a:xfrm>
            <a:off x="7320136" y="3257254"/>
            <a:ext cx="2347084" cy="34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2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pPr algn="r"/>
            <a:r>
              <a:rPr lang="en-US" altLang="ja-JP" sz="1600"/>
              <a:t>#RLISTSN#WX2#</a:t>
            </a:r>
          </a:p>
        </p:txBody>
      </p:sp>
    </p:spTree>
    <p:extLst>
      <p:ext uri="{BB962C8B-B14F-4D97-AF65-F5344CB8AC3E}">
        <p14:creationId xmlns:p14="http://schemas.microsoft.com/office/powerpoint/2010/main" val="1378372102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t" anchorCtr="0" compatLnSpc="1">
        <a:prstTxWarp prst="textNoShape">
          <a:avLst/>
        </a:prstTxWarp>
      </a:bodyPr>
      <a:lstStyle>
        <a:defPPr algn="ctr" defTabSz="914477" eaLnBrk="1" hangingPunct="1">
          <a:defRPr kumimoji="1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1" rIns="91440" bIns="45721" numCol="1" rtlCol="0" anchor="t" anchorCtr="0" compatLnSpc="1">
        <a:prstTxWarp prst="textNoShape">
          <a:avLst/>
        </a:prstTxWarp>
        <a:spAutoFit/>
      </a:bodyPr>
      <a:lstStyle>
        <a:defPPr algn="l" eaLnBrk="1">
          <a:defRPr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図解技法による分かりやすい資料の作成講座-20181121・講師用</Template>
  <TotalTime>20228</TotalTime>
  <Words>671</Words>
  <Application>Microsoft Office PowerPoint</Application>
  <PresentationFormat>ワイド画面</PresentationFormat>
  <Paragraphs>66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5" baseType="lpstr">
      <vt:lpstr>BIZ UDPゴシック</vt:lpstr>
      <vt:lpstr>FOT-UD丸ゴ_ラージ Pr6 M</vt:lpstr>
      <vt:lpstr>Arial</vt:lpstr>
      <vt:lpstr>Garamond</vt:lpstr>
      <vt:lpstr>Wingdings</vt:lpstr>
      <vt:lpstr>Edge</vt:lpstr>
      <vt:lpstr>PowerPoint Indexing Labeler  Example</vt:lpstr>
      <vt:lpstr>#DT#WX1.PG1#) Chapter 1, Page 1   !!S_1!!</vt:lpstr>
      <vt:lpstr>Ａ simple sentence without DT-code stays the same</vt:lpstr>
      <vt:lpstr>#DT#WX1.PGA#)  DT-code without numeric !!S_3!!</vt:lpstr>
      <vt:lpstr>#DT#WXB.PGX#)  DT-code without numeric !!S_4!!</vt:lpstr>
      <vt:lpstr>Ａ slide can contain multiple DT-codes</vt:lpstr>
      <vt:lpstr>Acceptable DT-code format examples.</vt:lpstr>
      <vt:lpstr>Several Reference code format examples.</vt:lpstr>
      <vt:lpstr>Index Page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開米瑞浩</dc:creator>
  <cp:lastModifiedBy>瑞浩 開米</cp:lastModifiedBy>
  <cp:revision>1777</cp:revision>
  <cp:lastPrinted>2024-11-10T09:08:11Z</cp:lastPrinted>
  <dcterms:modified xsi:type="dcterms:W3CDTF">2025-02-22T02:34:30Z</dcterms:modified>
</cp:coreProperties>
</file>