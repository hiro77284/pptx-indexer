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1"/>
  </p:notesMasterIdLst>
  <p:sldIdLst>
    <p:sldId id="1682" r:id="rId2"/>
    <p:sldId id="1688" r:id="rId3"/>
    <p:sldId id="1689" r:id="rId4"/>
    <p:sldId id="1691" r:id="rId5"/>
    <p:sldId id="1690" r:id="rId6"/>
    <p:sldId id="1694" r:id="rId7"/>
    <p:sldId id="1695" r:id="rId8"/>
    <p:sldId id="1693" r:id="rId9"/>
    <p:sldId id="1686" r:id="rId10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96" d="100"/>
          <a:sy n="96" d="100"/>
        </p:scale>
        <p:origin x="72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2024/12/11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PowerPoint Indexing Labeler </a:t>
            </a:r>
            <a:br>
              <a:rPr kumimoji="1" lang="en-US" altLang="ja-JP"/>
            </a:br>
            <a:r>
              <a:rPr kumimoji="1" lang="en-US" altLang="ja-JP"/>
              <a:t>Example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/>
              <a:t>Version 1.0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1.1) Chapter 1, __________  !!S_1!!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6276C2-91B8-ADEC-CB3B-2924E9E85D26}"/>
              </a:ext>
            </a:extLst>
          </p:cNvPr>
          <p:cNvSpPr txBox="1"/>
          <p:nvPr/>
        </p:nvSpPr>
        <p:spPr bwMode="auto">
          <a:xfrm>
            <a:off x="1127453" y="1412776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は章・節番号へと置換されます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BB8CE6E-C042-B8A2-D3B9-E5CCB9A91FCC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5B0E1A-ABC0-84CA-F282-70A70DE60E4E}"/>
              </a:ext>
            </a:extLst>
          </p:cNvPr>
          <p:cNvSpPr txBox="1"/>
          <p:nvPr/>
        </p:nvSpPr>
        <p:spPr bwMode="auto">
          <a:xfrm>
            <a:off x="1127453" y="179752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is replaced with the chapter and the section numbers.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97FF768-D7B0-F2D7-C938-975D829B1717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0243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3F66FF4-CFE5-F36B-84FE-67E41C3C3234}"/>
              </a:ext>
            </a:extLst>
          </p:cNvPr>
          <p:cNvCxnSpPr/>
          <p:nvPr/>
        </p:nvCxnSpPr>
        <p:spPr bwMode="auto">
          <a:xfrm flipV="1">
            <a:off x="8751642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35F5B8A-ECEF-0DBE-5909-2B7E4D40C2CF}"/>
              </a:ext>
            </a:extLst>
          </p:cNvPr>
          <p:cNvCxnSpPr>
            <a:cxnSpLocks/>
          </p:cNvCxnSpPr>
          <p:nvPr/>
        </p:nvCxnSpPr>
        <p:spPr bwMode="auto">
          <a:xfrm>
            <a:off x="8112224" y="836712"/>
            <a:ext cx="1296144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A9E689A-4498-753F-600E-286313A02F09}"/>
              </a:ext>
            </a:extLst>
          </p:cNvPr>
          <p:cNvSpPr txBox="1"/>
          <p:nvPr/>
        </p:nvSpPr>
        <p:spPr bwMode="auto">
          <a:xfrm>
            <a:off x="8112224" y="1412776"/>
            <a:ext cx="3456379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この形式の文字列は変換結果の照合用符号です。開発用にのみ使用します。通常、利用者が知る必要はありません。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4698126-FBD6-A9F3-1C86-2649D637212B}"/>
              </a:ext>
            </a:extLst>
          </p:cNvPr>
          <p:cNvSpPr txBox="1"/>
          <p:nvPr/>
        </p:nvSpPr>
        <p:spPr bwMode="auto">
          <a:xfrm>
            <a:off x="8112224" y="2160969"/>
            <a:ext cx="3456379" cy="138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This format of string serves as a code for verifying conversion results. It is used only for development purposes and is not typically necessary for users to know."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DA772B-D10B-2F23-55EE-990692EBAC0F}"/>
              </a:ext>
            </a:extLst>
          </p:cNvPr>
          <p:cNvSpPr txBox="1"/>
          <p:nvPr/>
        </p:nvSpPr>
        <p:spPr bwMode="auto">
          <a:xfrm>
            <a:off x="1127453" y="3284355"/>
            <a:ext cx="5688627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とは、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の後に英数文字が続くコードであり、下記正規表現にマッチするものです。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2871BB-CF4D-F432-9AA4-A43170DD5035}"/>
              </a:ext>
            </a:extLst>
          </p:cNvPr>
          <p:cNvSpPr txBox="1"/>
          <p:nvPr/>
        </p:nvSpPr>
        <p:spPr bwMode="auto">
          <a:xfrm>
            <a:off x="1127453" y="3904657"/>
            <a:ext cx="6120675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"DT-code" refers to a code consisting of alphanumeric characters following '#DT#', which matches the following regular expression.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18B1712-4860-8FA5-701C-A22EF1201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3" y="5174844"/>
            <a:ext cx="7773485" cy="2572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17698B9-7A8D-A33C-1ACD-6A2506A5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5836593"/>
            <a:ext cx="9859751" cy="31436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08F9A0-1325-DA60-E52F-0B74A5FFF49C}"/>
              </a:ext>
            </a:extLst>
          </p:cNvPr>
          <p:cNvSpPr txBox="1"/>
          <p:nvPr/>
        </p:nvSpPr>
        <p:spPr bwMode="auto">
          <a:xfrm>
            <a:off x="1127453" y="4908960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number only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02B9281-BF31-93BB-45D5-212BAE1F2F60}"/>
              </a:ext>
            </a:extLst>
          </p:cNvPr>
          <p:cNvSpPr txBox="1"/>
          <p:nvPr/>
        </p:nvSpPr>
        <p:spPr bwMode="auto">
          <a:xfrm>
            <a:off x="1127453" y="5613704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and section number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simple sentence without DT-code stays the same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B572DC-89D4-59D8-A319-5E283E1948CD}"/>
              </a:ext>
            </a:extLst>
          </p:cNvPr>
          <p:cNvSpPr txBox="1"/>
          <p:nvPr/>
        </p:nvSpPr>
        <p:spPr bwMode="auto">
          <a:xfrm>
            <a:off x="1127453" y="1358102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を含まない単純な文は変更されません。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4004596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はコンテンツエリアにあっても機能します。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54240B-0A79-B462-471D-2F3A1706DE6F}"/>
              </a:ext>
            </a:extLst>
          </p:cNvPr>
          <p:cNvSpPr txBox="1"/>
          <p:nvPr/>
        </p:nvSpPr>
        <p:spPr bwMode="auto">
          <a:xfrm>
            <a:off x="1127453" y="1718142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 sentence without DT-code stays the same.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C267388-1AE3-8A6A-28F4-1C188066B3DE}"/>
              </a:ext>
            </a:extLst>
          </p:cNvPr>
          <p:cNvCxnSpPr/>
          <p:nvPr/>
        </p:nvCxnSpPr>
        <p:spPr bwMode="auto">
          <a:xfrm flipV="1">
            <a:off x="3071664" y="835754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B725E42-3DCB-A2E9-9AE7-33EE63D17F57}"/>
              </a:ext>
            </a:extLst>
          </p:cNvPr>
          <p:cNvCxnSpPr>
            <a:cxnSpLocks/>
          </p:cNvCxnSpPr>
          <p:nvPr/>
        </p:nvCxnSpPr>
        <p:spPr bwMode="auto">
          <a:xfrm>
            <a:off x="898656" y="835754"/>
            <a:ext cx="105259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9F3BC87-543E-0CC0-A92C-B5C14484C0F2}"/>
              </a:ext>
            </a:extLst>
          </p:cNvPr>
          <p:cNvSpPr txBox="1"/>
          <p:nvPr/>
        </p:nvSpPr>
        <p:spPr bwMode="auto">
          <a:xfrm>
            <a:off x="1127453" y="3086681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1.2) DT-code in content area !!S_2!!</a:t>
            </a:r>
            <a:endParaRPr lang="ja-JP" altLang="en-US" sz="24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5E1105-64CE-5EF2-8E35-243662CA6071}"/>
              </a:ext>
            </a:extLst>
          </p:cNvPr>
          <p:cNvSpPr txBox="1"/>
          <p:nvPr/>
        </p:nvSpPr>
        <p:spPr bwMode="auto">
          <a:xfrm>
            <a:off x="1127453" y="4362884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also works in the content area.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5D3907C-8AEF-2BBF-FC7F-8D1145106E60}"/>
              </a:ext>
            </a:extLst>
          </p:cNvPr>
          <p:cNvCxnSpPr/>
          <p:nvPr/>
        </p:nvCxnSpPr>
        <p:spPr bwMode="auto">
          <a:xfrm flipV="1">
            <a:off x="2567608" y="3573016"/>
            <a:ext cx="0" cy="461987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FEC5EFB8-4CF4-B2D4-428C-FE6EF83DE51F}"/>
              </a:ext>
            </a:extLst>
          </p:cNvPr>
          <p:cNvCxnSpPr>
            <a:cxnSpLocks/>
          </p:cNvCxnSpPr>
          <p:nvPr/>
        </p:nvCxnSpPr>
        <p:spPr bwMode="auto">
          <a:xfrm>
            <a:off x="1127453" y="3548346"/>
            <a:ext cx="2232243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8451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1.3)  DT-code without numeric !!S_3!!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は英文字だけでも機能します。出現順にナンバリングされます。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D0DD86-8A84-4F26-44B8-67F96C11AC7E}"/>
              </a:ext>
            </a:extLst>
          </p:cNvPr>
          <p:cNvSpPr txBox="1"/>
          <p:nvPr/>
        </p:nvSpPr>
        <p:spPr bwMode="auto">
          <a:xfrm>
            <a:off x="1127453" y="2027682"/>
            <a:ext cx="6120675" cy="120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DT-codes don't require numeric characters, those with alphabetic characters only can also work, and is numbered in the order of appearance.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0243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5615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2.1)  DT-code without numeric !!S_4!!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WX1, WXB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の順に出現したので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＝１，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コードは同一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コード内でナンバリングされます。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PGX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内で初めて出現したので１となります。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312368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146FA1-B65D-EE86-7C72-BF0611C1A8A3}"/>
              </a:ext>
            </a:extLst>
          </p:cNvPr>
          <p:cNvSpPr txBox="1"/>
          <p:nvPr/>
        </p:nvSpPr>
        <p:spPr bwMode="auto">
          <a:xfrm>
            <a:off x="1127453" y="3068960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code above is converted to 2.1. The chapter codes appeared in the order of WX1, WXB, thus they are converted to 1 and 2. Section codes are numbered within the same chapter code. Since PGX appeared the first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time within WXB, it is numbered as 1.</a:t>
            </a:r>
          </a:p>
        </p:txBody>
      </p:sp>
    </p:spTree>
    <p:extLst>
      <p:ext uri="{BB962C8B-B14F-4D97-AF65-F5344CB8AC3E}">
        <p14:creationId xmlns:p14="http://schemas.microsoft.com/office/powerpoint/2010/main" val="99789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slide can contain multiple DT-codes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78F7564-CB73-5BD6-6E24-3BF4167EEC59}"/>
              </a:ext>
            </a:extLst>
          </p:cNvPr>
          <p:cNvSpPr txBox="1"/>
          <p:nvPr/>
        </p:nvSpPr>
        <p:spPr bwMode="auto">
          <a:xfrm>
            <a:off x="1127453" y="1933416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2.2)  2nd DT-code in the same slide        !!S_6!!</a:t>
            </a:r>
            <a:endParaRPr lang="ja-JP" altLang="en-US" sz="24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482965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2.3)  1st DT-code in a slide                       !!S_5!!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99127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Acceptable DT-code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2" y="1397089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2.4) chapter and section should be alphanumeric    !!S_7!!</a:t>
            </a:r>
            <a:endParaRPr lang="ja-JP" altLang="en-US" sz="240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6FF0CA7-1EB7-35A2-41AB-8E62DD0581CA}"/>
              </a:ext>
            </a:extLst>
          </p:cNvPr>
          <p:cNvCxnSpPr/>
          <p:nvPr/>
        </p:nvCxnSpPr>
        <p:spPr bwMode="auto">
          <a:xfrm>
            <a:off x="1991544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30F73D5-906C-8450-3836-6A74F25851F5}"/>
              </a:ext>
            </a:extLst>
          </p:cNvPr>
          <p:cNvCxnSpPr/>
          <p:nvPr/>
        </p:nvCxnSpPr>
        <p:spPr bwMode="auto">
          <a:xfrm>
            <a:off x="2805945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9FDBE8-FF21-3741-30F6-84DDDF78F7E4}"/>
              </a:ext>
            </a:extLst>
          </p:cNvPr>
          <p:cNvSpPr txBox="1"/>
          <p:nvPr/>
        </p:nvSpPr>
        <p:spPr bwMode="auto">
          <a:xfrm>
            <a:off x="1775520" y="2065456"/>
            <a:ext cx="2376264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alphanumeric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7A632D1-8636-43AA-6621-7EDFFFCB96EA}"/>
              </a:ext>
            </a:extLst>
          </p:cNvPr>
          <p:cNvCxnSpPr/>
          <p:nvPr/>
        </p:nvCxnSpPr>
        <p:spPr bwMode="auto">
          <a:xfrm flipH="1" flipV="1">
            <a:off x="2315580" y="1833464"/>
            <a:ext cx="324036" cy="330423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F1827E2-CE4C-734F-26AD-A36B3D4A1C8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2781" y="1833463"/>
            <a:ext cx="240871" cy="33042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54C8C9-7B0E-5640-73A6-F670EE9AF9C7}"/>
              </a:ext>
            </a:extLst>
          </p:cNvPr>
          <p:cNvSpPr txBox="1"/>
          <p:nvPr/>
        </p:nvSpPr>
        <p:spPr bwMode="auto">
          <a:xfrm>
            <a:off x="1127452" y="2512671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3.1) short and long code sample             !!S_8!!</a:t>
            </a:r>
            <a:endParaRPr lang="ja-JP" altLang="en-US" sz="240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22FD46F-39C0-21E0-3AD0-BC2C5B5E84B7}"/>
              </a:ext>
            </a:extLst>
          </p:cNvPr>
          <p:cNvCxnSpPr/>
          <p:nvPr/>
        </p:nvCxnSpPr>
        <p:spPr bwMode="auto">
          <a:xfrm>
            <a:off x="1915756" y="2924944"/>
            <a:ext cx="365819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B5D85F5-46EB-A4E2-5062-09A0D51C03B2}"/>
              </a:ext>
            </a:extLst>
          </p:cNvPr>
          <p:cNvCxnSpPr>
            <a:cxnSpLocks/>
          </p:cNvCxnSpPr>
          <p:nvPr/>
        </p:nvCxnSpPr>
        <p:spPr bwMode="auto">
          <a:xfrm>
            <a:off x="2356962" y="2924944"/>
            <a:ext cx="2658918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669DBCD-0A20-4F31-AE24-4A55FBE3BB47}"/>
              </a:ext>
            </a:extLst>
          </p:cNvPr>
          <p:cNvSpPr txBox="1"/>
          <p:nvPr/>
        </p:nvSpPr>
        <p:spPr bwMode="auto">
          <a:xfrm>
            <a:off x="1127452" y="3386609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DT#WXC-PGX separator and terminator                                       !!S_9!!</a:t>
            </a:r>
            <a:endParaRPr lang="ja-JP" altLang="en-US" sz="240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E383FE0-640D-6629-5165-D6106CB80ED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22781" y="3745227"/>
            <a:ext cx="240871" cy="92086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67C3293-7AE5-4ED0-B6A7-FD3F7D529C02}"/>
              </a:ext>
            </a:extLst>
          </p:cNvPr>
          <p:cNvSpPr txBox="1"/>
          <p:nvPr/>
        </p:nvSpPr>
        <p:spPr bwMode="auto">
          <a:xfrm>
            <a:off x="820523" y="4691553"/>
            <a:ext cx="25562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separator can be '-'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4A5CDC7B-2829-FC92-1581-B3B31541759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14885" y="3745227"/>
            <a:ext cx="271536" cy="327585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49A371F-CE22-581D-BDB7-D94B27A914D8}"/>
              </a:ext>
            </a:extLst>
          </p:cNvPr>
          <p:cNvSpPr txBox="1"/>
          <p:nvPr/>
        </p:nvSpPr>
        <p:spPr bwMode="auto">
          <a:xfrm>
            <a:off x="3416980" y="4048458"/>
            <a:ext cx="6711467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terminator can be several non-alphanumerical characters, such as ')', ':', '&gt;', '|', but can't be '_' and '.'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2C204BE-9E0B-490C-DD76-6041E586CA3E}"/>
              </a:ext>
            </a:extLst>
          </p:cNvPr>
          <p:cNvSpPr txBox="1"/>
          <p:nvPr/>
        </p:nvSpPr>
        <p:spPr bwMode="auto">
          <a:xfrm>
            <a:off x="1127452" y="5328364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4) just a chapter code without section also available  !!S_10!!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48825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Several Reference 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095126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DT-code defines a signifier of a title text.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A73CED0-BE99-A52C-EBF3-03B8B3FDCD38}"/>
              </a:ext>
            </a:extLst>
          </p:cNvPr>
          <p:cNvSpPr txBox="1"/>
          <p:nvPr/>
        </p:nvSpPr>
        <p:spPr bwMode="auto">
          <a:xfrm>
            <a:off x="1847528" y="2260415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5.1)  101 of digital marketing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CD48883-4465-C0DB-F388-99697FFC112C}"/>
              </a:ext>
            </a:extLst>
          </p:cNvPr>
          <p:cNvSpPr txBox="1"/>
          <p:nvPr/>
        </p:nvSpPr>
        <p:spPr bwMode="auto">
          <a:xfrm>
            <a:off x="1127453" y="2859323"/>
            <a:ext cx="95770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You can use R-codes to cite the related information defined by the DT-code.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3C77CDC-A346-BE3C-D4A0-41FB386F5816}"/>
              </a:ext>
            </a:extLst>
          </p:cNvPr>
          <p:cNvCxnSpPr/>
          <p:nvPr/>
        </p:nvCxnSpPr>
        <p:spPr bwMode="auto">
          <a:xfrm>
            <a:off x="3359696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758549B-72F7-A776-F762-27876281E3D5}"/>
              </a:ext>
            </a:extLst>
          </p:cNvPr>
          <p:cNvSpPr txBox="1"/>
          <p:nvPr/>
        </p:nvSpPr>
        <p:spPr bwMode="auto">
          <a:xfrm>
            <a:off x="2711624" y="1542633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signifier</a:t>
            </a: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C33A5A1-C614-99FD-7E4B-4E800BC19DC0}"/>
              </a:ext>
            </a:extLst>
          </p:cNvPr>
          <p:cNvCxnSpPr>
            <a:cxnSpLocks/>
          </p:cNvCxnSpPr>
          <p:nvPr/>
        </p:nvCxnSpPr>
        <p:spPr bwMode="auto">
          <a:xfrm>
            <a:off x="2639616" y="2273194"/>
            <a:ext cx="136815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56B21349-5347-71F1-B84A-965C065884D6}"/>
              </a:ext>
            </a:extLst>
          </p:cNvPr>
          <p:cNvCxnSpPr>
            <a:cxnSpLocks/>
          </p:cNvCxnSpPr>
          <p:nvPr/>
        </p:nvCxnSpPr>
        <p:spPr bwMode="auto">
          <a:xfrm>
            <a:off x="5735960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B77E33D-83AB-929B-BB30-1CB6F7B524AA}"/>
              </a:ext>
            </a:extLst>
          </p:cNvPr>
          <p:cNvCxnSpPr>
            <a:cxnSpLocks/>
          </p:cNvCxnSpPr>
          <p:nvPr/>
        </p:nvCxnSpPr>
        <p:spPr bwMode="auto">
          <a:xfrm>
            <a:off x="4295800" y="2273194"/>
            <a:ext cx="345638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743E59A-85F4-9B92-9F92-D7B00A4C4275}"/>
              </a:ext>
            </a:extLst>
          </p:cNvPr>
          <p:cNvSpPr txBox="1"/>
          <p:nvPr/>
        </p:nvSpPr>
        <p:spPr bwMode="auto">
          <a:xfrm>
            <a:off x="5015880" y="1542633"/>
            <a:ext cx="17213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title text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123F8E7-257D-E552-8B15-5A5F14D39079}"/>
              </a:ext>
            </a:extLst>
          </p:cNvPr>
          <p:cNvCxnSpPr/>
          <p:nvPr/>
        </p:nvCxnSpPr>
        <p:spPr bwMode="auto">
          <a:xfrm>
            <a:off x="2999656" y="418761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F2C904A-5F95-0778-A3FC-31934D988801}"/>
              </a:ext>
            </a:extLst>
          </p:cNvPr>
          <p:cNvCxnSpPr/>
          <p:nvPr/>
        </p:nvCxnSpPr>
        <p:spPr bwMode="auto">
          <a:xfrm>
            <a:off x="2999656" y="486916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4E0B9FF-1E75-9BC0-8512-77B337E93AB3}"/>
              </a:ext>
            </a:extLst>
          </p:cNvPr>
          <p:cNvCxnSpPr/>
          <p:nvPr/>
        </p:nvCxnSpPr>
        <p:spPr bwMode="auto">
          <a:xfrm>
            <a:off x="2999656" y="632365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ECF6CE55-0C09-1695-E05E-0671C3869C0C}"/>
              </a:ext>
            </a:extLst>
          </p:cNvPr>
          <p:cNvCxnSpPr/>
          <p:nvPr/>
        </p:nvCxnSpPr>
        <p:spPr bwMode="auto">
          <a:xfrm>
            <a:off x="2999656" y="564654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22A0CE6-D995-BEC7-46B3-7DB8A29683CD}"/>
              </a:ext>
            </a:extLst>
          </p:cNvPr>
          <p:cNvSpPr txBox="1"/>
          <p:nvPr/>
        </p:nvSpPr>
        <p:spPr bwMode="auto">
          <a:xfrm>
            <a:off x="4367808" y="3946432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5.1                                        !!S_11!!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314F52C1-81C2-6FCB-1208-45CE37286F2F}"/>
              </a:ext>
            </a:extLst>
          </p:cNvPr>
          <p:cNvSpPr txBox="1"/>
          <p:nvPr/>
        </p:nvSpPr>
        <p:spPr bwMode="auto">
          <a:xfrm>
            <a:off x="4367808" y="4672678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101 of digital marketing                                       !!S_12!!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1B6697D-80F2-2A46-0F6C-1CB312B47AAD}"/>
              </a:ext>
            </a:extLst>
          </p:cNvPr>
          <p:cNvSpPr txBox="1"/>
          <p:nvPr/>
        </p:nvSpPr>
        <p:spPr bwMode="auto">
          <a:xfrm>
            <a:off x="4367808" y="610762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7                                        !!S_14!!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396E6D3-D832-9B5B-9A26-146968F2045A}"/>
              </a:ext>
            </a:extLst>
          </p:cNvPr>
          <p:cNvSpPr txBox="1"/>
          <p:nvPr/>
        </p:nvSpPr>
        <p:spPr bwMode="auto">
          <a:xfrm>
            <a:off x="4367808" y="543051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5.1  101 of digital marketing                                        !!S_13!!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2A521525-4606-0367-B539-009E130C7F51}"/>
              </a:ext>
            </a:extLst>
          </p:cNvPr>
          <p:cNvSpPr txBox="1"/>
          <p:nvPr/>
        </p:nvSpPr>
        <p:spPr bwMode="auto">
          <a:xfrm>
            <a:off x="2711624" y="3716356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FB0303B-D0EB-4FE3-599C-C3B465D3CA11}"/>
              </a:ext>
            </a:extLst>
          </p:cNvPr>
          <p:cNvSpPr txBox="1"/>
          <p:nvPr/>
        </p:nvSpPr>
        <p:spPr bwMode="auto">
          <a:xfrm>
            <a:off x="2819638" y="4499784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title text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D213095D-8A56-8F12-35FD-3E87C73169FB}"/>
              </a:ext>
            </a:extLst>
          </p:cNvPr>
          <p:cNvSpPr txBox="1"/>
          <p:nvPr/>
        </p:nvSpPr>
        <p:spPr bwMode="auto">
          <a:xfrm>
            <a:off x="2819638" y="5175820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and title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5F30A79-92C0-D0E2-A2BB-7A2A7DEE2D4C}"/>
              </a:ext>
            </a:extLst>
          </p:cNvPr>
          <p:cNvSpPr txBox="1"/>
          <p:nvPr/>
        </p:nvSpPr>
        <p:spPr bwMode="auto">
          <a:xfrm>
            <a:off x="2819638" y="5954319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slide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B1F701F6-62F3-76BB-2566-E069F583E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432" y="3925995"/>
            <a:ext cx="25717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6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Index Page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following shapes will be replaced with the table of contents.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7208C5-A8ED-73E8-AECE-EEE0D7A6F78C}"/>
              </a:ext>
            </a:extLst>
          </p:cNvPr>
          <p:cNvSpPr txBox="1"/>
          <p:nvPr/>
        </p:nvSpPr>
        <p:spPr bwMode="auto">
          <a:xfrm>
            <a:off x="1323525" y="1827042"/>
            <a:ext cx="6624737" cy="122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Chapter 1, __________   !!S_1!!</a:t>
            </a:r>
          </a:p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1.2) DT-code in content area !!S_2!!
1.3) DT-code without numeric !!S_3!!
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48185C-6C02-38A8-F736-166E89B5431C}"/>
              </a:ext>
            </a:extLst>
          </p:cNvPr>
          <p:cNvSpPr txBox="1"/>
          <p:nvPr/>
        </p:nvSpPr>
        <p:spPr bwMode="auto">
          <a:xfrm>
            <a:off x="7320136" y="1827042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1
2
3
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4973D0-1BE3-ADC2-392A-F29C77AF0A6F}"/>
              </a:ext>
            </a:extLst>
          </p:cNvPr>
          <p:cNvSpPr txBox="1"/>
          <p:nvPr/>
        </p:nvSpPr>
        <p:spPr bwMode="auto">
          <a:xfrm>
            <a:off x="1323525" y="3257254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#RLISTIT#WX2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D417FF-F8D0-32A8-B732-78B5F6B7BED8}"/>
              </a:ext>
            </a:extLst>
          </p:cNvPr>
          <p:cNvSpPr txBox="1"/>
          <p:nvPr/>
        </p:nvSpPr>
        <p:spPr bwMode="auto">
          <a:xfrm>
            <a:off x="7320136" y="3257254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#RLISTSN#WX2</a:t>
            </a:r>
          </a:p>
        </p:txBody>
      </p:sp>
    </p:spTree>
    <p:extLst>
      <p:ext uri="{BB962C8B-B14F-4D97-AF65-F5344CB8AC3E}">
        <p14:creationId xmlns:p14="http://schemas.microsoft.com/office/powerpoint/2010/main" val="1378372102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20228</TotalTime>
  <Words>648</Words>
  <Application>Microsoft Office PowerPoint</Application>
  <PresentationFormat>ワイド画面</PresentationFormat>
  <Paragraphs>67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FOT-UD丸ゴ_ラージ Pr6 M</vt:lpstr>
      <vt:lpstr>Arial</vt:lpstr>
      <vt:lpstr>Garamond</vt:lpstr>
      <vt:lpstr>Wingdings</vt:lpstr>
      <vt:lpstr>Edge</vt:lpstr>
      <vt:lpstr>PowerPoint Indexing Labeler  Example</vt:lpstr>
      <vt:lpstr>1.1) Chapter 1, __________  !!S_1!!</vt:lpstr>
      <vt:lpstr>Ａ simple sentence without DT-code stays the same</vt:lpstr>
      <vt:lpstr>1.3)  DT-code without numeric !!S_3!!</vt:lpstr>
      <vt:lpstr>2.1)  DT-code without numeric !!S_4!!</vt:lpstr>
      <vt:lpstr>Ａ slide can contain multiple DT-codes</vt:lpstr>
      <vt:lpstr>Acceptable DT-code format examples.</vt:lpstr>
      <vt:lpstr>Several Reference code format examples.</vt:lpstr>
      <vt:lpstr>Index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1769</cp:revision>
  <cp:lastPrinted>2024-11-10T09:08:11Z</cp:lastPrinted>
  <dcterms:modified xsi:type="dcterms:W3CDTF">2024-12-11T06:42:22Z</dcterms:modified>
</cp:coreProperties>
</file>