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"/>
  </p:notesMasterIdLst>
  <p:sldIdLst>
    <p:sldId id="1681" r:id="rId2"/>
    <p:sldId id="1682" r:id="rId3"/>
    <p:sldId id="753" r:id="rId4"/>
    <p:sldId id="1683" r:id="rId5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115" d="100"/>
          <a:sy n="115" d="100"/>
        </p:scale>
        <p:origin x="28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2024/11/11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#DT#FA3.SZ4)</a:t>
            </a:r>
            <a:r>
              <a:rPr lang="ja-JP" altLang="en-US" sz="2800">
                <a:solidFill>
                  <a:schemeClr val="tx1"/>
                </a:solidFill>
              </a:rPr>
              <a:t> 対応関係のある構造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右手と左手、発注者と受注者、西と東のような 「対応関係」 も基本的な構造です。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95F9F-AAE6-6C52-4F67-49BDC6C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0</a:t>
            </a:fld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D0C73B0-B92A-BED6-355B-315DB0D31965}"/>
              </a:ext>
            </a:extLst>
          </p:cNvPr>
          <p:cNvSpPr/>
          <p:nvPr/>
        </p:nvSpPr>
        <p:spPr bwMode="auto">
          <a:xfrm>
            <a:off x="1117986" y="3181853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左手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8CA0DB8-0D14-355D-6A68-C506B0D00237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 bwMode="auto">
          <a:xfrm>
            <a:off x="2293226" y="3403896"/>
            <a:ext cx="48093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03E6838-A4DC-EC03-4104-B98CE9224123}"/>
              </a:ext>
            </a:extLst>
          </p:cNvPr>
          <p:cNvSpPr txBox="1"/>
          <p:nvPr/>
        </p:nvSpPr>
        <p:spPr bwMode="auto">
          <a:xfrm>
            <a:off x="1241766" y="5749466"/>
            <a:ext cx="9100315" cy="4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キーワード・リストの中から何らかの</a:t>
            </a:r>
            <a:r>
              <a:rPr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対応関係を探して、その意味を考えよう</a:t>
            </a:r>
            <a:endParaRPr lang="ja-JP" altLang="en-US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EC71B3-2A22-43BE-2BDA-6838102C239C}"/>
              </a:ext>
            </a:extLst>
          </p:cNvPr>
          <p:cNvSpPr/>
          <p:nvPr/>
        </p:nvSpPr>
        <p:spPr bwMode="auto">
          <a:xfrm>
            <a:off x="2774165" y="3181853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右手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736752C-5373-126F-719F-2F2675E656F7}"/>
              </a:ext>
            </a:extLst>
          </p:cNvPr>
          <p:cNvSpPr/>
          <p:nvPr/>
        </p:nvSpPr>
        <p:spPr bwMode="auto">
          <a:xfrm>
            <a:off x="1117986" y="382131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東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1C7FBE9-67C6-54E3-71B0-473AAA8E26F7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 bwMode="auto">
          <a:xfrm>
            <a:off x="2293226" y="4043353"/>
            <a:ext cx="48093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22ED6D4-CEC1-4EA5-D681-1B5F237011CE}"/>
              </a:ext>
            </a:extLst>
          </p:cNvPr>
          <p:cNvSpPr/>
          <p:nvPr/>
        </p:nvSpPr>
        <p:spPr bwMode="auto">
          <a:xfrm>
            <a:off x="2774165" y="382131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西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25E70A7-878A-EAC1-9A28-94FCCE5F7CDC}"/>
              </a:ext>
            </a:extLst>
          </p:cNvPr>
          <p:cNvSpPr/>
          <p:nvPr/>
        </p:nvSpPr>
        <p:spPr bwMode="auto">
          <a:xfrm>
            <a:off x="8659180" y="3159598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肺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42B9BA8-34FE-D19A-129A-D3CE0640519D}"/>
              </a:ext>
            </a:extLst>
          </p:cNvPr>
          <p:cNvSpPr/>
          <p:nvPr/>
        </p:nvSpPr>
        <p:spPr bwMode="auto">
          <a:xfrm>
            <a:off x="9883316" y="3159598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えら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2DABB30-0B3B-397A-081A-B086B41A9F4B}"/>
              </a:ext>
            </a:extLst>
          </p:cNvPr>
          <p:cNvSpPr/>
          <p:nvPr/>
        </p:nvSpPr>
        <p:spPr bwMode="auto">
          <a:xfrm>
            <a:off x="8659180" y="370315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四肢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5BC08FA2-D132-AB9C-4F0C-F57C1834BEDF}"/>
              </a:ext>
            </a:extLst>
          </p:cNvPr>
          <p:cNvSpPr/>
          <p:nvPr/>
        </p:nvSpPr>
        <p:spPr bwMode="auto">
          <a:xfrm>
            <a:off x="9883316" y="370315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ひれ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D1892A36-131B-791C-9A67-F0290F83D48C}"/>
              </a:ext>
            </a:extLst>
          </p:cNvPr>
          <p:cNvSpPr/>
          <p:nvPr/>
        </p:nvSpPr>
        <p:spPr bwMode="auto">
          <a:xfrm>
            <a:off x="8659180" y="2616046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哺乳類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0A212A23-3453-2550-C4DA-9847185D030B}"/>
              </a:ext>
            </a:extLst>
          </p:cNvPr>
          <p:cNvSpPr/>
          <p:nvPr/>
        </p:nvSpPr>
        <p:spPr bwMode="auto">
          <a:xfrm>
            <a:off x="9883316" y="2616046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魚類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2A5875E0-0965-6C34-42D2-A2CB94069C12}"/>
              </a:ext>
            </a:extLst>
          </p:cNvPr>
          <p:cNvSpPr/>
          <p:nvPr/>
        </p:nvSpPr>
        <p:spPr bwMode="auto">
          <a:xfrm>
            <a:off x="8659180" y="4243141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胎生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B5746722-889F-5E57-B329-81F992E5067C}"/>
              </a:ext>
            </a:extLst>
          </p:cNvPr>
          <p:cNvSpPr/>
          <p:nvPr/>
        </p:nvSpPr>
        <p:spPr bwMode="auto">
          <a:xfrm>
            <a:off x="9883316" y="4243141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卵生</a:t>
            </a: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350274F0-2DC6-8737-EE25-8B65C18DE3A2}"/>
              </a:ext>
            </a:extLst>
          </p:cNvPr>
          <p:cNvSpPr/>
          <p:nvPr/>
        </p:nvSpPr>
        <p:spPr bwMode="auto">
          <a:xfrm>
            <a:off x="7765328" y="3159598"/>
            <a:ext cx="802705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呼吸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7C6FEEF8-A1DC-194A-F510-D488597D1407}"/>
              </a:ext>
            </a:extLst>
          </p:cNvPr>
          <p:cNvSpPr/>
          <p:nvPr/>
        </p:nvSpPr>
        <p:spPr bwMode="auto">
          <a:xfrm>
            <a:off x="7765328" y="3703150"/>
            <a:ext cx="802705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7C07F474-65D5-E350-2347-EC2029FAA8D3}"/>
              </a:ext>
            </a:extLst>
          </p:cNvPr>
          <p:cNvSpPr/>
          <p:nvPr/>
        </p:nvSpPr>
        <p:spPr bwMode="auto">
          <a:xfrm>
            <a:off x="7765328" y="4243141"/>
            <a:ext cx="802705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繁殖</a:t>
            </a: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4BF93ABC-D63E-E7E3-593F-4785A94DC745}"/>
              </a:ext>
            </a:extLst>
          </p:cNvPr>
          <p:cNvSpPr/>
          <p:nvPr/>
        </p:nvSpPr>
        <p:spPr bwMode="auto">
          <a:xfrm>
            <a:off x="4554729" y="354869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発注者</a:t>
            </a: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CE01B327-6861-DDB0-7317-DA66D156A734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 bwMode="auto">
          <a:xfrm>
            <a:off x="5729969" y="3770733"/>
            <a:ext cx="48093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E38CD213-6E0A-17FD-C9E6-04BA88BA51FB}"/>
              </a:ext>
            </a:extLst>
          </p:cNvPr>
          <p:cNvSpPr/>
          <p:nvPr/>
        </p:nvSpPr>
        <p:spPr bwMode="auto">
          <a:xfrm>
            <a:off x="6210908" y="3548690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受注者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D93D76FA-0A88-6998-EB7C-8688A7633568}"/>
              </a:ext>
            </a:extLst>
          </p:cNvPr>
          <p:cNvSpPr/>
          <p:nvPr/>
        </p:nvSpPr>
        <p:spPr bwMode="auto">
          <a:xfrm>
            <a:off x="1492691" y="2558149"/>
            <a:ext cx="2082009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物理的な両端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85ABA872-9BF9-4FBD-B107-79DF87C1B518}"/>
              </a:ext>
            </a:extLst>
          </p:cNvPr>
          <p:cNvSpPr/>
          <p:nvPr/>
        </p:nvSpPr>
        <p:spPr bwMode="auto">
          <a:xfrm>
            <a:off x="4929433" y="2937555"/>
            <a:ext cx="2082009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業務上の役割</a:t>
            </a:r>
          </a:p>
        </p:txBody>
      </p:sp>
    </p:spTree>
    <p:extLst>
      <p:ext uri="{BB962C8B-B14F-4D97-AF65-F5344CB8AC3E}">
        <p14:creationId xmlns:p14="http://schemas.microsoft.com/office/powerpoint/2010/main" val="113368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6E4C-66FD-1CF4-F29C-418E25DF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3504640A-679D-0FC5-8AA9-79179C0F71B0}"/>
              </a:ext>
            </a:extLst>
          </p:cNvPr>
          <p:cNvSpPr/>
          <p:nvPr/>
        </p:nvSpPr>
        <p:spPr bwMode="auto">
          <a:xfrm>
            <a:off x="1415480" y="2901574"/>
            <a:ext cx="3338272" cy="1941826"/>
          </a:xfrm>
          <a:prstGeom prst="roundRect">
            <a:avLst>
              <a:gd name="adj" fmla="val 8345"/>
            </a:avLst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2A414EA-7E17-DBF5-AD98-15BDFD44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#DT#FA3.SZ5)</a:t>
            </a:r>
            <a:r>
              <a:rPr lang="ja-JP" altLang="en-US" sz="2800">
                <a:solidFill>
                  <a:schemeClr val="tx1"/>
                </a:solidFill>
              </a:rPr>
              <a:t> 分類のある構造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CC7B8A3-D0DC-5820-DC70-B507E873B06D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共通点のある複数の要素をまとめて名前をつける 「分類」 も基本的な構造です。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D08F0C-7637-97BE-6BF6-A8FAE583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E3401E-A7CA-4776-2D89-879B3702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280E16AE-5511-9625-520F-453FD5BE4766}"/>
              </a:ext>
            </a:extLst>
          </p:cNvPr>
          <p:cNvSpPr txBox="1"/>
          <p:nvPr/>
        </p:nvSpPr>
        <p:spPr bwMode="auto">
          <a:xfrm>
            <a:off x="1241766" y="5749466"/>
            <a:ext cx="9100315" cy="4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キーワード・リストの中から何らかの</a:t>
            </a:r>
            <a:r>
              <a:rPr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分類を探して、その意味を考えよう</a:t>
            </a:r>
            <a:endParaRPr lang="ja-JP" altLang="en-US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3E66440-B7C9-1087-705D-C4024640ECE3}"/>
              </a:ext>
            </a:extLst>
          </p:cNvPr>
          <p:cNvGrpSpPr/>
          <p:nvPr/>
        </p:nvGrpSpPr>
        <p:grpSpPr>
          <a:xfrm>
            <a:off x="6562989" y="2987302"/>
            <a:ext cx="3816424" cy="1862143"/>
            <a:chOff x="8172423" y="3045629"/>
            <a:chExt cx="3541573" cy="2020668"/>
          </a:xfrm>
        </p:grpSpPr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A44A5E5D-A4F0-7DD1-346A-5829809C89DB}"/>
                </a:ext>
              </a:extLst>
            </p:cNvPr>
            <p:cNvSpPr/>
            <p:nvPr/>
          </p:nvSpPr>
          <p:spPr bwMode="auto">
            <a:xfrm>
              <a:off x="9497823" y="3045629"/>
              <a:ext cx="874375" cy="383371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ペット</a:t>
              </a:r>
              <a:endParaRPr kumimoji="1" lang="ja-JP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DA8D2182-9F96-8B24-6A80-93F5EADFD89F}"/>
                </a:ext>
              </a:extLst>
            </p:cNvPr>
            <p:cNvSpPr/>
            <p:nvPr/>
          </p:nvSpPr>
          <p:spPr bwMode="auto">
            <a:xfrm>
              <a:off x="8603647" y="3673327"/>
              <a:ext cx="652235" cy="383371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犬</a:t>
              </a:r>
              <a:endParaRPr kumimoji="1" lang="ja-JP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3817302-E1B3-9AF8-8B58-D35EF42D8F46}"/>
                </a:ext>
              </a:extLst>
            </p:cNvPr>
            <p:cNvSpPr/>
            <p:nvPr/>
          </p:nvSpPr>
          <p:spPr bwMode="auto">
            <a:xfrm>
              <a:off x="10516907" y="3673327"/>
              <a:ext cx="652235" cy="383371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猫</a:t>
              </a:r>
              <a:endParaRPr kumimoji="1" lang="ja-JP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B7600028-3C35-74C9-31BF-4FCB84BAD27B}"/>
                </a:ext>
              </a:extLst>
            </p:cNvPr>
            <p:cNvSpPr/>
            <p:nvPr/>
          </p:nvSpPr>
          <p:spPr bwMode="auto">
            <a:xfrm>
              <a:off x="10924792" y="4505003"/>
              <a:ext cx="789204" cy="56129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ロシアン</a:t>
              </a:r>
              <a:endPara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ja-JP" altLang="en-US" sz="14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ブルー</a:t>
              </a:r>
              <a:endParaRPr kumimoji="1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61712564-008B-5C3C-B760-9E29555A26D7}"/>
                </a:ext>
              </a:extLst>
            </p:cNvPr>
            <p:cNvSpPr/>
            <p:nvPr/>
          </p:nvSpPr>
          <p:spPr bwMode="auto">
            <a:xfrm>
              <a:off x="8172423" y="4505003"/>
              <a:ext cx="717458" cy="56129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柴犬</a:t>
              </a:r>
              <a:endParaRPr kumimoji="1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A81410A2-9C4A-1C16-F9AB-BAA87B456E27}"/>
                </a:ext>
              </a:extLst>
            </p:cNvPr>
            <p:cNvSpPr/>
            <p:nvPr/>
          </p:nvSpPr>
          <p:spPr bwMode="auto">
            <a:xfrm>
              <a:off x="8934733" y="4505003"/>
              <a:ext cx="868125" cy="56129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コーギー</a:t>
              </a:r>
              <a:endParaRPr kumimoji="1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8" name="コネクタ: カギ線 17">
              <a:extLst>
                <a:ext uri="{FF2B5EF4-FFF2-40B4-BE49-F238E27FC236}">
                  <a16:creationId xmlns:a16="http://schemas.microsoft.com/office/drawing/2014/main" id="{93599C6C-FE9A-1A73-5A04-9047F29AFE0E}"/>
                </a:ext>
              </a:extLst>
            </p:cNvPr>
            <p:cNvCxnSpPr>
              <a:stCxn id="11" idx="0"/>
              <a:endCxn id="10" idx="2"/>
            </p:cNvCxnSpPr>
            <p:nvPr/>
          </p:nvCxnSpPr>
          <p:spPr bwMode="auto">
            <a:xfrm rot="5400000" flipH="1" flipV="1">
              <a:off x="9310225" y="3048541"/>
              <a:ext cx="244327" cy="1005247"/>
            </a:xfrm>
            <a:prstGeom prst="bentConnector3">
              <a:avLst/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コネクタ: カギ線 22">
              <a:extLst>
                <a:ext uri="{FF2B5EF4-FFF2-40B4-BE49-F238E27FC236}">
                  <a16:creationId xmlns:a16="http://schemas.microsoft.com/office/drawing/2014/main" id="{A0078319-E8BB-E59B-AB63-FF3593267B7C}"/>
                </a:ext>
              </a:extLst>
            </p:cNvPr>
            <p:cNvCxnSpPr>
              <a:cxnSpLocks/>
              <a:stCxn id="13" idx="0"/>
              <a:endCxn id="10" idx="2"/>
            </p:cNvCxnSpPr>
            <p:nvPr/>
          </p:nvCxnSpPr>
          <p:spPr bwMode="auto">
            <a:xfrm rot="16200000" flipV="1">
              <a:off x="10266855" y="3097157"/>
              <a:ext cx="244327" cy="908013"/>
            </a:xfrm>
            <a:prstGeom prst="bentConnector3">
              <a:avLst/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113CEAD2-A43A-F11C-3B6A-3633E01CCF8E}"/>
                </a:ext>
              </a:extLst>
            </p:cNvPr>
            <p:cNvCxnSpPr>
              <a:cxnSpLocks/>
              <a:stCxn id="15" idx="0"/>
              <a:endCxn id="11" idx="2"/>
            </p:cNvCxnSpPr>
            <p:nvPr/>
          </p:nvCxnSpPr>
          <p:spPr bwMode="auto">
            <a:xfrm rot="5400000" flipH="1" flipV="1">
              <a:off x="8506306" y="4081545"/>
              <a:ext cx="448305" cy="398613"/>
            </a:xfrm>
            <a:prstGeom prst="bentConnector3">
              <a:avLst>
                <a:gd name="adj1" fmla="val 50000"/>
              </a:avLst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コネクタ: カギ線 25">
              <a:extLst>
                <a:ext uri="{FF2B5EF4-FFF2-40B4-BE49-F238E27FC236}">
                  <a16:creationId xmlns:a16="http://schemas.microsoft.com/office/drawing/2014/main" id="{AF5EC2BB-3E3E-3A13-C4C9-8D7C5CF3D62B}"/>
                </a:ext>
              </a:extLst>
            </p:cNvPr>
            <p:cNvCxnSpPr>
              <a:cxnSpLocks/>
              <a:stCxn id="16" idx="0"/>
              <a:endCxn id="11" idx="2"/>
            </p:cNvCxnSpPr>
            <p:nvPr/>
          </p:nvCxnSpPr>
          <p:spPr bwMode="auto">
            <a:xfrm rot="16200000" flipV="1">
              <a:off x="8925128" y="4061335"/>
              <a:ext cx="448305" cy="439031"/>
            </a:xfrm>
            <a:prstGeom prst="bentConnector3">
              <a:avLst>
                <a:gd name="adj1" fmla="val 50000"/>
              </a:avLst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B1836813-E672-0182-8B99-A2DB918B1B92}"/>
                </a:ext>
              </a:extLst>
            </p:cNvPr>
            <p:cNvCxnSpPr>
              <a:cxnSpLocks/>
              <a:stCxn id="14" idx="0"/>
              <a:endCxn id="13" idx="2"/>
            </p:cNvCxnSpPr>
            <p:nvPr/>
          </p:nvCxnSpPr>
          <p:spPr bwMode="auto">
            <a:xfrm rot="16200000" flipV="1">
              <a:off x="10857057" y="4042666"/>
              <a:ext cx="448305" cy="476369"/>
            </a:xfrm>
            <a:prstGeom prst="bentConnector3">
              <a:avLst>
                <a:gd name="adj1" fmla="val 50000"/>
              </a:avLst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37A9F247-5A38-6598-DA2C-607A037207C2}"/>
                </a:ext>
              </a:extLst>
            </p:cNvPr>
            <p:cNvSpPr/>
            <p:nvPr/>
          </p:nvSpPr>
          <p:spPr bwMode="auto">
            <a:xfrm>
              <a:off x="9889261" y="4505003"/>
              <a:ext cx="990146" cy="56129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アメリカン</a:t>
              </a:r>
              <a:endPara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ショートヘア</a:t>
              </a:r>
              <a:endParaRPr kumimoji="1" lang="ja-JP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A150220B-3ABC-B607-4C6A-C65E89446DE4}"/>
                </a:ext>
              </a:extLst>
            </p:cNvPr>
            <p:cNvCxnSpPr>
              <a:cxnSpLocks/>
              <a:stCxn id="28" idx="0"/>
              <a:endCxn id="13" idx="2"/>
            </p:cNvCxnSpPr>
            <p:nvPr/>
          </p:nvCxnSpPr>
          <p:spPr bwMode="auto">
            <a:xfrm rot="5400000" flipH="1" flipV="1">
              <a:off x="10389527" y="4051506"/>
              <a:ext cx="448305" cy="458690"/>
            </a:xfrm>
            <a:prstGeom prst="bentConnector3">
              <a:avLst>
                <a:gd name="adj1" fmla="val 50000"/>
              </a:avLst>
            </a:prstGeom>
            <a:solidFill>
              <a:srgbClr val="CCFFFF"/>
            </a:solidFill>
            <a:ln w="2857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557D6E83-EEBB-EFFA-0C1D-F0ED82B24FB6}"/>
              </a:ext>
            </a:extLst>
          </p:cNvPr>
          <p:cNvSpPr/>
          <p:nvPr/>
        </p:nvSpPr>
        <p:spPr bwMode="auto">
          <a:xfrm>
            <a:off x="1647946" y="3651534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野球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E1898D7D-7CF1-919E-269A-BA115301568B}"/>
              </a:ext>
            </a:extLst>
          </p:cNvPr>
          <p:cNvSpPr/>
          <p:nvPr/>
        </p:nvSpPr>
        <p:spPr bwMode="auto">
          <a:xfrm>
            <a:off x="2916294" y="3651534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サッカー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286E7A89-9440-036B-47F4-8ED1E11F5128}"/>
              </a:ext>
            </a:extLst>
          </p:cNvPr>
          <p:cNvSpPr/>
          <p:nvPr/>
        </p:nvSpPr>
        <p:spPr bwMode="auto">
          <a:xfrm>
            <a:off x="1988595" y="4205741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柔道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36471932-D0CD-2442-1C8D-BE4259AA6524}"/>
              </a:ext>
            </a:extLst>
          </p:cNvPr>
          <p:cNvSpPr/>
          <p:nvPr/>
        </p:nvSpPr>
        <p:spPr bwMode="auto">
          <a:xfrm>
            <a:off x="3387531" y="4154103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卓球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A932550-07D3-6CF4-00E4-6D2BFEF01127}"/>
              </a:ext>
            </a:extLst>
          </p:cNvPr>
          <p:cNvSpPr/>
          <p:nvPr/>
        </p:nvSpPr>
        <p:spPr bwMode="auto">
          <a:xfrm>
            <a:off x="2665520" y="3078843"/>
            <a:ext cx="1175240" cy="444086"/>
          </a:xfrm>
          <a:prstGeom prst="roundRect">
            <a:avLst/>
          </a:prstGeom>
          <a:solidFill>
            <a:schemeClr val="bg1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マラソン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702DFA8-661D-41A4-8D7D-E0D0EFC49ECF}"/>
              </a:ext>
            </a:extLst>
          </p:cNvPr>
          <p:cNvSpPr txBox="1"/>
          <p:nvPr/>
        </p:nvSpPr>
        <p:spPr bwMode="auto">
          <a:xfrm>
            <a:off x="2418927" y="2442979"/>
            <a:ext cx="1352705" cy="4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スポーツ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5C7E2475-7629-E6B1-22FD-5973D1D5BC6D}"/>
              </a:ext>
            </a:extLst>
          </p:cNvPr>
          <p:cNvSpPr txBox="1"/>
          <p:nvPr/>
        </p:nvSpPr>
        <p:spPr bwMode="auto">
          <a:xfrm>
            <a:off x="5963704" y="2511385"/>
            <a:ext cx="4819631" cy="4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犬、猫、ペットはいずれも分類概念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259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6FCA42-2059-5C80-FE64-AD91DCF8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#DT#FA3.SZ6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最も基本的な構造は分類・対応・順序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1DBA04-829A-4231-51E7-CF070A79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0363" y="6453336"/>
            <a:ext cx="2844800" cy="457200"/>
          </a:xfrm>
        </p:spPr>
        <p:txBody>
          <a:bodyPr/>
          <a:lstStyle/>
          <a:p>
            <a:fld id="{D2D8002D-B5B0-4BAC-B1F6-782DDCCE6D9C}" type="slidenum">
              <a:rPr kumimoji="1"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fld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2426A4-FC5D-7BBF-87D2-C38C81F46994}"/>
              </a:ext>
            </a:extLst>
          </p:cNvPr>
          <p:cNvSpPr txBox="1"/>
          <p:nvPr/>
        </p:nvSpPr>
        <p:spPr bwMode="auto">
          <a:xfrm>
            <a:off x="1150075" y="3069488"/>
            <a:ext cx="2003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分類構造</a:t>
            </a:r>
            <a:endParaRPr kumimoji="1" lang="ja-JP" altLang="en-US" sz="2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25BE055-9A51-AF5E-0DC8-4F457227133C}"/>
              </a:ext>
            </a:extLst>
          </p:cNvPr>
          <p:cNvSpPr/>
          <p:nvPr/>
        </p:nvSpPr>
        <p:spPr bwMode="auto">
          <a:xfrm>
            <a:off x="1111286" y="3703798"/>
            <a:ext cx="2265372" cy="58915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2ED3FC0-09FE-EE4B-9780-6241A84D3456}"/>
              </a:ext>
            </a:extLst>
          </p:cNvPr>
          <p:cNvSpPr/>
          <p:nvPr/>
        </p:nvSpPr>
        <p:spPr bwMode="auto">
          <a:xfrm>
            <a:off x="1111286" y="4885520"/>
            <a:ext cx="2265372" cy="58915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A4CA3CD-A005-029D-8032-043ADB73A565}"/>
              </a:ext>
            </a:extLst>
          </p:cNvPr>
          <p:cNvSpPr/>
          <p:nvPr/>
        </p:nvSpPr>
        <p:spPr bwMode="auto">
          <a:xfrm>
            <a:off x="1307393" y="3823841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9CFE16B-0C31-63B8-2ECF-1630C3E39321}"/>
              </a:ext>
            </a:extLst>
          </p:cNvPr>
          <p:cNvSpPr/>
          <p:nvPr/>
        </p:nvSpPr>
        <p:spPr bwMode="auto">
          <a:xfrm>
            <a:off x="1991469" y="3823841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9D88A7B-428F-16A6-EE1A-F08971278199}"/>
              </a:ext>
            </a:extLst>
          </p:cNvPr>
          <p:cNvSpPr/>
          <p:nvPr/>
        </p:nvSpPr>
        <p:spPr bwMode="auto">
          <a:xfrm>
            <a:off x="2675545" y="3823841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DC94EAA-E740-5D1E-EC34-36A80232D363}"/>
              </a:ext>
            </a:extLst>
          </p:cNvPr>
          <p:cNvSpPr/>
          <p:nvPr/>
        </p:nvSpPr>
        <p:spPr bwMode="auto">
          <a:xfrm>
            <a:off x="1307393" y="5005563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0AB829B-801B-4E05-AA53-6F80C959CFD3}"/>
              </a:ext>
            </a:extLst>
          </p:cNvPr>
          <p:cNvSpPr/>
          <p:nvPr/>
        </p:nvSpPr>
        <p:spPr bwMode="auto">
          <a:xfrm>
            <a:off x="1991469" y="5005563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A371EA9-5D7A-9D8A-413B-69BA06F3FA69}"/>
              </a:ext>
            </a:extLst>
          </p:cNvPr>
          <p:cNvSpPr txBox="1"/>
          <p:nvPr/>
        </p:nvSpPr>
        <p:spPr bwMode="auto">
          <a:xfrm>
            <a:off x="5743459" y="2361937"/>
            <a:ext cx="4657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</a:t>
            </a:r>
            <a:r>
              <a:rPr lang="en-US" altLang="ja-JP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つの要素に対して</a:t>
            </a:r>
            <a:r>
              <a:rPr lang="en-US" altLang="ja-JP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……</a:t>
            </a:r>
            <a:endParaRPr kumimoji="1" lang="ja-JP" altLang="en-US" b="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4366C5-19FE-6488-12CE-BBB699233ACF}"/>
              </a:ext>
            </a:extLst>
          </p:cNvPr>
          <p:cNvSpPr txBox="1"/>
          <p:nvPr/>
        </p:nvSpPr>
        <p:spPr bwMode="auto">
          <a:xfrm>
            <a:off x="5071577" y="3069488"/>
            <a:ext cx="23045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対応構造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240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</a:t>
            </a:r>
            <a:r>
              <a:rPr lang="en-US" altLang="ja-JP" sz="240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2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2710E42-6822-B53D-2A55-7FFAE5E55AA6}"/>
              </a:ext>
            </a:extLst>
          </p:cNvPr>
          <p:cNvSpPr/>
          <p:nvPr/>
        </p:nvSpPr>
        <p:spPr bwMode="auto">
          <a:xfrm>
            <a:off x="5116961" y="3880117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5259454-0DA9-B9D1-57CA-2234049A3965}"/>
              </a:ext>
            </a:extLst>
          </p:cNvPr>
          <p:cNvSpPr/>
          <p:nvPr/>
        </p:nvSpPr>
        <p:spPr bwMode="auto">
          <a:xfrm>
            <a:off x="5801037" y="3880117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D34B18A-F16E-A41B-6868-8242ED5503C5}"/>
              </a:ext>
            </a:extLst>
          </p:cNvPr>
          <p:cNvSpPr/>
          <p:nvPr/>
        </p:nvSpPr>
        <p:spPr bwMode="auto">
          <a:xfrm>
            <a:off x="6485113" y="3880117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35D1EC0-0314-A2EB-94F1-553203820648}"/>
              </a:ext>
            </a:extLst>
          </p:cNvPr>
          <p:cNvSpPr/>
          <p:nvPr/>
        </p:nvSpPr>
        <p:spPr bwMode="auto">
          <a:xfrm>
            <a:off x="5116961" y="4599215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BFB093A-8732-F6BD-D1B7-B2DA51297009}"/>
              </a:ext>
            </a:extLst>
          </p:cNvPr>
          <p:cNvSpPr/>
          <p:nvPr/>
        </p:nvSpPr>
        <p:spPr bwMode="auto">
          <a:xfrm>
            <a:off x="5801037" y="4599215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B3C5D23-8453-72C2-F0A9-4E65C7DE7E11}"/>
              </a:ext>
            </a:extLst>
          </p:cNvPr>
          <p:cNvSpPr/>
          <p:nvPr/>
        </p:nvSpPr>
        <p:spPr bwMode="auto">
          <a:xfrm>
            <a:off x="6485113" y="4599215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51142E1-0E7E-82AB-415F-7374F852874F}"/>
              </a:ext>
            </a:extLst>
          </p:cNvPr>
          <p:cNvCxnSpPr>
            <a:stCxn id="17" idx="2"/>
            <a:endCxn id="20" idx="0"/>
          </p:cNvCxnSpPr>
          <p:nvPr/>
        </p:nvCxnSpPr>
        <p:spPr bwMode="auto">
          <a:xfrm>
            <a:off x="5368989" y="4274809"/>
            <a:ext cx="0" cy="32440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9E44188-1D20-047A-C795-B6FAAD694622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 bwMode="auto">
          <a:xfrm>
            <a:off x="6053065" y="4274809"/>
            <a:ext cx="0" cy="32440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C62ADF3-09EC-EC3A-4996-B48E258C9E6E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 bwMode="auto">
          <a:xfrm>
            <a:off x="6737141" y="4274809"/>
            <a:ext cx="0" cy="32440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CA5CA7-6753-A454-986B-7C8236697564}"/>
              </a:ext>
            </a:extLst>
          </p:cNvPr>
          <p:cNvSpPr txBox="1"/>
          <p:nvPr/>
        </p:nvSpPr>
        <p:spPr bwMode="auto">
          <a:xfrm>
            <a:off x="4567353" y="5095798"/>
            <a:ext cx="30645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が対応づく</a:t>
            </a:r>
            <a:endParaRPr kumimoji="1" lang="ja-JP" altLang="en-US" sz="1400" b="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DB36779-C32F-E0C6-2632-6E4358FA51A2}"/>
              </a:ext>
            </a:extLst>
          </p:cNvPr>
          <p:cNvSpPr txBox="1"/>
          <p:nvPr/>
        </p:nvSpPr>
        <p:spPr bwMode="auto">
          <a:xfrm>
            <a:off x="8817986" y="3069488"/>
            <a:ext cx="2003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順序構造</a:t>
            </a:r>
            <a:endParaRPr kumimoji="1" lang="ja-JP" altLang="en-US" sz="2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DE5736D0-2397-62C4-A998-7E29CA21BC12}"/>
              </a:ext>
            </a:extLst>
          </p:cNvPr>
          <p:cNvSpPr/>
          <p:nvPr/>
        </p:nvSpPr>
        <p:spPr bwMode="auto">
          <a:xfrm>
            <a:off x="8710049" y="3811580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667E39C3-F433-3805-D729-C79A58559C22}"/>
              </a:ext>
            </a:extLst>
          </p:cNvPr>
          <p:cNvSpPr/>
          <p:nvPr/>
        </p:nvSpPr>
        <p:spPr bwMode="auto">
          <a:xfrm>
            <a:off x="9605488" y="3811580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50D267E5-399C-04E9-0C22-24EC1AB060FA}"/>
              </a:ext>
            </a:extLst>
          </p:cNvPr>
          <p:cNvSpPr/>
          <p:nvPr/>
        </p:nvSpPr>
        <p:spPr bwMode="auto">
          <a:xfrm>
            <a:off x="10500927" y="3811580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20ABC39-0CC3-3137-906D-F29BC65C49BD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 bwMode="auto">
          <a:xfrm>
            <a:off x="9214105" y="4008926"/>
            <a:ext cx="391383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3F3B5ED2-0CA9-AA73-0AA5-B3CF3516B368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 bwMode="auto">
          <a:xfrm>
            <a:off x="10109544" y="4008926"/>
            <a:ext cx="391383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CB9C39-C27F-1FB1-81EE-3D7151B157C5}"/>
              </a:ext>
            </a:extLst>
          </p:cNvPr>
          <p:cNvSpPr txBox="1"/>
          <p:nvPr/>
        </p:nvSpPr>
        <p:spPr bwMode="auto">
          <a:xfrm>
            <a:off x="8472264" y="4262056"/>
            <a:ext cx="27328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 sz="1400" b="0" kern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の順序に意味がある</a:t>
            </a:r>
            <a:endParaRPr kumimoji="1" lang="ja-JP" altLang="en-US" sz="1400" b="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フッター プレースホルダー 50">
            <a:extLst>
              <a:ext uri="{FF2B5EF4-FFF2-40B4-BE49-F238E27FC236}">
                <a16:creationId xmlns:a16="http://schemas.microsoft.com/office/drawing/2014/main" id="{E0932B16-5331-FD81-D898-7F344F7D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14929FE-6AE5-2570-368F-270E4AD69EB8}"/>
              </a:ext>
            </a:extLst>
          </p:cNvPr>
          <p:cNvSpPr/>
          <p:nvPr/>
        </p:nvSpPr>
        <p:spPr bwMode="auto">
          <a:xfrm>
            <a:off x="2675545" y="5005563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49A648D-4D18-412D-1C6C-AC96A459BFF5}"/>
              </a:ext>
            </a:extLst>
          </p:cNvPr>
          <p:cNvSpPr/>
          <p:nvPr/>
        </p:nvSpPr>
        <p:spPr bwMode="auto">
          <a:xfrm>
            <a:off x="1790753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6639B67-E1F7-60DB-6CCB-426BE89BD50A}"/>
              </a:ext>
            </a:extLst>
          </p:cNvPr>
          <p:cNvSpPr/>
          <p:nvPr/>
        </p:nvSpPr>
        <p:spPr bwMode="auto">
          <a:xfrm>
            <a:off x="2474829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D2E9F0C6-EB28-F393-24C1-531FFA9F2AC3}"/>
              </a:ext>
            </a:extLst>
          </p:cNvPr>
          <p:cNvSpPr/>
          <p:nvPr/>
        </p:nvSpPr>
        <p:spPr bwMode="auto">
          <a:xfrm>
            <a:off x="3158905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93A2D2B-729A-60B2-6406-319B5C31A83C}"/>
              </a:ext>
            </a:extLst>
          </p:cNvPr>
          <p:cNvSpPr/>
          <p:nvPr/>
        </p:nvSpPr>
        <p:spPr bwMode="auto">
          <a:xfrm>
            <a:off x="3877331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716102F-5D24-7A7D-9FC9-ACBEB7133FFC}"/>
              </a:ext>
            </a:extLst>
          </p:cNvPr>
          <p:cNvSpPr/>
          <p:nvPr/>
        </p:nvSpPr>
        <p:spPr bwMode="auto">
          <a:xfrm>
            <a:off x="4561407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CECF992C-24C9-D543-C2BA-E3B89872F218}"/>
              </a:ext>
            </a:extLst>
          </p:cNvPr>
          <p:cNvSpPr/>
          <p:nvPr/>
        </p:nvSpPr>
        <p:spPr bwMode="auto">
          <a:xfrm>
            <a:off x="5245483" y="2364646"/>
            <a:ext cx="504056" cy="3946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C930582-DCD7-82DC-B0DE-04669991F8FF}"/>
              </a:ext>
            </a:extLst>
          </p:cNvPr>
          <p:cNvSpPr txBox="1"/>
          <p:nvPr/>
        </p:nvSpPr>
        <p:spPr bwMode="auto">
          <a:xfrm>
            <a:off x="797129" y="4334130"/>
            <a:ext cx="30645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には共通点がある</a:t>
            </a:r>
            <a:endParaRPr kumimoji="1" lang="ja-JP" altLang="en-US" sz="1400" b="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E48348-36DE-627B-4B56-D1BAB7C0726A}"/>
              </a:ext>
            </a:extLst>
          </p:cNvPr>
          <p:cNvSpPr txBox="1"/>
          <p:nvPr/>
        </p:nvSpPr>
        <p:spPr bwMode="auto">
          <a:xfrm>
            <a:off x="797129" y="5511711"/>
            <a:ext cx="30645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lang="ja-JP" altLang="en-US" sz="1400" b="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には別な共通点がある</a:t>
            </a:r>
            <a:endParaRPr kumimoji="1" lang="ja-JP" altLang="en-US" sz="1400" b="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FD22EA6-D7DB-0B30-A949-68E1C6A0DC60}"/>
              </a:ext>
            </a:extLst>
          </p:cNvPr>
          <p:cNvSpPr txBox="1"/>
          <p:nvPr/>
        </p:nvSpPr>
        <p:spPr bwMode="auto">
          <a:xfrm>
            <a:off x="1127453" y="1253698"/>
            <a:ext cx="9577065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以上、前述の分類・対応・順序の構造はどんな分野にもあるので、キーワード・リストの中から　「必ずある」　と考えて</a:t>
            </a:r>
            <a:r>
              <a:rPr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徹底的に探しましょう</a:t>
            </a:r>
            <a:endParaRPr lang="en-US" altLang="ja-JP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BED7E0-E72C-D9D1-CB58-7E19A6977634}"/>
              </a:ext>
            </a:extLst>
          </p:cNvPr>
          <p:cNvSpPr txBox="1"/>
          <p:nvPr/>
        </p:nvSpPr>
        <p:spPr bwMode="auto">
          <a:xfrm>
            <a:off x="6978709" y="5770917"/>
            <a:ext cx="421596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3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徹底的に！！！！</a:t>
            </a:r>
            <a:endParaRPr kumimoji="1" lang="ja-JP" altLang="en-US" sz="36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727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FD8A-51E0-3067-68EA-7015DD59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D42522B-60C5-5BEC-000B-B0C768F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9729D6-892B-80A2-1D90-02D2519B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#DT#FA3.SZ7</a:t>
            </a:r>
            <a:r>
              <a:rPr kumimoji="1" lang="en-US" altLang="ja-JP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 </a:t>
            </a:r>
            <a:r>
              <a:rPr kumimoji="1" lang="ja-JP" altLang="en-US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分類・対応・順序は複合します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3220C1-D495-1236-694A-C8D8B715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fld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8D6BAC-5DAC-B019-37C4-226E2209F99C}"/>
              </a:ext>
            </a:extLst>
          </p:cNvPr>
          <p:cNvSpPr txBox="1"/>
          <p:nvPr/>
        </p:nvSpPr>
        <p:spPr bwMode="auto">
          <a:xfrm>
            <a:off x="1127453" y="1628800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黒い文字　赤い文字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A30B18-52C3-F5F0-089C-47F6EC5C8912}"/>
              </a:ext>
            </a:extLst>
          </p:cNvPr>
          <p:cNvSpPr txBox="1"/>
          <p:nvPr/>
        </p:nvSpPr>
        <p:spPr bwMode="auto">
          <a:xfrm>
            <a:off x="1127453" y="220486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黒い文字　</a:t>
            </a:r>
            <a:r>
              <a:rPr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赤い文字</a:t>
            </a:r>
            <a:endParaRPr lang="en-US" altLang="ja-JP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68E5D8-63A6-7E0E-92DA-07B2B1EA3A2C}"/>
              </a:ext>
            </a:extLst>
          </p:cNvPr>
          <p:cNvSpPr txBox="1"/>
          <p:nvPr/>
        </p:nvSpPr>
        <p:spPr bwMode="auto">
          <a:xfrm>
            <a:off x="1127453" y="2985825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黒い文字　赤い文字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071420-49F8-7BCF-2C16-90B0F6520F5B}"/>
              </a:ext>
            </a:extLst>
          </p:cNvPr>
          <p:cNvSpPr txBox="1"/>
          <p:nvPr/>
        </p:nvSpPr>
        <p:spPr bwMode="auto">
          <a:xfrm>
            <a:off x="1127453" y="3837887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黒い文字　赤い文字</a:t>
            </a:r>
            <a:endParaRPr lang="en-US" altLang="ja-JP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836856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17934</TotalTime>
  <Words>344</Words>
  <Application>Microsoft Office PowerPoint</Application>
  <PresentationFormat>ワイド画面</PresentationFormat>
  <Paragraphs>86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BIZ UDPゴシック</vt:lpstr>
      <vt:lpstr>FOT-UD丸ゴ_ラージ Pr6 M</vt:lpstr>
      <vt:lpstr>Arial</vt:lpstr>
      <vt:lpstr>Garamond</vt:lpstr>
      <vt:lpstr>Wingdings</vt:lpstr>
      <vt:lpstr>Edge</vt:lpstr>
      <vt:lpstr>#DT#FA3.SZ4) 対応関係のある構造</vt:lpstr>
      <vt:lpstr>#DT#FA3.SZ5) 分類のある構造</vt:lpstr>
      <vt:lpstr>#DT#FA3.SZ6) 最も基本的な構造は分類・対応・順序</vt:lpstr>
      <vt:lpstr>#DT#FA3.SZ7) 分類・対応・順序は複合します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1621</cp:revision>
  <cp:lastPrinted>2024-11-10T09:08:11Z</cp:lastPrinted>
  <dcterms:modified xsi:type="dcterms:W3CDTF">2024-11-11T11:44:09Z</dcterms:modified>
</cp:coreProperties>
</file>